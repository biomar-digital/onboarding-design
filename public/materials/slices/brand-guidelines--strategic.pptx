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34" r:id="rId16"/>
    <p:sldId id="2147471941" r:id="rId17"/>
    <p:sldId id="21474719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BA033B0-33F0-E6AC-3C29-A00F71EA7D2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A2D0036-FE9D-1720-94CE-41483992450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/>
              <a:t>Key </a:t>
            </a:r>
            <a:r>
              <a:rPr lang="es-ES" err="1"/>
              <a:t>elements</a:t>
            </a:r>
            <a:r>
              <a:rPr lang="es-ES"/>
              <a:t>:</a:t>
            </a:r>
          </a:p>
          <a:p>
            <a:r>
              <a:rPr lang="es-ES"/>
              <a:t>Logo </a:t>
            </a:r>
            <a:r>
              <a:rPr lang="es-ES" err="1"/>
              <a:t>usage</a:t>
            </a:r>
            <a:endParaRPr lang="es-ES"/>
          </a:p>
          <a:p>
            <a:r>
              <a:rPr lang="es-ES" err="1"/>
              <a:t>Typography</a:t>
            </a:r>
            <a:endParaRPr lang="es-ES"/>
          </a:p>
          <a:p>
            <a:r>
              <a:rPr lang="es-ES"/>
              <a:t>Color </a:t>
            </a:r>
            <a:r>
              <a:rPr lang="es-ES" err="1"/>
              <a:t>palette</a:t>
            </a:r>
            <a:endParaRPr lang="es-ES"/>
          </a:p>
          <a:p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principles</a:t>
            </a:r>
            <a:endParaRPr lang="es-ES"/>
          </a:p>
          <a:p>
            <a:r>
              <a:rPr lang="es-ES" err="1"/>
              <a:t>Imagery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  <a:p>
            <a:r>
              <a:rPr lang="es-ES"/>
              <a:t>Tone and </a:t>
            </a:r>
            <a:r>
              <a:rPr lang="es-ES" err="1"/>
              <a:t>consistency</a:t>
            </a:r>
            <a:endParaRPr lang="es-ES"/>
          </a:p>
          <a:p>
            <a:r>
              <a:rPr lang="es-ES"/>
              <a:t>Digital vs </a:t>
            </a:r>
            <a:r>
              <a:rPr lang="es-ES" err="1"/>
              <a:t>print</a:t>
            </a:r>
            <a:r>
              <a:rPr lang="es-ES"/>
              <a:t> </a:t>
            </a:r>
            <a:r>
              <a:rPr lang="es-ES" err="1"/>
              <a:t>applications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Guidelines are tools to support consistency while allowing flexibility for communication needs.</a:t>
            </a:r>
            <a:endParaRPr lang="es-ES" b="1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2594A7-F38F-B370-BCC6-33CA597DE9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D561733-A581-AA7D-1F08-26459B14A83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873600"/>
            <a:ext cx="4602915" cy="360000"/>
          </a:xfrm>
        </p:spPr>
        <p:txBody>
          <a:bodyPr>
            <a:normAutofit/>
          </a:bodyPr>
          <a:lstStyle/>
          <a:p>
            <a:r>
              <a:rPr lang="es-ES"/>
              <a:t>Visual Branding &amp;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Governance</a:t>
            </a:r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63DAD54-7E8D-77E1-F811-AE16D545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Brand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82519BB-8ACE-B983-5CF9-FE455912D633}"/>
              </a:ext>
            </a:extLst>
          </p:cNvPr>
          <p:cNvGrpSpPr/>
          <p:nvPr/>
        </p:nvGrpSpPr>
        <p:grpSpPr>
          <a:xfrm rot="21035476">
            <a:off x="1277402" y="958018"/>
            <a:ext cx="3541197" cy="4941963"/>
            <a:chOff x="3674832" y="0"/>
            <a:chExt cx="4914147" cy="685800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99A2F26-13CD-64B6-D6DB-EFC05ED4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7489"/>
            <a:stretch>
              <a:fillRect/>
            </a:stretch>
          </p:blipFill>
          <p:spPr>
            <a:xfrm>
              <a:off x="3674832" y="0"/>
              <a:ext cx="121604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C8BA8A8-96B5-1442-66A7-E34BB71F8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6643" y="0"/>
              <a:ext cx="4842336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36748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47E3-820D-63B7-4F88-696FFD1E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D1BD1C-4A20-DA3D-6C3A-D823ED08ED05}"/>
              </a:ext>
            </a:extLst>
          </p:cNvPr>
          <p:cNvSpPr/>
          <p:nvPr/>
        </p:nvSpPr>
        <p:spPr>
          <a:xfrm>
            <a:off x="468001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BD5EC50-CE12-DA44-12A3-52351BBBD99B}"/>
              </a:ext>
            </a:extLst>
          </p:cNvPr>
          <p:cNvSpPr/>
          <p:nvPr/>
        </p:nvSpPr>
        <p:spPr>
          <a:xfrm>
            <a:off x="4251674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43BF47-148D-9FE0-F926-3998B7188003}"/>
              </a:ext>
            </a:extLst>
          </p:cNvPr>
          <p:cNvSpPr/>
          <p:nvPr/>
        </p:nvSpPr>
        <p:spPr>
          <a:xfrm>
            <a:off x="8035350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B8F971-9DE6-F328-F58C-A92412D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3BC63E1-459C-3AA1-B2CB-488A70FC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Additional</a:t>
            </a:r>
            <a:r>
              <a:rPr lang="es-ES"/>
              <a:t>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1AA7554-444C-0DEC-08BA-81657B54938F}"/>
              </a:ext>
            </a:extLst>
          </p:cNvPr>
          <p:cNvGrpSpPr/>
          <p:nvPr/>
        </p:nvGrpSpPr>
        <p:grpSpPr>
          <a:xfrm rot="21099594">
            <a:off x="1438611" y="1727137"/>
            <a:ext cx="1740678" cy="2439754"/>
            <a:chOff x="1241115" y="866996"/>
            <a:chExt cx="3545853" cy="4969906"/>
          </a:xfrm>
        </p:grpSpPr>
        <p:pic>
          <p:nvPicPr>
            <p:cNvPr id="18" name="Imagen 17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C1EAF8E5-57DC-108A-3C2D-6E4E7024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499"/>
            <a:stretch>
              <a:fillRect/>
            </a:stretch>
          </p:blipFill>
          <p:spPr>
            <a:xfrm>
              <a:off x="1241115" y="866996"/>
              <a:ext cx="52393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Imagen 18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7700185F-34CA-9A5D-29CF-780F254E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590" y="866996"/>
              <a:ext cx="3490378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A5C8CA-FF4A-E400-C9FF-34C92B182870}"/>
              </a:ext>
            </a:extLst>
          </p:cNvPr>
          <p:cNvSpPr txBox="1"/>
          <p:nvPr/>
        </p:nvSpPr>
        <p:spPr>
          <a:xfrm>
            <a:off x="671648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Product communication standards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Packaging/product visual alignment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67B7B8-5866-6A91-2A97-A453F7009206}"/>
              </a:ext>
            </a:extLst>
          </p:cNvPr>
          <p:cNvSpPr txBox="1"/>
          <p:nvPr/>
        </p:nvSpPr>
        <p:spPr>
          <a:xfrm>
            <a:off x="44586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Art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Lighting &amp; framing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Image selection principles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D1BF643-91F1-0905-8905-D1B3328A3380}"/>
              </a:ext>
            </a:extLst>
          </p:cNvPr>
          <p:cNvSpPr txBox="1"/>
          <p:nvPr/>
        </p:nvSpPr>
        <p:spPr>
          <a:xfrm>
            <a:off x="82389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Employee/profile photography consistency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DA09812E-FB4C-7CE4-566A-A8163F841428}"/>
              </a:ext>
            </a:extLst>
          </p:cNvPr>
          <p:cNvGrpSpPr/>
          <p:nvPr/>
        </p:nvGrpSpPr>
        <p:grpSpPr>
          <a:xfrm rot="21021273">
            <a:off x="4803724" y="2184137"/>
            <a:ext cx="2526914" cy="1397322"/>
            <a:chOff x="4581525" y="2092109"/>
            <a:chExt cx="2952236" cy="1632515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9A30E868-EF32-8F1C-C5C0-6D97FCF43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 r="98429"/>
            <a:stretch>
              <a:fillRect/>
            </a:stretch>
          </p:blipFill>
          <p:spPr>
            <a:xfrm>
              <a:off x="4581525" y="2092109"/>
              <a:ext cx="45719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4269D18-98CA-C668-F054-62D73DAEE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/>
            <a:stretch>
              <a:fillRect/>
            </a:stretch>
          </p:blipFill>
          <p:spPr>
            <a:xfrm>
              <a:off x="4622839" y="2092109"/>
              <a:ext cx="2910922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2E0F80E-62CD-54DE-4D85-86E9C78B1E5B}"/>
              </a:ext>
            </a:extLst>
          </p:cNvPr>
          <p:cNvGrpSpPr/>
          <p:nvPr/>
        </p:nvGrpSpPr>
        <p:grpSpPr>
          <a:xfrm rot="21024756">
            <a:off x="8616115" y="2062714"/>
            <a:ext cx="2520370" cy="1391759"/>
            <a:chOff x="7654040" y="2111259"/>
            <a:chExt cx="2895675" cy="1599004"/>
          </a:xfrm>
        </p:grpSpPr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E005AA5-9A24-7B6B-D14D-D9E9857DA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 r="97231"/>
            <a:stretch>
              <a:fillRect/>
            </a:stretch>
          </p:blipFill>
          <p:spPr>
            <a:xfrm>
              <a:off x="7654040" y="2111259"/>
              <a:ext cx="792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4E611B34-D2DD-EF17-C70D-9A34114B5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/>
            <a:stretch>
              <a:fillRect/>
            </a:stretch>
          </p:blipFill>
          <p:spPr>
            <a:xfrm>
              <a:off x="7687552" y="2111259"/>
              <a:ext cx="28621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B37BA42-BA12-1C9E-CB1B-EA89CDE82E64}"/>
              </a:ext>
            </a:extLst>
          </p:cNvPr>
          <p:cNvSpPr/>
          <p:nvPr/>
        </p:nvSpPr>
        <p:spPr>
          <a:xfrm>
            <a:off x="7733303" y="350151"/>
            <a:ext cx="3256589" cy="615524"/>
          </a:xfrm>
          <a:prstGeom prst="roundRect">
            <a:avLst>
              <a:gd name="adj" fmla="val 913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available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The Pond</a:t>
            </a:r>
          </a:p>
        </p:txBody>
      </p:sp>
    </p:spTree>
    <p:extLst>
      <p:ext uri="{BB962C8B-B14F-4D97-AF65-F5344CB8AC3E}">
        <p14:creationId xmlns:p14="http://schemas.microsoft.com/office/powerpoint/2010/main" val="301636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CBF57F-7DA7-D5B4-E0BC-FCB29199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6EED02-AFB4-4AD3-09B7-C57D502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Recent</a:t>
            </a:r>
            <a:r>
              <a:rPr lang="es-ES"/>
              <a:t> Logo Rebranding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8EE78D-0A25-AFB7-B57C-4F863027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1" y="3123822"/>
            <a:ext cx="4635844" cy="258956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337C491-42BA-6557-2501-2BAC29DD017B}"/>
              </a:ext>
            </a:extLst>
          </p:cNvPr>
          <p:cNvSpPr txBox="1"/>
          <p:nvPr/>
        </p:nvSpPr>
        <p:spPr>
          <a:xfrm>
            <a:off x="468000" y="1675602"/>
            <a:ext cx="5451071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Before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were treated independently from </a:t>
            </a:r>
            <a:r>
              <a:rPr lang="en-US" err="1">
                <a:solidFill>
                  <a:schemeClr val="tx2"/>
                </a:solidFill>
              </a:rPr>
              <a:t>eachother</a:t>
            </a:r>
            <a:r>
              <a:rPr lang="en-US">
                <a:solidFill>
                  <a:schemeClr val="tx2"/>
                </a:solidFill>
              </a:rPr>
              <a:t>. No alignment between them. Seem to be from different parents.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0C3802-A1B3-C85A-7087-0FB609A9310F}"/>
              </a:ext>
            </a:extLst>
          </p:cNvPr>
          <p:cNvSpPr txBox="1"/>
          <p:nvPr/>
        </p:nvSpPr>
        <p:spPr>
          <a:xfrm>
            <a:off x="6068055" y="1675602"/>
            <a:ext cx="5649195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Now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follow the same framework. Seem from the same parents. Have the swoosh.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4C4A20E-067A-05D0-A64D-95C54A3DA7B8}"/>
              </a:ext>
            </a:extLst>
          </p:cNvPr>
          <p:cNvGrpSpPr/>
          <p:nvPr/>
        </p:nvGrpSpPr>
        <p:grpSpPr>
          <a:xfrm>
            <a:off x="6068055" y="3444502"/>
            <a:ext cx="5715682" cy="1737896"/>
            <a:chOff x="468000" y="1605733"/>
            <a:chExt cx="11094563" cy="3373386"/>
          </a:xfrm>
        </p:grpSpPr>
        <p:pic>
          <p:nvPicPr>
            <p:cNvPr id="13" name="Picture 27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6A933D1E-5C26-EB26-6C19-C57F8753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00" y="1605733"/>
              <a:ext cx="1977857" cy="517841"/>
            </a:xfrm>
            <a:prstGeom prst="rect">
              <a:avLst/>
            </a:prstGeom>
          </p:spPr>
        </p:pic>
        <p:pic>
          <p:nvPicPr>
            <p:cNvPr id="14" name="Picture 38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41F939F-E788-0130-6171-AD37657A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700" y="1727200"/>
              <a:ext cx="1538152" cy="396374"/>
            </a:xfrm>
            <a:prstGeom prst="rect">
              <a:avLst/>
            </a:prstGeom>
          </p:spPr>
        </p:pic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1D48CBD7-F935-CE55-AD3F-85D568CC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4991" y="1664906"/>
              <a:ext cx="2106562" cy="457106"/>
            </a:xfrm>
            <a:prstGeom prst="rect">
              <a:avLst/>
            </a:prstGeom>
          </p:spPr>
        </p:pic>
        <p:pic>
          <p:nvPicPr>
            <p:cNvPr id="16" name="Picture 40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046A2FF8-F25E-C1DB-262B-25FCE9921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1751603"/>
              <a:ext cx="1317665" cy="347568"/>
            </a:xfrm>
            <a:prstGeom prst="rect">
              <a:avLst/>
            </a:prstGeom>
          </p:spPr>
        </p:pic>
        <p:pic>
          <p:nvPicPr>
            <p:cNvPr id="17" name="Picture 33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12BFB078-6331-7C70-A5FF-30FD972D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9390" y="1664905"/>
              <a:ext cx="1823173" cy="457105"/>
            </a:xfrm>
            <a:prstGeom prst="rect">
              <a:avLst/>
            </a:prstGeom>
          </p:spPr>
        </p:pic>
        <p:pic>
          <p:nvPicPr>
            <p:cNvPr id="18" name="Picture 7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0A5DDC7-8EB3-374A-6CB2-2695E21A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946" y="3102101"/>
              <a:ext cx="1786337" cy="450169"/>
            </a:xfrm>
            <a:prstGeom prst="rect">
              <a:avLst/>
            </a:prstGeom>
          </p:spPr>
        </p:pic>
        <p:pic>
          <p:nvPicPr>
            <p:cNvPr id="19" name="Picture 13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6B63C32-2196-357A-32A1-12081E170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21" y="3050558"/>
              <a:ext cx="1652933" cy="516277"/>
            </a:xfrm>
            <a:prstGeom prst="rect">
              <a:avLst/>
            </a:prstGeom>
          </p:spPr>
        </p:pic>
        <p:pic>
          <p:nvPicPr>
            <p:cNvPr id="20" name="Picture 36" descr="A blue x on a black background&#10;&#10;AI-generated content may be incorrect.">
              <a:extLst>
                <a:ext uri="{FF2B5EF4-FFF2-40B4-BE49-F238E27FC236}">
                  <a16:creationId xmlns:a16="http://schemas.microsoft.com/office/drawing/2014/main" id="{A8CED776-6945-7783-E68B-3364047B9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5988" y="3081221"/>
              <a:ext cx="1663960" cy="454950"/>
            </a:xfrm>
            <a:prstGeom prst="rect">
              <a:avLst/>
            </a:prstGeom>
          </p:spPr>
        </p:pic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5944E20A-C2C3-323A-E33A-42782FD8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9430" y="3210058"/>
              <a:ext cx="1929971" cy="302386"/>
            </a:xfrm>
            <a:prstGeom prst="rect">
              <a:avLst/>
            </a:prstGeom>
          </p:spPr>
        </p:pic>
        <p:pic>
          <p:nvPicPr>
            <p:cNvPr id="22" name="Picture 19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4F94B53-4083-5471-DF30-2FE789D46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9454" y="3067155"/>
              <a:ext cx="1557733" cy="499680"/>
            </a:xfrm>
            <a:prstGeom prst="rect">
              <a:avLst/>
            </a:prstGeom>
          </p:spPr>
        </p:pic>
        <p:pic>
          <p:nvPicPr>
            <p:cNvPr id="23" name="Imagen 22" descr="Logotipo&#10;&#10;El contenido generado por IA puede ser incorrecto.">
              <a:extLst>
                <a:ext uri="{FF2B5EF4-FFF2-40B4-BE49-F238E27FC236}">
                  <a16:creationId xmlns:a16="http://schemas.microsoft.com/office/drawing/2014/main" id="{85C61463-D27B-790E-BA55-AD2AC20E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85" y="4489045"/>
              <a:ext cx="1790236" cy="450401"/>
            </a:xfrm>
            <a:prstGeom prst="rect">
              <a:avLst/>
            </a:prstGeom>
          </p:spPr>
        </p:pic>
        <p:pic>
          <p:nvPicPr>
            <p:cNvPr id="24" name="Imagen 23" descr="Logotipo&#10;&#10;El contenido generado por IA puede ser incorrecto.">
              <a:extLst>
                <a:ext uri="{FF2B5EF4-FFF2-40B4-BE49-F238E27FC236}">
                  <a16:creationId xmlns:a16="http://schemas.microsoft.com/office/drawing/2014/main" id="{66730836-A3A0-3D92-A48A-8DC0A9AE7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519" y="4446581"/>
              <a:ext cx="1581307" cy="532538"/>
            </a:xfrm>
            <a:prstGeom prst="rect">
              <a:avLst/>
            </a:prstGeom>
          </p:spPr>
        </p:pic>
        <p:pic>
          <p:nvPicPr>
            <p:cNvPr id="25" name="Picture 16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DC880FAA-CEC8-A5EB-08D0-EDA615001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9217" y="4575385"/>
              <a:ext cx="1839793" cy="321774"/>
            </a:xfrm>
            <a:prstGeom prst="rect">
              <a:avLst/>
            </a:prstGeom>
          </p:spPr>
        </p:pic>
        <p:pic>
          <p:nvPicPr>
            <p:cNvPr id="26" name="Imagen 25" descr="Imagen que contiene objeto, reloj, dibujo, señal&#10;&#10;El contenido generado por IA puede ser incorrecto.">
              <a:extLst>
                <a:ext uri="{FF2B5EF4-FFF2-40B4-BE49-F238E27FC236}">
                  <a16:creationId xmlns:a16="http://schemas.microsoft.com/office/drawing/2014/main" id="{D2D8739A-A482-ACF9-EF18-FCC4985AD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4489045"/>
              <a:ext cx="1343974" cy="430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90466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