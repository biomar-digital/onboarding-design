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406" r:id="rId13"/>
    <p:sldId id="214747194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9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hyperlink" Target="mailto:design@biomar.com" TargetMode="External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0604F0-AF8E-B136-D00F-2BE0B68A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 dirty="0"/>
              <a:t>Design Hub Process</a:t>
            </a:r>
            <a:endParaRPr lang="en-DK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8C6C04F-A2A8-CD5F-04EE-1F7CAD79EED7}"/>
              </a:ext>
            </a:extLst>
          </p:cNvPr>
          <p:cNvGrpSpPr/>
          <p:nvPr/>
        </p:nvGrpSpPr>
        <p:grpSpPr>
          <a:xfrm>
            <a:off x="167353" y="1454490"/>
            <a:ext cx="2342439" cy="1657568"/>
            <a:chOff x="167353" y="1454490"/>
            <a:chExt cx="2342439" cy="16575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D47D13-36CB-AE98-23F8-3D1E634F1AEC}"/>
                </a:ext>
              </a:extLst>
            </p:cNvPr>
            <p:cNvSpPr/>
            <p:nvPr/>
          </p:nvSpPr>
          <p:spPr>
            <a:xfrm>
              <a:off x="167353" y="2439983"/>
              <a:ext cx="2342439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Fill out Brief form and send via email to </a:t>
              </a: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3"/>
                </a:rPr>
                <a:t>design@biomar.com</a:t>
              </a: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  <a:p>
              <a:pPr algn="ctr"/>
              <a:r>
                <a:rPr lang="en-GB" sz="1200" i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(Template Provided)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BCAEDAF-E718-83C7-8C9A-729C2DA9A8C8}"/>
                </a:ext>
              </a:extLst>
            </p:cNvPr>
            <p:cNvGrpSpPr/>
            <p:nvPr/>
          </p:nvGrpSpPr>
          <p:grpSpPr>
            <a:xfrm>
              <a:off x="851679" y="1454490"/>
              <a:ext cx="973790" cy="947580"/>
              <a:chOff x="4240588" y="1960193"/>
              <a:chExt cx="1124095" cy="1093840"/>
            </a:xfrm>
          </p:grpSpPr>
          <p:pic>
            <p:nvPicPr>
              <p:cNvPr id="14" name="Graphic 13" descr="Pencil">
                <a:extLst>
                  <a:ext uri="{FF2B5EF4-FFF2-40B4-BE49-F238E27FC236}">
                    <a16:creationId xmlns:a16="http://schemas.microsoft.com/office/drawing/2014/main" id="{A3CD5A9B-2E10-2316-4CB0-BD4F762DA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450283" y="213963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5" name="Graphic 14" descr="Document">
                <a:extLst>
                  <a:ext uri="{FF2B5EF4-FFF2-40B4-BE49-F238E27FC236}">
                    <a16:creationId xmlns:a16="http://schemas.microsoft.com/office/drawing/2014/main" id="{EA246C5A-CA75-3909-5F7A-6A3392244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240588" y="1960193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2491BF-7757-0475-D697-5166B4887AA7}"/>
              </a:ext>
            </a:extLst>
          </p:cNvPr>
          <p:cNvGrpSpPr/>
          <p:nvPr/>
        </p:nvGrpSpPr>
        <p:grpSpPr>
          <a:xfrm>
            <a:off x="474750" y="4472355"/>
            <a:ext cx="2353747" cy="1793251"/>
            <a:chOff x="474750" y="4472355"/>
            <a:chExt cx="2353747" cy="17932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C7AF08-8745-0251-0860-D9A289814A5B}"/>
                </a:ext>
              </a:extLst>
            </p:cNvPr>
            <p:cNvSpPr/>
            <p:nvPr/>
          </p:nvSpPr>
          <p:spPr>
            <a:xfrm>
              <a:off x="474750" y="5593531"/>
              <a:ext cx="2353747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Review Brief, input to Design Hub, tag contact person and inform via email. </a:t>
              </a:r>
              <a:r>
                <a:rPr lang="en-US" sz="1200" i="1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(Request any missing information or seek clarifications).</a:t>
              </a:r>
            </a:p>
          </p:txBody>
        </p:sp>
        <p:pic>
          <p:nvPicPr>
            <p:cNvPr id="57" name="Graphic 56" descr="Programmer female with solid fill">
              <a:extLst>
                <a:ext uri="{FF2B5EF4-FFF2-40B4-BE49-F238E27FC236}">
                  <a16:creationId xmlns:a16="http://schemas.microsoft.com/office/drawing/2014/main" id="{9B1B398F-408C-EEFE-99B7-2FD7238BAA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8480" y="4472355"/>
              <a:ext cx="914400" cy="914400"/>
            </a:xfrm>
            <a:prstGeom prst="rect">
              <a:avLst/>
            </a:prstGeom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109152-2A23-968D-F246-1CD5F3FE7331}"/>
              </a:ext>
            </a:extLst>
          </p:cNvPr>
          <p:cNvSpPr/>
          <p:nvPr/>
        </p:nvSpPr>
        <p:spPr>
          <a:xfrm>
            <a:off x="474750" y="298240"/>
            <a:ext cx="1995055" cy="32142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Marketing/User</a:t>
            </a:r>
            <a:endParaRPr lang="en-DK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243FDD-9CB5-0310-7D35-762A9C40D6D2}"/>
              </a:ext>
            </a:extLst>
          </p:cNvPr>
          <p:cNvSpPr/>
          <p:nvPr/>
        </p:nvSpPr>
        <p:spPr>
          <a:xfrm>
            <a:off x="474750" y="702792"/>
            <a:ext cx="1995055" cy="3214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Design Hub</a:t>
            </a:r>
            <a:endParaRPr lang="en-DK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D9C4BFC-FAFF-7C40-A0B0-5EDDE8AC53F6}"/>
              </a:ext>
            </a:extLst>
          </p:cNvPr>
          <p:cNvGrpSpPr/>
          <p:nvPr/>
        </p:nvGrpSpPr>
        <p:grpSpPr>
          <a:xfrm>
            <a:off x="3299782" y="4640288"/>
            <a:ext cx="1759471" cy="1642840"/>
            <a:chOff x="3299782" y="4640288"/>
            <a:chExt cx="1759471" cy="1642840"/>
          </a:xfrm>
        </p:grpSpPr>
        <p:pic>
          <p:nvPicPr>
            <p:cNvPr id="70" name="Graphic 69" descr="Email with solid fill">
              <a:extLst>
                <a:ext uri="{FF2B5EF4-FFF2-40B4-BE49-F238E27FC236}">
                  <a16:creationId xmlns:a16="http://schemas.microsoft.com/office/drawing/2014/main" id="{D467E51C-8B5A-988C-0E72-E0D0E3A6A7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06285" y="4640288"/>
              <a:ext cx="746467" cy="74646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AE2B6C-970B-6AAC-F70B-FBE434CCA2FF}"/>
                </a:ext>
              </a:extLst>
            </p:cNvPr>
            <p:cNvSpPr/>
            <p:nvPr/>
          </p:nvSpPr>
          <p:spPr>
            <a:xfrm>
              <a:off x="3299782" y="5611053"/>
              <a:ext cx="1759471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Submit drafts via email following the same thread. Paths for files or links for videos. 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0462F3-4110-2287-A552-8AD399E3A16D}"/>
              </a:ext>
            </a:extLst>
          </p:cNvPr>
          <p:cNvGrpSpPr/>
          <p:nvPr/>
        </p:nvGrpSpPr>
        <p:grpSpPr>
          <a:xfrm>
            <a:off x="3759595" y="1457840"/>
            <a:ext cx="2113846" cy="1606815"/>
            <a:chOff x="4990635" y="1457840"/>
            <a:chExt cx="2113846" cy="160681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BBD78-1347-2A67-456E-4334B8604091}"/>
                </a:ext>
              </a:extLst>
            </p:cNvPr>
            <p:cNvSpPr/>
            <p:nvPr/>
          </p:nvSpPr>
          <p:spPr>
            <a:xfrm>
              <a:off x="4990635" y="2392580"/>
              <a:ext cx="211384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Feedback submitted is relevant to the media type. Inform Design Hub via email that feedback has been given.</a:t>
              </a:r>
            </a:p>
          </p:txBody>
        </p:sp>
        <p:pic>
          <p:nvPicPr>
            <p:cNvPr id="24" name="Graphic 23" descr="Speech with solid fill">
              <a:extLst>
                <a:ext uri="{FF2B5EF4-FFF2-40B4-BE49-F238E27FC236}">
                  <a16:creationId xmlns:a16="http://schemas.microsoft.com/office/drawing/2014/main" id="{39C71223-9A28-FB57-4EC5-CC4739D2D9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35958" y="1457840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D86C6D-D04D-3633-054D-9974179F23B1}"/>
              </a:ext>
            </a:extLst>
          </p:cNvPr>
          <p:cNvGrpSpPr/>
          <p:nvPr/>
        </p:nvGrpSpPr>
        <p:grpSpPr>
          <a:xfrm>
            <a:off x="5287424" y="4748660"/>
            <a:ext cx="1493417" cy="1600913"/>
            <a:chOff x="6988042" y="4748660"/>
            <a:chExt cx="1493417" cy="1600913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A3A2233D-0C77-4DE5-1C10-26581EAA933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05946" y="4748660"/>
              <a:ext cx="657610" cy="657610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6B52FE-1D47-BB6B-FF86-9EE671DCE24F}"/>
                </a:ext>
              </a:extLst>
            </p:cNvPr>
            <p:cNvSpPr/>
            <p:nvPr/>
          </p:nvSpPr>
          <p:spPr>
            <a:xfrm>
              <a:off x="6988042" y="5677498"/>
              <a:ext cx="1493417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Adjust based on feedback and submit final files.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5213C8E-FBDD-DE4B-9850-8A5F54A403EC}"/>
              </a:ext>
            </a:extLst>
          </p:cNvPr>
          <p:cNvGrpSpPr/>
          <p:nvPr/>
        </p:nvGrpSpPr>
        <p:grpSpPr>
          <a:xfrm>
            <a:off x="7888748" y="4640288"/>
            <a:ext cx="1239067" cy="1726807"/>
            <a:chOff x="10320316" y="4640288"/>
            <a:chExt cx="1239067" cy="17268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975DE4F-B4A6-B02E-F9DD-44C4F6BD1746}"/>
                </a:ext>
              </a:extLst>
            </p:cNvPr>
            <p:cNvSpPr/>
            <p:nvPr/>
          </p:nvSpPr>
          <p:spPr>
            <a:xfrm>
              <a:off x="10320316" y="5695020"/>
              <a:ext cx="1239067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Close task and move card to Completed tab.</a:t>
              </a:r>
            </a:p>
          </p:txBody>
        </p:sp>
        <p:pic>
          <p:nvPicPr>
            <p:cNvPr id="50" name="Graphic 49" descr="Checkbox Checked with solid fill">
              <a:extLst>
                <a:ext uri="{FF2B5EF4-FFF2-40B4-BE49-F238E27FC236}">
                  <a16:creationId xmlns:a16="http://schemas.microsoft.com/office/drawing/2014/main" id="{B0CB8E7B-D0F2-E3A1-63FF-E6F30B4025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86637" y="4640288"/>
              <a:ext cx="914400" cy="9144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2AA822F-DD60-52E3-693F-832066F60141}"/>
              </a:ext>
            </a:extLst>
          </p:cNvPr>
          <p:cNvGrpSpPr/>
          <p:nvPr/>
        </p:nvGrpSpPr>
        <p:grpSpPr>
          <a:xfrm>
            <a:off x="6395199" y="1487670"/>
            <a:ext cx="1756006" cy="1611179"/>
            <a:chOff x="6912874" y="1487670"/>
            <a:chExt cx="1756006" cy="1611179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AFE871-7894-1C28-A870-1374D6514115}"/>
                </a:ext>
              </a:extLst>
            </p:cNvPr>
            <p:cNvSpPr/>
            <p:nvPr/>
          </p:nvSpPr>
          <p:spPr>
            <a:xfrm>
              <a:off x="6912874" y="2426774"/>
              <a:ext cx="175600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Approve final files and inform Design Hub that the task/project is closed.</a:t>
              </a:r>
            </a:p>
          </p:txBody>
        </p:sp>
        <p:pic>
          <p:nvPicPr>
            <p:cNvPr id="66" name="Graphic 65" descr="Comment Like with solid fill">
              <a:extLst>
                <a:ext uri="{FF2B5EF4-FFF2-40B4-BE49-F238E27FC236}">
                  <a16:creationId xmlns:a16="http://schemas.microsoft.com/office/drawing/2014/main" id="{A6A6D7C3-BA8B-B10F-C73C-74F3EADDCD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21484" y="1487670"/>
              <a:ext cx="914400" cy="914400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A59002-0AF5-77EA-D77F-B1F36CE33EA7}"/>
              </a:ext>
            </a:extLst>
          </p:cNvPr>
          <p:cNvCxnSpPr>
            <a:cxnSpLocks/>
          </p:cNvCxnSpPr>
          <p:nvPr/>
        </p:nvCxnSpPr>
        <p:spPr>
          <a:xfrm>
            <a:off x="1131683" y="3172078"/>
            <a:ext cx="0" cy="691224"/>
          </a:xfrm>
          <a:prstGeom prst="line">
            <a:avLst/>
          </a:prstGeom>
          <a:ln w="3810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28ECBF-AEE6-F073-365E-52E7D06FCEB4}"/>
              </a:ext>
            </a:extLst>
          </p:cNvPr>
          <p:cNvCxnSpPr>
            <a:cxnSpLocks/>
          </p:cNvCxnSpPr>
          <p:nvPr/>
        </p:nvCxnSpPr>
        <p:spPr>
          <a:xfrm>
            <a:off x="4803502" y="3370683"/>
            <a:ext cx="0" cy="492619"/>
          </a:xfrm>
          <a:prstGeom prst="line">
            <a:avLst/>
          </a:prstGeom>
          <a:ln w="3810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75E57E-5EBE-5A57-EC66-6978C52A71C8}"/>
              </a:ext>
            </a:extLst>
          </p:cNvPr>
          <p:cNvCxnSpPr>
            <a:cxnSpLocks/>
          </p:cNvCxnSpPr>
          <p:nvPr/>
        </p:nvCxnSpPr>
        <p:spPr>
          <a:xfrm>
            <a:off x="7278474" y="3172078"/>
            <a:ext cx="0" cy="691224"/>
          </a:xfrm>
          <a:prstGeom prst="line">
            <a:avLst/>
          </a:prstGeom>
          <a:ln w="38100"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698B026-CEA6-C1DE-0829-D4C18EC13D31}"/>
              </a:ext>
            </a:extLst>
          </p:cNvPr>
          <p:cNvSpPr/>
          <p:nvPr/>
        </p:nvSpPr>
        <p:spPr>
          <a:xfrm>
            <a:off x="462316" y="3745943"/>
            <a:ext cx="1231094" cy="21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DB7E75-5A8F-DC91-41DF-980007913E15}"/>
              </a:ext>
            </a:extLst>
          </p:cNvPr>
          <p:cNvSpPr/>
          <p:nvPr/>
        </p:nvSpPr>
        <p:spPr>
          <a:xfrm>
            <a:off x="1706167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50D982-84FA-B1E2-2ED2-56F51860933C}"/>
              </a:ext>
            </a:extLst>
          </p:cNvPr>
          <p:cNvSpPr/>
          <p:nvPr/>
        </p:nvSpPr>
        <p:spPr>
          <a:xfrm>
            <a:off x="2940451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DE4C0A-9AA4-E9AF-A57A-6F0724DCDD6C}"/>
              </a:ext>
            </a:extLst>
          </p:cNvPr>
          <p:cNvSpPr/>
          <p:nvPr/>
        </p:nvSpPr>
        <p:spPr>
          <a:xfrm>
            <a:off x="4179519" y="3745943"/>
            <a:ext cx="1231094" cy="21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6DCDD-8E94-085D-6B7E-12D1AC7ED72D}"/>
              </a:ext>
            </a:extLst>
          </p:cNvPr>
          <p:cNvSpPr/>
          <p:nvPr/>
        </p:nvSpPr>
        <p:spPr>
          <a:xfrm>
            <a:off x="5418586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A8237C-DF38-6EAE-C6C6-418308812598}"/>
              </a:ext>
            </a:extLst>
          </p:cNvPr>
          <p:cNvSpPr/>
          <p:nvPr/>
        </p:nvSpPr>
        <p:spPr>
          <a:xfrm>
            <a:off x="6657655" y="3745943"/>
            <a:ext cx="1231094" cy="21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57EDEA-8A29-3EC7-DE65-E60807050892}"/>
              </a:ext>
            </a:extLst>
          </p:cNvPr>
          <p:cNvSpPr/>
          <p:nvPr/>
        </p:nvSpPr>
        <p:spPr>
          <a:xfrm>
            <a:off x="7896722" y="3745943"/>
            <a:ext cx="1231094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6D58F0-8E00-0392-BA94-BB581E50BCC1}"/>
              </a:ext>
            </a:extLst>
          </p:cNvPr>
          <p:cNvCxnSpPr>
            <a:cxnSpLocks/>
          </p:cNvCxnSpPr>
          <p:nvPr/>
        </p:nvCxnSpPr>
        <p:spPr>
          <a:xfrm>
            <a:off x="2297438" y="3863302"/>
            <a:ext cx="0" cy="1473469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7501D6B-D7A3-15AB-FF03-A0C4E36A941B}"/>
              </a:ext>
            </a:extLst>
          </p:cNvPr>
          <p:cNvCxnSpPr>
            <a:cxnSpLocks/>
          </p:cNvCxnSpPr>
          <p:nvPr/>
        </p:nvCxnSpPr>
        <p:spPr>
          <a:xfrm>
            <a:off x="3525542" y="3863302"/>
            <a:ext cx="0" cy="1473469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7876A8F-700B-4476-3D1A-129628F89B3F}"/>
              </a:ext>
            </a:extLst>
          </p:cNvPr>
          <p:cNvCxnSpPr>
            <a:cxnSpLocks/>
          </p:cNvCxnSpPr>
          <p:nvPr/>
        </p:nvCxnSpPr>
        <p:spPr>
          <a:xfrm>
            <a:off x="6034133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F099351-B591-0DE6-50CC-7B2274BAC3F6}"/>
              </a:ext>
            </a:extLst>
          </p:cNvPr>
          <p:cNvCxnSpPr>
            <a:cxnSpLocks/>
          </p:cNvCxnSpPr>
          <p:nvPr/>
        </p:nvCxnSpPr>
        <p:spPr>
          <a:xfrm>
            <a:off x="8474356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30A10FBB-750E-378E-1D89-5A3A3B59B62C}"/>
              </a:ext>
            </a:extLst>
          </p:cNvPr>
          <p:cNvSpPr/>
          <p:nvPr/>
        </p:nvSpPr>
        <p:spPr>
          <a:xfrm>
            <a:off x="9289431" y="1448474"/>
            <a:ext cx="2427819" cy="4774301"/>
          </a:xfrm>
          <a:prstGeom prst="roundRect">
            <a:avLst>
              <a:gd name="adj" fmla="val 436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Collaborative rather than transactional approach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Continuous communication with local stakeholders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Support adaptation for local market needs while maintaining brand consistency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Prioritization based on timelines and business impact</a:t>
            </a:r>
          </a:p>
          <a:p>
            <a:pPr algn="ctr"/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9773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2" grpId="0" animBg="1"/>
      <p:bldP spid="17" grpId="0" animBg="1"/>
      <p:bldP spid="18" grpId="0" animBg="1"/>
      <p:bldP spid="19" grpId="0" animBg="1"/>
      <p:bldP spid="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724BE-AC9F-39EB-9CED-E067D163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3DCEA5-3C17-C1EE-7397-65E8D8CB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4D4A6D6-5EFD-4BF2-7BB2-5900BA2A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Different Workflows Depending on Scope</a:t>
            </a:r>
            <a:endParaRPr lang="es-ES" sz="320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AAD888A-1A24-40C5-3B70-BB366D60034C}"/>
              </a:ext>
            </a:extLst>
          </p:cNvPr>
          <p:cNvSpPr txBox="1">
            <a:spLocks/>
          </p:cNvSpPr>
          <p:nvPr/>
        </p:nvSpPr>
        <p:spPr>
          <a:xfrm>
            <a:off x="392150" y="108000"/>
            <a:ext cx="11246990" cy="57091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2"/>
                </a:solidFill>
              </a:rPr>
              <a:t>Tasks vs Projects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15FB79A5-EABE-9749-1ADA-6B5824F24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426569"/>
              </p:ext>
            </p:extLst>
          </p:nvPr>
        </p:nvGraphicFramePr>
        <p:xfrm>
          <a:off x="468000" y="1545054"/>
          <a:ext cx="11246991" cy="46939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63023">
                  <a:extLst>
                    <a:ext uri="{9D8B030D-6E8A-4147-A177-3AD203B41FA5}">
                      <a16:colId xmlns:a16="http://schemas.microsoft.com/office/drawing/2014/main" val="2327758843"/>
                    </a:ext>
                  </a:extLst>
                </a:gridCol>
                <a:gridCol w="4534971">
                  <a:extLst>
                    <a:ext uri="{9D8B030D-6E8A-4147-A177-3AD203B41FA5}">
                      <a16:colId xmlns:a16="http://schemas.microsoft.com/office/drawing/2014/main" val="2892189343"/>
                    </a:ext>
                  </a:extLst>
                </a:gridCol>
                <a:gridCol w="3748997">
                  <a:extLst>
                    <a:ext uri="{9D8B030D-6E8A-4147-A177-3AD203B41FA5}">
                      <a16:colId xmlns:a16="http://schemas.microsoft.com/office/drawing/2014/main" val="2536926427"/>
                    </a:ext>
                  </a:extLst>
                </a:gridCol>
              </a:tblGrid>
              <a:tr h="755867"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err="1"/>
                        <a:t>Task</a:t>
                      </a:r>
                      <a:endParaRPr lang="es-E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620392"/>
                  </a:ext>
                </a:extLst>
              </a:tr>
              <a:tr h="793429">
                <a:tc>
                  <a:txBody>
                    <a:bodyPr/>
                    <a:lstStyle/>
                    <a:p>
                      <a:pPr algn="ctr"/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What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is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it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tx2"/>
                          </a:solidFill>
                        </a:rPr>
                        <a:t>Small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requests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Larger strategic initiatives.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Multiple deliverables.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743186"/>
                  </a:ext>
                </a:extLst>
              </a:tr>
              <a:tr h="752249"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tx2"/>
                          </a:solidFill>
                        </a:rPr>
                        <a:t>Timeline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tx2"/>
                          </a:solidFill>
                        </a:rPr>
                        <a:t>Faster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turnaround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( 2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6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days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solidFill>
                            <a:schemeClr val="tx2"/>
                          </a:solidFill>
                        </a:rPr>
                        <a:t>Longer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turnaround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(2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24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weeks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6740949"/>
                  </a:ext>
                </a:extLst>
              </a:tr>
              <a:tr h="861412">
                <a:tc>
                  <a:txBody>
                    <a:bodyPr/>
                    <a:lstStyle/>
                    <a:p>
                      <a:pPr algn="ctr"/>
                      <a:r>
                        <a:rPr lang="es-ES" b="1">
                          <a:solidFill>
                            <a:schemeClr val="tx2"/>
                          </a:solidFill>
                        </a:rPr>
                        <a:t>Number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of</a:t>
                      </a:r>
                      <a:r>
                        <a:rPr lang="es-ES" b="1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reviews</a:t>
                      </a:r>
                      <a:endParaRPr lang="es-ES" b="1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Limited reviews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(1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3)</a:t>
                      </a:r>
                      <a:endParaRPr lang="en-US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Several stakeholders/review rounds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502181"/>
                  </a:ext>
                </a:extLst>
              </a:tr>
              <a:tr h="1530947">
                <a:tc>
                  <a:txBody>
                    <a:bodyPr/>
                    <a:lstStyle/>
                    <a:p>
                      <a:pPr algn="ctr"/>
                      <a:r>
                        <a:rPr lang="es-ES" b="1" err="1">
                          <a:solidFill>
                            <a:schemeClr val="tx2"/>
                          </a:solidFill>
                        </a:rPr>
                        <a:t>Examples</a:t>
                      </a:r>
                      <a:endParaRPr lang="es-ES" b="1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>
                          <a:solidFill>
                            <a:schemeClr val="tx2"/>
                          </a:solidFill>
                        </a:rPr>
                        <a:t>Update existing document / Social media assets / Small edits / One-page documents / Internal banners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/>
                      <a:r>
                        <a:rPr lang="es-ES" err="1">
                          <a:solidFill>
                            <a:schemeClr val="tx2"/>
                          </a:solidFill>
                        </a:rPr>
                        <a:t>Campaigns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Publications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Rebranding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initiatives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Product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launches</a:t>
                      </a:r>
                      <a:r>
                        <a:rPr lang="es-ES">
                          <a:solidFill>
                            <a:schemeClr val="tx2"/>
                          </a:solidFill>
                        </a:rPr>
                        <a:t> / Video </a:t>
                      </a:r>
                      <a:r>
                        <a:rPr lang="es-ES" err="1">
                          <a:solidFill>
                            <a:schemeClr val="tx2"/>
                          </a:solidFill>
                        </a:rPr>
                        <a:t>productions</a:t>
                      </a:r>
                      <a:endParaRPr lang="es-ES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908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5392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