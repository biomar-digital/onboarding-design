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408" r:id="rId8"/>
    <p:sldId id="40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10" Type="http://schemas.openxmlformats.org/officeDocument/2006/relationships/slide" Target="slides/slide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3DFA-8EE1-433A-3ED9-57498534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D231E7-EFF8-08C2-4CD4-B291024B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561861-A9CC-11C5-E48B-30329777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B3914D4-A12F-9D34-E63A-BFAC7977E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/>
              <a:t>A simple </a:t>
            </a:r>
            <a:r>
              <a:rPr lang="es-ES" err="1"/>
              <a:t>decision</a:t>
            </a:r>
            <a:r>
              <a:rPr lang="es-ES"/>
              <a:t> guide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660CAB6-84E0-ABEF-8BA7-7BAFDBAB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Before You Reach Out: What Do You Need?</a:t>
            </a:r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1B88CA-676C-C965-9CE0-D92BE08498A3}"/>
              </a:ext>
            </a:extLst>
          </p:cNvPr>
          <p:cNvSpPr txBox="1"/>
          <p:nvPr/>
        </p:nvSpPr>
        <p:spPr>
          <a:xfrm>
            <a:off x="4011478" y="3071260"/>
            <a:ext cx="4169044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>
                <a:solidFill>
                  <a:schemeClr val="tx2"/>
                </a:solidFill>
              </a:rPr>
              <a:t>Do you need…</a:t>
            </a:r>
            <a:endParaRPr lang="es-ES" sz="3200" b="1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C094C2-AEE2-9868-8E03-93F61CA1D34D}"/>
              </a:ext>
            </a:extLst>
          </p:cNvPr>
          <p:cNvSpPr txBox="1"/>
          <p:nvPr/>
        </p:nvSpPr>
        <p:spPr>
          <a:xfrm>
            <a:off x="848968" y="2960117"/>
            <a:ext cx="2975346" cy="8059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ES" sz="2400" err="1">
                <a:solidFill>
                  <a:schemeClr val="tx2"/>
                </a:solidFill>
              </a:rPr>
              <a:t>one</a:t>
            </a:r>
            <a:r>
              <a:rPr lang="es-ES" sz="2400">
                <a:solidFill>
                  <a:schemeClr val="tx2"/>
                </a:solidFill>
              </a:rPr>
              <a:t> (</a:t>
            </a:r>
            <a:r>
              <a:rPr lang="es-ES" sz="2400" err="1">
                <a:solidFill>
                  <a:schemeClr val="tx2"/>
                </a:solidFill>
              </a:rPr>
              <a:t>quick</a:t>
            </a:r>
            <a:r>
              <a:rPr lang="es-ES" sz="2400">
                <a:solidFill>
                  <a:schemeClr val="tx2"/>
                </a:solidFill>
              </a:rPr>
              <a:t>) </a:t>
            </a:r>
            <a:r>
              <a:rPr lang="es-ES" sz="2400" err="1">
                <a:solidFill>
                  <a:schemeClr val="tx2"/>
                </a:solidFill>
              </a:rPr>
              <a:t>deliverable</a:t>
            </a:r>
            <a:r>
              <a:rPr lang="es-ES" sz="2400">
                <a:solidFill>
                  <a:schemeClr val="tx2"/>
                </a:solidFill>
              </a:rPr>
              <a:t>?</a:t>
            </a:r>
            <a:endParaRPr lang="es-ES" sz="2400" b="1">
              <a:solidFill>
                <a:schemeClr val="tx2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FEF7523-486A-9407-5A1B-A2A2B0547E0F}"/>
              </a:ext>
            </a:extLst>
          </p:cNvPr>
          <p:cNvSpPr txBox="1"/>
          <p:nvPr/>
        </p:nvSpPr>
        <p:spPr>
          <a:xfrm>
            <a:off x="8616915" y="2960118"/>
            <a:ext cx="2975346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a bigger goal with multiple pieces?</a:t>
            </a:r>
            <a:endParaRPr lang="es-ES" sz="2400" b="1">
              <a:solidFill>
                <a:schemeClr val="tx2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1715E51-CFE5-B060-915B-B8F97561DBCC}"/>
              </a:ext>
            </a:extLst>
          </p:cNvPr>
          <p:cNvCxnSpPr/>
          <p:nvPr/>
        </p:nvCxnSpPr>
        <p:spPr>
          <a:xfrm flipH="1">
            <a:off x="3440367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E53E024-FE44-80B2-3873-010BC45242AB}"/>
              </a:ext>
            </a:extLst>
          </p:cNvPr>
          <p:cNvCxnSpPr/>
          <p:nvPr/>
        </p:nvCxnSpPr>
        <p:spPr>
          <a:xfrm flipH="1">
            <a:off x="7700831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8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9DB8D-2836-84D2-F928-0F7F16C5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7EDE42-2DA3-16B0-CE4B-4C053FB8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459FA2-10D5-E679-112D-2CC564E9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E3B5D97-DFE9-B751-B5D8-060A0C5A4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/>
              <a:t>A simple </a:t>
            </a:r>
            <a:r>
              <a:rPr lang="es-ES" err="1"/>
              <a:t>decision</a:t>
            </a:r>
            <a:r>
              <a:rPr lang="es-ES"/>
              <a:t> guide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5FD0D71-72A7-F5C8-B36F-7E7E9DCD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Before You Reach Out: What Do You Need?</a:t>
            </a:r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2781D4-1CBF-B43D-4910-8B9B4165089E}"/>
              </a:ext>
            </a:extLst>
          </p:cNvPr>
          <p:cNvSpPr txBox="1"/>
          <p:nvPr/>
        </p:nvSpPr>
        <p:spPr>
          <a:xfrm>
            <a:off x="4011478" y="3071260"/>
            <a:ext cx="4169044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>
                <a:solidFill>
                  <a:schemeClr val="tx2"/>
                </a:solidFill>
              </a:rPr>
              <a:t>Do you need…</a:t>
            </a:r>
            <a:endParaRPr lang="es-ES" sz="3200" b="1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96D0EA-1C86-4093-6711-6896F3B92F8E}"/>
              </a:ext>
            </a:extLst>
          </p:cNvPr>
          <p:cNvSpPr txBox="1"/>
          <p:nvPr/>
        </p:nvSpPr>
        <p:spPr>
          <a:xfrm>
            <a:off x="848968" y="2960117"/>
            <a:ext cx="2975346" cy="8059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ES" sz="2400" err="1">
                <a:solidFill>
                  <a:schemeClr val="tx2"/>
                </a:solidFill>
              </a:rPr>
              <a:t>one</a:t>
            </a:r>
            <a:r>
              <a:rPr lang="es-ES" sz="2400">
                <a:solidFill>
                  <a:schemeClr val="tx2"/>
                </a:solidFill>
              </a:rPr>
              <a:t> (</a:t>
            </a:r>
            <a:r>
              <a:rPr lang="es-ES" sz="2400" err="1">
                <a:solidFill>
                  <a:schemeClr val="tx2"/>
                </a:solidFill>
              </a:rPr>
              <a:t>quick</a:t>
            </a:r>
            <a:r>
              <a:rPr lang="es-ES" sz="2400">
                <a:solidFill>
                  <a:schemeClr val="tx2"/>
                </a:solidFill>
              </a:rPr>
              <a:t>) </a:t>
            </a:r>
            <a:r>
              <a:rPr lang="es-ES" sz="2400" err="1">
                <a:solidFill>
                  <a:schemeClr val="tx2"/>
                </a:solidFill>
              </a:rPr>
              <a:t>deliverable</a:t>
            </a:r>
            <a:r>
              <a:rPr lang="es-ES" sz="2400">
                <a:solidFill>
                  <a:schemeClr val="tx2"/>
                </a:solidFill>
              </a:rPr>
              <a:t>?</a:t>
            </a:r>
            <a:endParaRPr lang="es-ES" sz="2400" b="1">
              <a:solidFill>
                <a:schemeClr val="tx2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D00BC1-8211-3FFA-7B31-6FD8DD84F3EA}"/>
              </a:ext>
            </a:extLst>
          </p:cNvPr>
          <p:cNvSpPr txBox="1"/>
          <p:nvPr/>
        </p:nvSpPr>
        <p:spPr>
          <a:xfrm>
            <a:off x="8616915" y="2960118"/>
            <a:ext cx="2975346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a bigger goal with multiple pieces?</a:t>
            </a:r>
            <a:endParaRPr lang="es-ES" sz="2400" b="1">
              <a:solidFill>
                <a:schemeClr val="tx2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D9C45FB-6BB6-7FC9-7EBC-37BB6801C73C}"/>
              </a:ext>
            </a:extLst>
          </p:cNvPr>
          <p:cNvSpPr/>
          <p:nvPr/>
        </p:nvSpPr>
        <p:spPr>
          <a:xfrm>
            <a:off x="1510649" y="3947983"/>
            <a:ext cx="1651983" cy="47488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>
                <a:solidFill>
                  <a:schemeClr val="tx2"/>
                </a:solidFill>
              </a:rPr>
              <a:t>Task</a:t>
            </a:r>
            <a:endParaRPr lang="es-ES">
              <a:solidFill>
                <a:schemeClr val="tx2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945F53E-60A8-11ED-B2CB-0F76EDFAEA1A}"/>
              </a:ext>
            </a:extLst>
          </p:cNvPr>
          <p:cNvSpPr/>
          <p:nvPr/>
        </p:nvSpPr>
        <p:spPr>
          <a:xfrm>
            <a:off x="9278599" y="3947983"/>
            <a:ext cx="1651983" cy="47488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Project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7C55935-6925-FA17-9628-46CC81867596}"/>
              </a:ext>
            </a:extLst>
          </p:cNvPr>
          <p:cNvCxnSpPr/>
          <p:nvPr/>
        </p:nvCxnSpPr>
        <p:spPr>
          <a:xfrm flipH="1">
            <a:off x="3440367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9A1956D-66A2-81A2-E392-B8FC1E7299B5}"/>
              </a:ext>
            </a:extLst>
          </p:cNvPr>
          <p:cNvCxnSpPr/>
          <p:nvPr/>
        </p:nvCxnSpPr>
        <p:spPr>
          <a:xfrm flipH="1">
            <a:off x="7700831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E56BE2A5-135F-29F5-59D2-F66AC550A916}"/>
              </a:ext>
            </a:extLst>
          </p:cNvPr>
          <p:cNvSpPr txBox="1"/>
          <p:nvPr/>
        </p:nvSpPr>
        <p:spPr>
          <a:xfrm>
            <a:off x="3077902" y="4834131"/>
            <a:ext cx="6036195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>
                <a:solidFill>
                  <a:schemeClr val="accent2"/>
                </a:solidFill>
              </a:rPr>
              <a:t>This distinction shapes how we plan, design, and collaborate with you.</a:t>
            </a:r>
            <a:endParaRPr lang="es-ES" sz="24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53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white background with lines&#10;&#10;Description automatically generated">
            <a:extLst>
              <a:ext uri="{FF2B5EF4-FFF2-40B4-BE49-F238E27FC236}">
                <a16:creationId xmlns:a16="http://schemas.microsoft.com/office/drawing/2014/main" id="{AAB15FBB-B015-71B3-4E15-5B562DBA3A58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2" r="28932"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A44B73-5A1F-6044-B274-A1EAAEE3E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499" y="3706433"/>
            <a:ext cx="7275669" cy="2591335"/>
          </a:xfrm>
        </p:spPr>
        <p:txBody>
          <a:bodyPr>
            <a:normAutofit/>
          </a:bodyPr>
          <a:lstStyle/>
          <a:p>
            <a:r>
              <a:rPr lang="en-US" b="1"/>
              <a:t>Task</a:t>
            </a:r>
            <a:r>
              <a:rPr lang="en-US"/>
              <a:t> = Small, short task – not many reviews or info needed</a:t>
            </a:r>
          </a:p>
          <a:p>
            <a:r>
              <a:rPr lang="en-US" sz="1400" i="1"/>
              <a:t>Examples; ads, handouts, brochures</a:t>
            </a:r>
            <a:endParaRPr lang="en-DK" sz="1400" i="1"/>
          </a:p>
          <a:p>
            <a:r>
              <a:rPr lang="en-US" b="1"/>
              <a:t>Project</a:t>
            </a:r>
            <a:r>
              <a:rPr lang="en-US"/>
              <a:t> = A group of tasks</a:t>
            </a:r>
          </a:p>
          <a:p>
            <a:r>
              <a:rPr lang="en-US" sz="1400" i="1"/>
              <a:t>Examples; Logos, New Product branding, global campaigns, </a:t>
            </a:r>
            <a:endParaRPr lang="en-DK" sz="1400" i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869396-AC79-26DD-23F2-582C7107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Tasks vs Projects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7BCF1-8686-A3BF-A9BA-B91ED01C9E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3273-D966-2152-05FE-C8485002DC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D656C-E1BD-6F06-9E60-DB4064C7907F}"/>
              </a:ext>
            </a:extLst>
          </p:cNvPr>
          <p:cNvSpPr txBox="1"/>
          <p:nvPr/>
        </p:nvSpPr>
        <p:spPr>
          <a:xfrm>
            <a:off x="554700" y="2742223"/>
            <a:ext cx="31350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A</a:t>
            </a:r>
            <a:r>
              <a:rPr lang="en-US" sz="1600" b="1" i="1">
                <a:solidFill>
                  <a:schemeClr val="accent1"/>
                </a:solidFill>
                <a:effectLst/>
                <a:latin typeface="+mj-lt"/>
              </a:rPr>
              <a:t> task 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is a </a:t>
            </a:r>
            <a:r>
              <a:rPr lang="en-US" sz="1600" b="0" i="1" u="sng">
                <a:solidFill>
                  <a:schemeClr val="accent1"/>
                </a:solidFill>
                <a:effectLst/>
                <a:latin typeface="+mj-lt"/>
              </a:rPr>
              <a:t>single unit 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of work that needs to be accomplished within a project. </a:t>
            </a:r>
          </a:p>
          <a:p>
            <a:endParaRPr lang="en-US" sz="1600" i="1">
              <a:solidFill>
                <a:schemeClr val="accent1"/>
              </a:solidFill>
              <a:latin typeface="+mj-lt"/>
            </a:endParaRPr>
          </a:p>
          <a:p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A </a:t>
            </a:r>
            <a:r>
              <a:rPr lang="en-US" sz="1600" b="1" i="1">
                <a:solidFill>
                  <a:schemeClr val="accent1"/>
                </a:solidFill>
                <a:effectLst/>
                <a:latin typeface="+mj-lt"/>
              </a:rPr>
              <a:t>project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 is the </a:t>
            </a:r>
            <a:r>
              <a:rPr lang="en-US" sz="1600" b="0" i="1" u="sng">
                <a:solidFill>
                  <a:schemeClr val="accent1"/>
                </a:solidFill>
                <a:effectLst/>
                <a:latin typeface="+mj-lt"/>
              </a:rPr>
              <a:t>entire series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 of tasks that need to be completed together to accomplish a single outcome or goal.</a:t>
            </a:r>
            <a:endParaRPr lang="en-DK" sz="1600" i="1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86949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