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214747193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281BAB2-36C5-94AA-DB9E-1CD6CAA6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18DABD4-B4E8-0833-80E0-E2D93EBB5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Ways </a:t>
            </a:r>
            <a:r>
              <a:rPr lang="es-ES" dirty="0" err="1"/>
              <a:t>of</a:t>
            </a:r>
            <a:r>
              <a:rPr lang="es-ES" dirty="0"/>
              <a:t> Working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E44DE60-BF44-5FF6-7C54-0142AB69796B}"/>
              </a:ext>
            </a:extLst>
          </p:cNvPr>
          <p:cNvSpPr/>
          <p:nvPr/>
        </p:nvSpPr>
        <p:spPr>
          <a:xfrm>
            <a:off x="761999" y="2764329"/>
            <a:ext cx="499571" cy="499571"/>
          </a:xfrm>
          <a:prstGeom prst="roundRect">
            <a:avLst>
              <a:gd name="adj" fmla="val 259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177A4AF-FE98-992F-9BDB-5672BBC4BCE9}"/>
              </a:ext>
            </a:extLst>
          </p:cNvPr>
          <p:cNvSpPr/>
          <p:nvPr/>
        </p:nvSpPr>
        <p:spPr>
          <a:xfrm>
            <a:off x="1418168" y="2920094"/>
            <a:ext cx="765118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sz="1100" b="1" kern="0" spc="198">
                <a:solidFill>
                  <a:schemeClr val="bg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WEEKLY</a:t>
            </a:r>
            <a:endParaRPr 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BF7357C-1822-C2C6-6C27-C90B3028D0D7}"/>
              </a:ext>
            </a:extLst>
          </p:cNvPr>
          <p:cNvSpPr/>
          <p:nvPr/>
        </p:nvSpPr>
        <p:spPr>
          <a:xfrm>
            <a:off x="762001" y="3598332"/>
            <a:ext cx="3174303" cy="2653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Weekly meetings</a:t>
            </a:r>
            <a:endParaRPr lang="en-US" sz="2200">
              <a:latin typeface="+mj-lt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E984D5D-3005-6039-A899-C8E5931A43B1}"/>
              </a:ext>
            </a:extLst>
          </p:cNvPr>
          <p:cNvSpPr/>
          <p:nvPr/>
        </p:nvSpPr>
        <p:spPr>
          <a:xfrm>
            <a:off x="762000" y="4070655"/>
            <a:ext cx="3239328" cy="11454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Ongoing project alignment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Prioritization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Capacity overview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Cross-functional coordination</a:t>
            </a:r>
            <a:endParaRPr lang="en-US" sz="1200">
              <a:latin typeface="+mj-lt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75BE9AFA-1545-06FC-210D-B50285D7401A}"/>
              </a:ext>
            </a:extLst>
          </p:cNvPr>
          <p:cNvSpPr/>
          <p:nvPr/>
        </p:nvSpPr>
        <p:spPr>
          <a:xfrm>
            <a:off x="4555047" y="2764329"/>
            <a:ext cx="499571" cy="499571"/>
          </a:xfrm>
          <a:prstGeom prst="roundRect">
            <a:avLst>
              <a:gd name="adj" fmla="val 259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BCA5CEF-BAA9-8508-AAE4-CC57C035F9B5}"/>
              </a:ext>
            </a:extLst>
          </p:cNvPr>
          <p:cNvSpPr/>
          <p:nvPr/>
        </p:nvSpPr>
        <p:spPr>
          <a:xfrm>
            <a:off x="5211216" y="2920094"/>
            <a:ext cx="572464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sz="1100" b="1" kern="0" spc="198">
                <a:solidFill>
                  <a:schemeClr val="bg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DAILY</a:t>
            </a:r>
            <a:endParaRPr 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400F744-032A-F088-BB35-748F0B0087C2}"/>
              </a:ext>
            </a:extLst>
          </p:cNvPr>
          <p:cNvSpPr/>
          <p:nvPr/>
        </p:nvSpPr>
        <p:spPr>
          <a:xfrm>
            <a:off x="4555049" y="3598332"/>
            <a:ext cx="3174303" cy="2653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Daily collaboration</a:t>
            </a:r>
            <a:endParaRPr lang="en-US" sz="2200">
              <a:latin typeface="+mj-lt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E5000485-C623-9B64-D92C-5E72C4D11C33}"/>
              </a:ext>
            </a:extLst>
          </p:cNvPr>
          <p:cNvSpPr/>
          <p:nvPr/>
        </p:nvSpPr>
        <p:spPr>
          <a:xfrm>
            <a:off x="4555048" y="4107231"/>
            <a:ext cx="3239328" cy="84324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Feedback loops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Stakeholder communication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Iterative review process</a:t>
            </a:r>
            <a:endParaRPr lang="en-US" sz="1200">
              <a:latin typeface="+mj-lt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F8E7DC3-B399-90B6-C55F-FE6393DEF570}"/>
              </a:ext>
            </a:extLst>
          </p:cNvPr>
          <p:cNvSpPr/>
          <p:nvPr/>
        </p:nvSpPr>
        <p:spPr>
          <a:xfrm>
            <a:off x="8348095" y="2764329"/>
            <a:ext cx="499571" cy="499571"/>
          </a:xfrm>
          <a:prstGeom prst="roundRect">
            <a:avLst>
              <a:gd name="adj" fmla="val 25926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F4CC0134-817E-7749-F0D5-2ECC61D03F7F}"/>
              </a:ext>
            </a:extLst>
          </p:cNvPr>
          <p:cNvSpPr/>
          <p:nvPr/>
        </p:nvSpPr>
        <p:spPr>
          <a:xfrm>
            <a:off x="9004264" y="2920094"/>
            <a:ext cx="113392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b="1" kern="0" spc="198">
                <a:solidFill>
                  <a:schemeClr val="bg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ALWAYS-ON</a:t>
            </a:r>
            <a:endParaRPr 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3C6EC60-54AC-35E2-9DEF-88DED413508F}"/>
              </a:ext>
            </a:extLst>
          </p:cNvPr>
          <p:cNvSpPr/>
          <p:nvPr/>
        </p:nvSpPr>
        <p:spPr>
          <a:xfrm>
            <a:off x="8348097" y="3598332"/>
            <a:ext cx="3174303" cy="2653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File &amp; asset management</a:t>
            </a:r>
            <a:endParaRPr lang="en-US" sz="2200">
              <a:latin typeface="+mj-lt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44A995B-417E-23DF-9045-3F8B872CEDC6}"/>
              </a:ext>
            </a:extLst>
          </p:cNvPr>
          <p:cNvSpPr/>
          <p:nvPr/>
        </p:nvSpPr>
        <p:spPr>
          <a:xfrm>
            <a:off x="8348096" y="4436415"/>
            <a:ext cx="3239328" cy="84324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Shared systems &amp; organization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Version control</a:t>
            </a:r>
            <a:endParaRPr lang="en-US" sz="1200">
              <a:latin typeface="+mj-lt"/>
            </a:endParaRPr>
          </a:p>
          <a:p>
            <a:pPr>
              <a:lnSpc>
                <a:spcPct val="140000"/>
              </a:lnSpc>
            </a:pPr>
            <a:r>
              <a:rPr lang="en-US" sz="1200" kern="0" spc="-4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Accessibility across teams</a:t>
            </a:r>
            <a:endParaRPr lang="en-US" sz="1200">
              <a:latin typeface="+mj-lt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25FDF139-CA0E-692E-04AA-07709FA14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054" y="2830483"/>
            <a:ext cx="363556" cy="36232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D08DED4-E26E-AAEB-1BF6-00A50CFCB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074" y="2859018"/>
            <a:ext cx="317885" cy="305254"/>
          </a:xfrm>
          <a:prstGeom prst="rect">
            <a:avLst/>
          </a:prstGeom>
        </p:spPr>
      </p:pic>
      <p:pic>
        <p:nvPicPr>
          <p:cNvPr id="31" name="Graphic 30" descr="Folder with solid fill">
            <a:extLst>
              <a:ext uri="{FF2B5EF4-FFF2-40B4-BE49-F238E27FC236}">
                <a16:creationId xmlns:a16="http://schemas.microsoft.com/office/drawing/2014/main" id="{44FBA302-4A9B-1FE1-58E1-B82A94F9A3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1960" y="2793221"/>
            <a:ext cx="440305" cy="4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171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