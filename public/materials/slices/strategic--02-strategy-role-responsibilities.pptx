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25" r:id="rId8"/>
    <p:sldId id="257" r:id="rId9"/>
    <p:sldId id="2147471942" r:id="rId10"/>
    <p:sldId id="2147471933" r:id="rId11"/>
    <p:sldId id="214747193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A5E8-7A99-A104-14A2-39D1B6A5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72359C8-4FAD-F4BE-ABAF-F4000E1D3F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2359C8-4FAD-F4BE-ABAF-F4000E1D3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0E1F7-E6D3-0B43-52A3-2BCFD6B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4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B7526-A0A0-9A91-389D-3424E11B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 vert="horz" lIns="0" tIns="36000" rIns="36000" bIns="36000" rtlCol="0" anchor="b" anchorCtr="0">
            <a:normAutofit/>
          </a:bodyPr>
          <a:lstStyle/>
          <a:p>
            <a:r>
              <a:rPr lang="en-GB" sz="3200"/>
              <a:t>Marketing 2028 refined strategy house</a:t>
            </a:r>
          </a:p>
        </p:txBody>
      </p:sp>
      <p:sp>
        <p:nvSpPr>
          <p:cNvPr id="9" name="Pladsholder til slidenummer 2">
            <a:extLst>
              <a:ext uri="{FF2B5EF4-FFF2-40B4-BE49-F238E27FC236}">
                <a16:creationId xmlns:a16="http://schemas.microsoft.com/office/drawing/2014/main" id="{B0ABBB3D-A840-C2C6-8840-E845CB637FDF}"/>
              </a:ext>
            </a:extLst>
          </p:cNvPr>
          <p:cNvSpPr txBox="1">
            <a:spLocks/>
          </p:cNvSpPr>
          <p:nvPr/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defPPr>
              <a:defRPr lang="en-US"/>
            </a:defPPr>
            <a:lvl1pPr algn="r">
              <a:defRPr sz="1200" b="1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F6B9C1-1745-48B0-A8CA-B72E4783115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1" name="Isosceles Triangle 3">
            <a:extLst>
              <a:ext uri="{FF2B5EF4-FFF2-40B4-BE49-F238E27FC236}">
                <a16:creationId xmlns:a16="http://schemas.microsoft.com/office/drawing/2014/main" id="{F18ECA2F-1AF9-910D-3BFB-F6A043445DF5}"/>
              </a:ext>
            </a:extLst>
          </p:cNvPr>
          <p:cNvSpPr/>
          <p:nvPr/>
        </p:nvSpPr>
        <p:spPr>
          <a:xfrm>
            <a:off x="452210" y="1351734"/>
            <a:ext cx="11232000" cy="1404000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36000" rtlCol="0" anchor="b"/>
          <a:lstStyle/>
          <a:p>
            <a:pPr algn="ctr"/>
            <a:r>
              <a:rPr lang="en-US" b="1" i="1" spc="5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2028 Refined Above &amp; Beyond</a:t>
            </a:r>
            <a:endParaRPr lang="en-US" sz="1600" b="1" i="1" spc="5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i="1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</a:p>
          <a:p>
            <a:pPr algn="ctr"/>
            <a:r>
              <a:rPr lang="en-US" sz="900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Driving our value propositions, products and services to meet market needs and deliver on the promise of fed aquaculture in the global food system inline with our strategy and purpose.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8D233EE-92E4-DBD6-DF97-0393108B139F}"/>
              </a:ext>
            </a:extLst>
          </p:cNvPr>
          <p:cNvSpPr txBox="1">
            <a:spLocks/>
          </p:cNvSpPr>
          <p:nvPr/>
        </p:nvSpPr>
        <p:spPr>
          <a:xfrm>
            <a:off x="481513" y="6010835"/>
            <a:ext cx="11195973" cy="329554"/>
          </a:xfrm>
          <a:prstGeom prst="roundRect">
            <a:avLst>
              <a:gd name="adj" fmla="val 6083"/>
            </a:avLst>
          </a:prstGeom>
          <a:solidFill>
            <a:schemeClr val="accent3"/>
          </a:solidFill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 b="1" i="1">
                <a:solidFill>
                  <a:schemeClr val="accent1"/>
                </a:solidFill>
                <a:latin typeface="Arial"/>
                <a:ea typeface="DengXian"/>
                <a:cs typeface="Nirmala UI" panose="020B0502040204020203" pitchFamily="34" charset="0"/>
              </a:rPr>
              <a:t>W</a:t>
            </a:r>
            <a:r>
              <a:rPr kumimoji="0" lang="en-GB" sz="1100" b="1" i="1" u="none" strike="noStrike" kern="120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DengXian"/>
                <a:cs typeface="Nirmala UI" panose="020B0502040204020203" pitchFamily="34" charset="0"/>
              </a:rPr>
              <a:t>e are innovators dedicated to an efficient and sustainable aquaculture </a:t>
            </a:r>
            <a:endParaRPr kumimoji="0" lang="en-GB" sz="1100" b="1" i="1" u="none" strike="noStrike" kern="120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DengXian"/>
              <a:cs typeface="+mj-cs"/>
            </a:endParaRPr>
          </a:p>
        </p:txBody>
      </p:sp>
      <p:pic>
        <p:nvPicPr>
          <p:cNvPr id="62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E3F3F225-82AA-1053-DC16-7E8DEF3EB95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5827632" y="1264989"/>
            <a:ext cx="468000" cy="435804"/>
          </a:xfrm>
          <a:prstGeom prst="ellipse">
            <a:avLst/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2BBC5EE-F9A0-AD9F-6665-6CCE432BB912}"/>
              </a:ext>
            </a:extLst>
          </p:cNvPr>
          <p:cNvSpPr txBox="1"/>
          <p:nvPr/>
        </p:nvSpPr>
        <p:spPr>
          <a:xfrm>
            <a:off x="459472" y="2820247"/>
            <a:ext cx="573592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Functional services/Operations</a:t>
            </a:r>
          </a:p>
        </p:txBody>
      </p:sp>
      <p:sp>
        <p:nvSpPr>
          <p:cNvPr id="85" name="TextBox 5">
            <a:extLst>
              <a:ext uri="{FF2B5EF4-FFF2-40B4-BE49-F238E27FC236}">
                <a16:creationId xmlns:a16="http://schemas.microsoft.com/office/drawing/2014/main" id="{583DE651-EBE3-1BF3-CEEA-7C8FE3EEDC68}"/>
              </a:ext>
            </a:extLst>
          </p:cNvPr>
          <p:cNvSpPr txBox="1"/>
          <p:nvPr/>
        </p:nvSpPr>
        <p:spPr>
          <a:xfrm>
            <a:off x="6288150" y="2820247"/>
            <a:ext cx="539606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New initiatives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40D466B1-1F1C-A200-67B2-2AEBD3482E4F}"/>
              </a:ext>
            </a:extLst>
          </p:cNvPr>
          <p:cNvSpPr txBox="1"/>
          <p:nvPr/>
        </p:nvSpPr>
        <p:spPr>
          <a:xfrm>
            <a:off x="461276" y="3308170"/>
            <a:ext cx="1548000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</a:t>
            </a:r>
            <a:r>
              <a:rPr lang="en-US" sz="900" b="0" err="1">
                <a:solidFill>
                  <a:schemeClr val="tx2"/>
                </a:solidFill>
              </a:rPr>
              <a:t>centralised</a:t>
            </a:r>
            <a:r>
              <a:rPr lang="en-US" sz="900" b="0">
                <a:solidFill>
                  <a:schemeClr val="tx2"/>
                </a:solidFill>
              </a:rPr>
              <a:t> design and advertising agency providing shared services across the </a:t>
            </a:r>
            <a:r>
              <a:rPr lang="en-US" sz="900" b="0" err="1">
                <a:solidFill>
                  <a:schemeClr val="tx2"/>
                </a:solidFill>
              </a:rPr>
              <a:t>BioMar</a:t>
            </a:r>
            <a:r>
              <a:rPr lang="en-US" sz="900" b="0">
                <a:solidFill>
                  <a:schemeClr val="tx2"/>
                </a:solidFill>
              </a:rPr>
              <a:t> world. Offering services to our markets, 14 hours every weekday. The Design Hub does more then 1000 tasks annually ranging in complexity from a few hours to several months.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and execution of brand and product guidelines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Visual design creation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310DD56-CDDB-D15F-9DB2-C2BECD0F719D}"/>
              </a:ext>
            </a:extLst>
          </p:cNvPr>
          <p:cNvSpPr txBox="1"/>
          <p:nvPr/>
        </p:nvSpPr>
        <p:spPr>
          <a:xfrm>
            <a:off x="461276" y="3065274"/>
            <a:ext cx="154800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Design Hub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4567FFD9-FA06-F8D3-AD64-06BE6B59B35C}"/>
              </a:ext>
            </a:extLst>
          </p:cNvPr>
          <p:cNvSpPr txBox="1"/>
          <p:nvPr/>
        </p:nvSpPr>
        <p:spPr>
          <a:xfrm>
            <a:off x="2055659" y="3308170"/>
            <a:ext cx="15016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centralised digital marketing agency provides a global platform of digital tools and services for direct interaction with our customers, aligned with commercial and marketing teams across the BioMar world.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of the marketing and commercial digital strategy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Daily management and development of tools including </a:t>
            </a:r>
            <a:r>
              <a:rPr lang="en-US" sz="900" err="1">
                <a:solidFill>
                  <a:schemeClr val="tx2"/>
                </a:solidFill>
              </a:rPr>
              <a:t>brandsite</a:t>
            </a:r>
            <a:r>
              <a:rPr lang="en-US" sz="900">
                <a:solidFill>
                  <a:schemeClr val="tx2"/>
                </a:solidFill>
              </a:rPr>
              <a:t>, customer portal, marketing automation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4F6F51D8-05F1-859B-167B-919EB0CC5619}"/>
              </a:ext>
            </a:extLst>
          </p:cNvPr>
          <p:cNvSpPr txBox="1"/>
          <p:nvPr/>
        </p:nvSpPr>
        <p:spPr>
          <a:xfrm>
            <a:off x="2055659" y="3065274"/>
            <a:ext cx="1501622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Digital Hub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AB0678FF-86C7-48DA-88C7-B6D72E556F37}"/>
              </a:ext>
            </a:extLst>
          </p:cNvPr>
          <p:cNvSpPr txBox="1"/>
          <p:nvPr/>
        </p:nvSpPr>
        <p:spPr>
          <a:xfrm>
            <a:off x="3610339" y="3303306"/>
            <a:ext cx="129301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>
                <a:solidFill>
                  <a:schemeClr val="accent1"/>
                </a:solidFill>
                <a:cs typeface="Arial"/>
              </a:rPr>
              <a:t>Umbrella product and services strategy to ensure a One BioMar approach with species segment alignment and while addressing local adaptation needs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One product segment approach to product marketing management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Creation of all product and service concepts, value propositions and campaigns </a:t>
            </a:r>
            <a:endParaRPr lang="en-GB" sz="900" b="0">
              <a:solidFill>
                <a:schemeClr val="accent1"/>
              </a:solidFill>
              <a:cs typeface="Arial"/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2BD6EABE-9388-CE15-DF18-7D28610F2B8D}"/>
              </a:ext>
            </a:extLst>
          </p:cNvPr>
          <p:cNvSpPr txBox="1"/>
          <p:nvPr/>
        </p:nvSpPr>
        <p:spPr>
          <a:xfrm>
            <a:off x="3610339" y="3060410"/>
            <a:ext cx="1293019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Products</a:t>
            </a:r>
          </a:p>
        </p:txBody>
      </p:sp>
      <p:sp>
        <p:nvSpPr>
          <p:cNvPr id="83" name="TextBox 5">
            <a:extLst>
              <a:ext uri="{FF2B5EF4-FFF2-40B4-BE49-F238E27FC236}">
                <a16:creationId xmlns:a16="http://schemas.microsoft.com/office/drawing/2014/main" id="{5C102279-9850-D573-5DD8-A35305F02931}"/>
              </a:ext>
            </a:extLst>
          </p:cNvPr>
          <p:cNvSpPr txBox="1"/>
          <p:nvPr/>
        </p:nvSpPr>
        <p:spPr>
          <a:xfrm>
            <a:off x="9191361" y="3303306"/>
            <a:ext cx="1176238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Identify strategic opportunities in the digital realm to enhance the customer journey and experience with BioMar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digital situation analysis and key opportunities   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4" name="TextBox 5">
            <a:extLst>
              <a:ext uri="{FF2B5EF4-FFF2-40B4-BE49-F238E27FC236}">
                <a16:creationId xmlns:a16="http://schemas.microsoft.com/office/drawing/2014/main" id="{E7881986-5EEF-2A6F-4ABE-8DA6B17350EC}"/>
              </a:ext>
            </a:extLst>
          </p:cNvPr>
          <p:cNvSpPr txBox="1"/>
          <p:nvPr/>
        </p:nvSpPr>
        <p:spPr>
          <a:xfrm>
            <a:off x="9191359" y="3060410"/>
            <a:ext cx="1176239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Customer Journey</a:t>
            </a:r>
          </a:p>
        </p:txBody>
      </p:sp>
      <p:sp>
        <p:nvSpPr>
          <p:cNvPr id="87" name="TextBox 5">
            <a:extLst>
              <a:ext uri="{FF2B5EF4-FFF2-40B4-BE49-F238E27FC236}">
                <a16:creationId xmlns:a16="http://schemas.microsoft.com/office/drawing/2014/main" id="{EA3EB157-D140-B921-5C27-B138595B7213}"/>
              </a:ext>
            </a:extLst>
          </p:cNvPr>
          <p:cNvSpPr txBox="1"/>
          <p:nvPr/>
        </p:nvSpPr>
        <p:spPr>
          <a:xfrm>
            <a:off x="7775867" y="3303306"/>
            <a:ext cx="136527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Use One BioMar marketing theory and tools to meet business and commercial needs.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Budget &amp; Reporting process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Marketing &amp; Product process and structure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Key strategic partnerships to leverage our position and enable a market pull.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Chefs Initiative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commercial partnerships      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9AE4332C-5A30-4A33-99B2-D243BE963E8B}"/>
              </a:ext>
            </a:extLst>
          </p:cNvPr>
          <p:cNvSpPr txBox="1"/>
          <p:nvPr/>
        </p:nvSpPr>
        <p:spPr>
          <a:xfrm>
            <a:off x="7775867" y="3060410"/>
            <a:ext cx="136528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Strategic Marketing</a:t>
            </a:r>
          </a:p>
        </p:txBody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9F249329-046A-B021-4F1B-19A028419B29}"/>
              </a:ext>
            </a:extLst>
          </p:cNvPr>
          <p:cNvSpPr txBox="1"/>
          <p:nvPr/>
        </p:nvSpPr>
        <p:spPr>
          <a:xfrm>
            <a:off x="10417810" y="3308170"/>
            <a:ext cx="1259676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Marketing strategy for our new target segment of investors: Creating the value position for BioMar in the Feed Category setting our pathway towards IPO.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Investor Category Creation marketing strategy (2026+)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ACC7DA7E-71D0-8ABB-83EB-FF6C92E93643}"/>
              </a:ext>
            </a:extLst>
          </p:cNvPr>
          <p:cNvSpPr txBox="1"/>
          <p:nvPr/>
        </p:nvSpPr>
        <p:spPr>
          <a:xfrm>
            <a:off x="10417810" y="3065274"/>
            <a:ext cx="126640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Investor Category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0317F93-F148-8035-861F-F2C5160D1EB8}"/>
              </a:ext>
            </a:extLst>
          </p:cNvPr>
          <p:cNvSpPr txBox="1"/>
          <p:nvPr/>
        </p:nvSpPr>
        <p:spPr>
          <a:xfrm>
            <a:off x="4953570" y="3308170"/>
            <a:ext cx="12418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brand positioning´, management and execution across the </a:t>
            </a: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world aligned to our strategy and purpose.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Marketing strategy, value propositions and campaigns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Stakeholder relations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Risk management communications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Content creation and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F630167-506D-9776-B023-F386408751FB}"/>
              </a:ext>
            </a:extLst>
          </p:cNvPr>
          <p:cNvSpPr txBox="1"/>
          <p:nvPr/>
        </p:nvSpPr>
        <p:spPr>
          <a:xfrm>
            <a:off x="4953570" y="3065274"/>
            <a:ext cx="1241821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BioMar Brand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72347EE-8FF9-D493-940D-9E7C2A9C61E9}"/>
              </a:ext>
            </a:extLst>
          </p:cNvPr>
          <p:cNvSpPr txBox="1"/>
          <p:nvPr/>
        </p:nvSpPr>
        <p:spPr>
          <a:xfrm>
            <a:off x="6288152" y="3308170"/>
            <a:ext cx="143750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Data-driven decision making: to deliver the right information/solution at the right time to address our customers.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err="1">
                <a:solidFill>
                  <a:schemeClr val="tx2"/>
                </a:solidFill>
              </a:rPr>
              <a:t>Needbased</a:t>
            </a:r>
            <a:r>
              <a:rPr lang="en-US" sz="900">
                <a:solidFill>
                  <a:schemeClr val="tx2"/>
                </a:solidFill>
              </a:rPr>
              <a:t> Customer Segmentation</a:t>
            </a:r>
            <a:r>
              <a:rPr lang="en-US" sz="900" b="0">
                <a:solidFill>
                  <a:schemeClr val="tx2"/>
                </a:solidFill>
              </a:rPr>
              <a:t>: a </a:t>
            </a:r>
            <a:r>
              <a:rPr lang="en-US" sz="900" b="0" err="1">
                <a:solidFill>
                  <a:schemeClr val="tx2"/>
                </a:solidFill>
              </a:rPr>
              <a:t>ComEx</a:t>
            </a:r>
            <a:r>
              <a:rPr lang="en-US" sz="900" b="0">
                <a:solidFill>
                  <a:schemeClr val="tx2"/>
                </a:solidFill>
              </a:rPr>
              <a:t> project follow-up in which we identify customer drives that align with our strategy.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Product Segmentation:</a:t>
            </a:r>
            <a:r>
              <a:rPr lang="en-US" sz="900" b="0">
                <a:solidFill>
                  <a:schemeClr val="tx2"/>
                </a:solidFill>
              </a:rPr>
              <a:t> segmenting our sales data to enable product lifecycle management and product sales </a:t>
            </a:r>
            <a:r>
              <a:rPr lang="en-US" sz="900" b="0" err="1">
                <a:solidFill>
                  <a:schemeClr val="tx2"/>
                </a:solidFill>
              </a:rPr>
              <a:t>behaviour</a:t>
            </a:r>
            <a:r>
              <a:rPr lang="en-US" sz="900" b="0">
                <a:solidFill>
                  <a:schemeClr val="tx2"/>
                </a:solidFill>
              </a:rPr>
              <a:t>.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3DCBEDB9-BA83-5DFA-6347-9BF6B9B879CD}"/>
              </a:ext>
            </a:extLst>
          </p:cNvPr>
          <p:cNvSpPr txBox="1"/>
          <p:nvPr/>
        </p:nvSpPr>
        <p:spPr>
          <a:xfrm>
            <a:off x="6288150" y="3065274"/>
            <a:ext cx="1437503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Market Intelligence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00AC93-6471-EF71-937E-423B15FE9BAA}"/>
              </a:ext>
            </a:extLst>
          </p:cNvPr>
          <p:cNvSpPr/>
          <p:nvPr/>
        </p:nvSpPr>
        <p:spPr>
          <a:xfrm>
            <a:off x="368108" y="2990088"/>
            <a:ext cx="1744519" cy="3052751"/>
          </a:xfrm>
          <a:prstGeom prst="round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6781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2896C9-717D-541F-D096-F1534B4C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92A734B-FA63-AA24-1F28-2D6D0F93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Strategic</a:t>
            </a:r>
            <a:r>
              <a:rPr lang="es-ES" dirty="0"/>
              <a:t> role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Design</a:t>
            </a:r>
            <a:r>
              <a:rPr lang="es-ES" dirty="0"/>
              <a:t> Hub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90FAB50D-10F5-C2C3-2E3D-4490114FBB42}"/>
              </a:ext>
            </a:extLst>
          </p:cNvPr>
          <p:cNvSpPr/>
          <p:nvPr/>
        </p:nvSpPr>
        <p:spPr>
          <a:xfrm>
            <a:off x="508000" y="3142344"/>
            <a:ext cx="2113246" cy="2826657"/>
          </a:xfrm>
          <a:prstGeom prst="roundRect">
            <a:avLst>
              <a:gd name="adj" fmla="val 11370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D5F3C872-033F-401E-E34B-A28427414D15}"/>
              </a:ext>
            </a:extLst>
          </p:cNvPr>
          <p:cNvSpPr/>
          <p:nvPr/>
        </p:nvSpPr>
        <p:spPr>
          <a:xfrm>
            <a:off x="714829" y="4428737"/>
            <a:ext cx="1750577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01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052811FE-C81E-5719-13F8-DD8CA6AD2939}"/>
              </a:ext>
            </a:extLst>
          </p:cNvPr>
          <p:cNvSpPr/>
          <p:nvPr/>
        </p:nvSpPr>
        <p:spPr>
          <a:xfrm>
            <a:off x="714829" y="4722043"/>
            <a:ext cx="1750577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Consistency</a:t>
            </a:r>
            <a:endParaRPr lang="en-US" sz="1700">
              <a:latin typeface="+mj-lt"/>
            </a:endParaRPr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A86A3767-4AF6-9E3B-95EF-9FAC8C134EA3}"/>
              </a:ext>
            </a:extLst>
          </p:cNvPr>
          <p:cNvSpPr/>
          <p:nvPr/>
        </p:nvSpPr>
        <p:spPr>
          <a:xfrm>
            <a:off x="714829" y="5104856"/>
            <a:ext cx="1750577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A unified visual identity globally. Aligned with brand standards, adapted to local needs</a:t>
            </a:r>
            <a:endParaRPr lang="en-US" sz="100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4D44462A-D0AB-198F-D46B-1B914EE7F926}"/>
              </a:ext>
            </a:extLst>
          </p:cNvPr>
          <p:cNvSpPr/>
          <p:nvPr/>
        </p:nvSpPr>
        <p:spPr>
          <a:xfrm>
            <a:off x="2773646" y="3142344"/>
            <a:ext cx="2113303" cy="2826657"/>
          </a:xfrm>
          <a:prstGeom prst="roundRect">
            <a:avLst>
              <a:gd name="adj" fmla="val 10288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E8ABC6D-64A5-B5C9-1B7C-09848C03C985}"/>
              </a:ext>
            </a:extLst>
          </p:cNvPr>
          <p:cNvSpPr/>
          <p:nvPr/>
        </p:nvSpPr>
        <p:spPr>
          <a:xfrm>
            <a:off x="2980475" y="4428737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02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21AC34D6-609D-7FCA-45B6-0F27DA17A9F4}"/>
              </a:ext>
            </a:extLst>
          </p:cNvPr>
          <p:cNvSpPr/>
          <p:nvPr/>
        </p:nvSpPr>
        <p:spPr>
          <a:xfrm>
            <a:off x="2980475" y="4722043"/>
            <a:ext cx="1750635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Efficiency</a:t>
            </a:r>
            <a:endParaRPr lang="en-US" sz="1700">
              <a:latin typeface="+mj-lt"/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F3642AA7-BDFB-7450-905D-E15D920CD86B}"/>
              </a:ext>
            </a:extLst>
          </p:cNvPr>
          <p:cNvSpPr/>
          <p:nvPr/>
        </p:nvSpPr>
        <p:spPr>
          <a:xfrm>
            <a:off x="2980475" y="5104856"/>
            <a:ext cx="1750635" cy="7012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Centralized expertise, less duplicated work, better workflows, smart prioritization based on business knowledge</a:t>
            </a:r>
            <a:endParaRPr lang="en-US" sz="1000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6C4A1265-C897-8179-3C63-38FB96DBF533}"/>
              </a:ext>
            </a:extLst>
          </p:cNvPr>
          <p:cNvSpPr/>
          <p:nvPr/>
        </p:nvSpPr>
        <p:spPr>
          <a:xfrm>
            <a:off x="5039349" y="3142344"/>
            <a:ext cx="2113246" cy="2826657"/>
          </a:xfrm>
          <a:prstGeom prst="roundRect">
            <a:avLst>
              <a:gd name="adj" fmla="val 8342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CA27BE79-7697-FFE1-6800-6E120303AD23}"/>
              </a:ext>
            </a:extLst>
          </p:cNvPr>
          <p:cNvSpPr/>
          <p:nvPr/>
        </p:nvSpPr>
        <p:spPr>
          <a:xfrm>
            <a:off x="5246178" y="4428737"/>
            <a:ext cx="1750577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03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81A4D463-3408-5C47-0FCE-C734E882F0EB}"/>
              </a:ext>
            </a:extLst>
          </p:cNvPr>
          <p:cNvSpPr/>
          <p:nvPr/>
        </p:nvSpPr>
        <p:spPr>
          <a:xfrm>
            <a:off x="5246178" y="4722043"/>
            <a:ext cx="1750577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Quality</a:t>
            </a:r>
            <a:endParaRPr lang="en-US" sz="1700">
              <a:latin typeface="+mj-lt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6610583F-94B3-E75B-81CD-AECAB3F94465}"/>
              </a:ext>
            </a:extLst>
          </p:cNvPr>
          <p:cNvSpPr/>
          <p:nvPr/>
        </p:nvSpPr>
        <p:spPr>
          <a:xfrm>
            <a:off x="5246178" y="5104856"/>
            <a:ext cx="1750577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Professional, strategic and creative. Every output earns its place.</a:t>
            </a:r>
            <a:endParaRPr lang="en-US" sz="1000" dirty="0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D39BE5C1-C6A9-BBB0-2518-858F8DFBB6EA}"/>
              </a:ext>
            </a:extLst>
          </p:cNvPr>
          <p:cNvSpPr/>
          <p:nvPr/>
        </p:nvSpPr>
        <p:spPr>
          <a:xfrm>
            <a:off x="7304995" y="3142344"/>
            <a:ext cx="2113303" cy="2826657"/>
          </a:xfrm>
          <a:prstGeom prst="roundRect">
            <a:avLst>
              <a:gd name="adj" fmla="val 8558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E8B1C071-5FAB-8F62-A74E-73883675DACD}"/>
              </a:ext>
            </a:extLst>
          </p:cNvPr>
          <p:cNvSpPr/>
          <p:nvPr/>
        </p:nvSpPr>
        <p:spPr>
          <a:xfrm>
            <a:off x="7511824" y="4428737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04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A4129DE-F56C-2AB9-C0E1-47D4575BBFB7}"/>
              </a:ext>
            </a:extLst>
          </p:cNvPr>
          <p:cNvSpPr/>
          <p:nvPr/>
        </p:nvSpPr>
        <p:spPr>
          <a:xfrm>
            <a:off x="7511824" y="4722043"/>
            <a:ext cx="1750635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Scalability</a:t>
            </a:r>
            <a:endParaRPr lang="en-US" sz="1700">
              <a:latin typeface="+mj-lt"/>
            </a:endParaRPr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D34A1679-C2C4-9901-026D-B7C8EA3340BA}"/>
              </a:ext>
            </a:extLst>
          </p:cNvPr>
          <p:cNvSpPr/>
          <p:nvPr/>
        </p:nvSpPr>
        <p:spPr>
          <a:xfrm>
            <a:off x="7511824" y="5104856"/>
            <a:ext cx="1750635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Many markets, formats and campaigns: adaptations to specific needs</a:t>
            </a:r>
            <a:endParaRPr lang="en-US" sz="1000" dirty="0"/>
          </a:p>
        </p:txBody>
      </p:sp>
      <p:sp>
        <p:nvSpPr>
          <p:cNvPr id="78" name="Shape 21">
            <a:extLst>
              <a:ext uri="{FF2B5EF4-FFF2-40B4-BE49-F238E27FC236}">
                <a16:creationId xmlns:a16="http://schemas.microsoft.com/office/drawing/2014/main" id="{E9C22671-CE1F-F738-5F50-192E44E67E04}"/>
              </a:ext>
            </a:extLst>
          </p:cNvPr>
          <p:cNvSpPr/>
          <p:nvPr/>
        </p:nvSpPr>
        <p:spPr>
          <a:xfrm>
            <a:off x="9570698" y="3142344"/>
            <a:ext cx="2113303" cy="2826657"/>
          </a:xfrm>
          <a:prstGeom prst="roundRect">
            <a:avLst>
              <a:gd name="adj" fmla="val 7909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937A59B2-0725-6971-F2EE-15D6F90E92AE}"/>
              </a:ext>
            </a:extLst>
          </p:cNvPr>
          <p:cNvSpPr/>
          <p:nvPr/>
        </p:nvSpPr>
        <p:spPr>
          <a:xfrm>
            <a:off x="9777527" y="3946261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05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952AA628-B5CB-E37C-8A9A-29B3B391A754}"/>
              </a:ext>
            </a:extLst>
          </p:cNvPr>
          <p:cNvSpPr/>
          <p:nvPr/>
        </p:nvSpPr>
        <p:spPr>
          <a:xfrm>
            <a:off x="9777527" y="4239566"/>
            <a:ext cx="1750635" cy="8660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and Product Protection</a:t>
            </a:r>
            <a:endParaRPr lang="en-US" sz="1700">
              <a:latin typeface="+mj-lt"/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70F7D696-E895-0844-AD86-23FC241E1C5C}"/>
              </a:ext>
            </a:extLst>
          </p:cNvPr>
          <p:cNvSpPr/>
          <p:nvPr/>
        </p:nvSpPr>
        <p:spPr>
          <a:xfrm>
            <a:off x="9777527" y="5104856"/>
            <a:ext cx="1750635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Correct logo, typography, imagery; applied consistently everywhere.</a:t>
            </a:r>
            <a:endParaRPr lang="en-US" sz="10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8D21-3E31-8597-3BCC-935D78D5534F}"/>
              </a:ext>
            </a:extLst>
          </p:cNvPr>
          <p:cNvSpPr txBox="1"/>
          <p:nvPr/>
        </p:nvSpPr>
        <p:spPr>
          <a:xfrm>
            <a:off x="1698742" y="1943398"/>
            <a:ext cx="8794459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200" b="1" kern="0" spc="-15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Five pillars hold the </a:t>
            </a:r>
            <a:r>
              <a:rPr lang="en-US" sz="3200" b="1" kern="0" spc="-158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</a:t>
            </a:r>
            <a:r>
              <a:rPr lang="en-US" sz="3200" b="1" kern="0" spc="-15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together.</a:t>
            </a:r>
            <a:endParaRPr lang="en-US" sz="3200">
              <a:latin typeface="+mj-lt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8CE0C29-E4CA-3B4E-1593-F6DED5DE5C25}"/>
              </a:ext>
            </a:extLst>
          </p:cNvPr>
          <p:cNvSpPr/>
          <p:nvPr/>
        </p:nvSpPr>
        <p:spPr>
          <a:xfrm>
            <a:off x="673947" y="3283372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0BB87B1-E0B2-4BA9-392D-0599F36BE4CF}"/>
              </a:ext>
            </a:extLst>
          </p:cNvPr>
          <p:cNvSpPr/>
          <p:nvPr/>
        </p:nvSpPr>
        <p:spPr>
          <a:xfrm>
            <a:off x="759460" y="3390900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136FA76-3C7A-8F34-0080-1B799E515823}"/>
              </a:ext>
            </a:extLst>
          </p:cNvPr>
          <p:cNvSpPr/>
          <p:nvPr/>
        </p:nvSpPr>
        <p:spPr>
          <a:xfrm>
            <a:off x="835660" y="3487721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0CF70B93-537D-9C40-1EFD-9E8405F6D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1207" y="3306232"/>
            <a:ext cx="364702" cy="36653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3E9BE7E3-EF94-09BD-0759-06B17FAF3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6693" y="3265087"/>
            <a:ext cx="357120" cy="339459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D7DBA471-3159-5EAC-F6C4-02851B72B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0426" y="3317409"/>
            <a:ext cx="319314" cy="319314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4CBA0EE1-D02D-1513-233F-28E633FA9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3207" y="3251900"/>
            <a:ext cx="339426" cy="4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9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BA92-BF08-5741-D8A0-3937C04A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FE74E0-00A5-98F2-98B6-82509433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36BF7E-98BE-1EA6-F7FC-A1E4CE15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Our</a:t>
            </a:r>
            <a:r>
              <a:rPr lang="es-ES" dirty="0"/>
              <a:t> Areas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Responsibility</a:t>
            </a:r>
            <a:r>
              <a:rPr lang="es-ES" dirty="0"/>
              <a:t> and </a:t>
            </a:r>
            <a:r>
              <a:rPr lang="es-ES" dirty="0" err="1"/>
              <a:t>functions</a:t>
            </a:r>
            <a:endParaRPr lang="es-E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EBC1EBF-7E80-66E9-B8B2-1C004BEE2547}"/>
              </a:ext>
            </a:extLst>
          </p:cNvPr>
          <p:cNvSpPr/>
          <p:nvPr/>
        </p:nvSpPr>
        <p:spPr>
          <a:xfrm>
            <a:off x="3100527" y="1546791"/>
            <a:ext cx="5705419" cy="4764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800" b="1" kern="0" spc="-93" dirty="0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One hub, </a:t>
            </a:r>
            <a:r>
              <a:rPr lang="en-US" sz="2800" b="1" kern="0" spc="-93" dirty="0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Several functions</a:t>
            </a:r>
            <a:endParaRPr lang="en-US" sz="2800" dirty="0">
              <a:latin typeface="+mj-lt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107406A-EE18-19B3-D23B-B139143EA343}"/>
              </a:ext>
            </a:extLst>
          </p:cNvPr>
          <p:cNvSpPr/>
          <p:nvPr/>
        </p:nvSpPr>
        <p:spPr>
          <a:xfrm>
            <a:off x="958143" y="2121130"/>
            <a:ext cx="2534502" cy="3374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External communication</a:t>
            </a:r>
            <a:endParaRPr lang="en-US">
              <a:latin typeface="+mj-lt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31245CC-23AE-3535-D495-8B2636D0DA71}"/>
              </a:ext>
            </a:extLst>
          </p:cNvPr>
          <p:cNvSpPr/>
          <p:nvPr/>
        </p:nvSpPr>
        <p:spPr>
          <a:xfrm>
            <a:off x="508000" y="2585587"/>
            <a:ext cx="105948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C537F1E-836D-B8F7-ACA0-B5BC6FC23E6B}"/>
              </a:ext>
            </a:extLst>
          </p:cNvPr>
          <p:cNvSpPr/>
          <p:nvPr/>
        </p:nvSpPr>
        <p:spPr>
          <a:xfrm>
            <a:off x="654957" y="2656345"/>
            <a:ext cx="81637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Campaigns</a:t>
            </a:r>
            <a:endParaRPr lang="en-US" sz="120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C9A228A-7C59-1BA4-7BA2-75FBDED1D30C}"/>
              </a:ext>
            </a:extLst>
          </p:cNvPr>
          <p:cNvSpPr/>
          <p:nvPr/>
        </p:nvSpPr>
        <p:spPr>
          <a:xfrm>
            <a:off x="1630986" y="2585587"/>
            <a:ext cx="1379651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2299369-DD5C-5E39-16C6-9E978E6EC8A4}"/>
              </a:ext>
            </a:extLst>
          </p:cNvPr>
          <p:cNvSpPr/>
          <p:nvPr/>
        </p:nvSpPr>
        <p:spPr>
          <a:xfrm>
            <a:off x="1777944" y="2656345"/>
            <a:ext cx="1136537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Advertisements</a:t>
            </a:r>
            <a:endParaRPr lang="en-US" sz="120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C820C83-21DC-67E8-FC9F-2125BD938694}"/>
              </a:ext>
            </a:extLst>
          </p:cNvPr>
          <p:cNvSpPr/>
          <p:nvPr/>
        </p:nvSpPr>
        <p:spPr>
          <a:xfrm>
            <a:off x="3074138" y="2585587"/>
            <a:ext cx="1634445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0D34169-0851-1BC8-F79B-3C540786F54F}"/>
              </a:ext>
            </a:extLst>
          </p:cNvPr>
          <p:cNvSpPr/>
          <p:nvPr/>
        </p:nvSpPr>
        <p:spPr>
          <a:xfrm>
            <a:off x="3221094" y="2656345"/>
            <a:ext cx="1391331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Social media assets</a:t>
            </a:r>
            <a:endParaRPr lang="en-US" sz="12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37753EEA-BAA7-CF41-0CE3-E6C3F8DDE520}"/>
              </a:ext>
            </a:extLst>
          </p:cNvPr>
          <p:cNvSpPr/>
          <p:nvPr/>
        </p:nvSpPr>
        <p:spPr>
          <a:xfrm>
            <a:off x="508001" y="2997430"/>
            <a:ext cx="2041355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1B5DDD9-2B12-59AB-A9A7-D0D8D1B11813}"/>
              </a:ext>
            </a:extLst>
          </p:cNvPr>
          <p:cNvSpPr/>
          <p:nvPr/>
        </p:nvSpPr>
        <p:spPr>
          <a:xfrm>
            <a:off x="654958" y="3068188"/>
            <a:ext cx="1808681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Videos &amp; motion graphics</a:t>
            </a:r>
            <a:endParaRPr lang="en-US" sz="12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ACB9BCE-3F3A-2247-23B3-24C7375A2083}"/>
              </a:ext>
            </a:extLst>
          </p:cNvPr>
          <p:cNvSpPr/>
          <p:nvPr/>
        </p:nvSpPr>
        <p:spPr>
          <a:xfrm>
            <a:off x="2612855" y="2997430"/>
            <a:ext cx="1551328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74EDC09-EFE8-8AB4-0DBB-69F3ABAA5A17}"/>
              </a:ext>
            </a:extLst>
          </p:cNvPr>
          <p:cNvSpPr/>
          <p:nvPr/>
        </p:nvSpPr>
        <p:spPr>
          <a:xfrm>
            <a:off x="2759812" y="3068188"/>
            <a:ext cx="130821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Brochures &amp; flyers</a:t>
            </a:r>
            <a:endParaRPr lang="en-US" sz="120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0383B82-7242-58E0-4C43-8BBB82B75F62}"/>
              </a:ext>
            </a:extLst>
          </p:cNvPr>
          <p:cNvSpPr/>
          <p:nvPr/>
        </p:nvSpPr>
        <p:spPr>
          <a:xfrm>
            <a:off x="4227683" y="2997430"/>
            <a:ext cx="128173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5688F2B3-3091-CA7C-7B2E-8301FC8E81C9}"/>
              </a:ext>
            </a:extLst>
          </p:cNvPr>
          <p:cNvSpPr/>
          <p:nvPr/>
        </p:nvSpPr>
        <p:spPr>
          <a:xfrm>
            <a:off x="4374640" y="3068188"/>
            <a:ext cx="103862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Event material</a:t>
            </a:r>
            <a:endParaRPr lang="en-US" sz="120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60E60FD-7F43-4EDD-5FA4-CCDE15C93D02}"/>
              </a:ext>
            </a:extLst>
          </p:cNvPr>
          <p:cNvSpPr/>
          <p:nvPr/>
        </p:nvSpPr>
        <p:spPr>
          <a:xfrm>
            <a:off x="508001" y="3409273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5E1F51A7-62D5-7142-8D2D-225C75B09C38}"/>
              </a:ext>
            </a:extLst>
          </p:cNvPr>
          <p:cNvSpPr/>
          <p:nvPr/>
        </p:nvSpPr>
        <p:spPr>
          <a:xfrm>
            <a:off x="654958" y="3480030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Trade show assets</a:t>
            </a:r>
            <a:endParaRPr lang="en-US" sz="120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AE2E422-64B0-9C4D-0039-8D680BDA0DB1}"/>
              </a:ext>
            </a:extLst>
          </p:cNvPr>
          <p:cNvSpPr/>
          <p:nvPr/>
        </p:nvSpPr>
        <p:spPr>
          <a:xfrm>
            <a:off x="2135187" y="3409273"/>
            <a:ext cx="1900748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0A552633-6E71-0DD8-BD54-40815002EB60}"/>
              </a:ext>
            </a:extLst>
          </p:cNvPr>
          <p:cNvSpPr/>
          <p:nvPr/>
        </p:nvSpPr>
        <p:spPr>
          <a:xfrm>
            <a:off x="2282145" y="3480030"/>
            <a:ext cx="166385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Product communication</a:t>
            </a:r>
            <a:endParaRPr lang="en-US" sz="12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C85DA1C1-F9E9-A5B4-81FA-5CD335B89B03}"/>
              </a:ext>
            </a:extLst>
          </p:cNvPr>
          <p:cNvSpPr/>
          <p:nvPr/>
        </p:nvSpPr>
        <p:spPr>
          <a:xfrm>
            <a:off x="4099436" y="3409273"/>
            <a:ext cx="1233601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454627B-BA6B-0A32-F56F-512C46FB20A6}"/>
              </a:ext>
            </a:extLst>
          </p:cNvPr>
          <p:cNvSpPr/>
          <p:nvPr/>
        </p:nvSpPr>
        <p:spPr>
          <a:xfrm>
            <a:off x="4246393" y="3480030"/>
            <a:ext cx="990487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Presentations</a:t>
            </a:r>
            <a:endParaRPr lang="en-US" sz="12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72625058-777B-4BA4-58FB-C79C8CAA65CA}"/>
              </a:ext>
            </a:extLst>
          </p:cNvPr>
          <p:cNvSpPr/>
          <p:nvPr/>
        </p:nvSpPr>
        <p:spPr>
          <a:xfrm>
            <a:off x="508000" y="3821116"/>
            <a:ext cx="133922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B4F24AE-4099-437A-86EE-2CC4AAC652B3}"/>
              </a:ext>
            </a:extLst>
          </p:cNvPr>
          <p:cNvSpPr/>
          <p:nvPr/>
        </p:nvSpPr>
        <p:spPr>
          <a:xfrm>
            <a:off x="654957" y="3891873"/>
            <a:ext cx="109611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Website assets</a:t>
            </a:r>
            <a:endParaRPr lang="en-US" sz="120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38D7475A-8682-1B06-B207-0BBF364302EF}"/>
              </a:ext>
            </a:extLst>
          </p:cNvPr>
          <p:cNvSpPr/>
          <p:nvPr/>
        </p:nvSpPr>
        <p:spPr>
          <a:xfrm>
            <a:off x="1910727" y="3821116"/>
            <a:ext cx="1809410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C63F8EA5-4D91-97D7-0E49-D5194EA86B26}"/>
              </a:ext>
            </a:extLst>
          </p:cNvPr>
          <p:cNvSpPr/>
          <p:nvPr/>
        </p:nvSpPr>
        <p:spPr>
          <a:xfrm>
            <a:off x="2057684" y="3891873"/>
            <a:ext cx="1569778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Publications &amp; reports</a:t>
            </a:r>
            <a:endParaRPr lang="en-US" sz="12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3103614C-0A89-B580-04AF-7267A5000E43}"/>
              </a:ext>
            </a:extLst>
          </p:cNvPr>
          <p:cNvSpPr/>
          <p:nvPr/>
        </p:nvSpPr>
        <p:spPr>
          <a:xfrm>
            <a:off x="6642100" y="2137346"/>
            <a:ext cx="2469273" cy="3374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Internal communication</a:t>
            </a:r>
            <a:endParaRPr lang="en-US">
              <a:latin typeface="+mj-lt"/>
            </a:endParaRP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CB02E9D2-2628-E367-DAC3-60ED3FC637A7}"/>
              </a:ext>
            </a:extLst>
          </p:cNvPr>
          <p:cNvSpPr/>
          <p:nvPr/>
        </p:nvSpPr>
        <p:spPr>
          <a:xfrm>
            <a:off x="6248401" y="2579254"/>
            <a:ext cx="1596855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6627C3C-A42B-E722-6829-474C7254743C}"/>
              </a:ext>
            </a:extLst>
          </p:cNvPr>
          <p:cNvSpPr/>
          <p:nvPr/>
        </p:nvSpPr>
        <p:spPr>
          <a:xfrm>
            <a:off x="6395358" y="2650012"/>
            <a:ext cx="1353741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Internal campaigns</a:t>
            </a:r>
            <a:endParaRPr lang="en-US" sz="120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C9727392-A3AA-B676-345C-34DA6E892F05}"/>
              </a:ext>
            </a:extLst>
          </p:cNvPr>
          <p:cNvSpPr/>
          <p:nvPr/>
        </p:nvSpPr>
        <p:spPr>
          <a:xfrm>
            <a:off x="7908756" y="2579254"/>
            <a:ext cx="134659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15D5938F-7C2E-548B-E115-82AC26A97448}"/>
              </a:ext>
            </a:extLst>
          </p:cNvPr>
          <p:cNvSpPr/>
          <p:nvPr/>
        </p:nvSpPr>
        <p:spPr>
          <a:xfrm>
            <a:off x="8055713" y="2650012"/>
            <a:ext cx="110348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Office branding</a:t>
            </a:r>
            <a:endParaRPr lang="en-US" sz="120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B7C04F34-C82E-FD9D-D20D-33A1C527B553}"/>
              </a:ext>
            </a:extLst>
          </p:cNvPr>
          <p:cNvSpPr/>
          <p:nvPr/>
        </p:nvSpPr>
        <p:spPr>
          <a:xfrm>
            <a:off x="9318852" y="2579254"/>
            <a:ext cx="1001996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6EF5F5B4-0B93-1F9F-D3DA-C75E9599F120}"/>
              </a:ext>
            </a:extLst>
          </p:cNvPr>
          <p:cNvSpPr/>
          <p:nvPr/>
        </p:nvSpPr>
        <p:spPr>
          <a:xfrm>
            <a:off x="9465810" y="2650012"/>
            <a:ext cx="75888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Stationery</a:t>
            </a:r>
            <a:endParaRPr lang="en-US" sz="120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B18EF3B9-C716-DA50-5EE2-3477B8537EB0}"/>
              </a:ext>
            </a:extLst>
          </p:cNvPr>
          <p:cNvSpPr/>
          <p:nvPr/>
        </p:nvSpPr>
        <p:spPr>
          <a:xfrm>
            <a:off x="6248401" y="2991097"/>
            <a:ext cx="1700099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31B6E9C5-F075-7B6A-FF04-4B009E962997}"/>
              </a:ext>
            </a:extLst>
          </p:cNvPr>
          <p:cNvSpPr/>
          <p:nvPr/>
        </p:nvSpPr>
        <p:spPr>
          <a:xfrm>
            <a:off x="6395357" y="3061855"/>
            <a:ext cx="1457188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Corporate templates</a:t>
            </a:r>
            <a:endParaRPr lang="en-US" sz="1200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7D6E0778-60FD-AE38-CF2E-CDAA89FC59FF}"/>
              </a:ext>
            </a:extLst>
          </p:cNvPr>
          <p:cNvSpPr/>
          <p:nvPr/>
        </p:nvSpPr>
        <p:spPr>
          <a:xfrm>
            <a:off x="8012000" y="2991097"/>
            <a:ext cx="1946502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AA921D97-AB6B-4B8A-FD8A-9EE384ABB4CA}"/>
              </a:ext>
            </a:extLst>
          </p:cNvPr>
          <p:cNvSpPr/>
          <p:nvPr/>
        </p:nvSpPr>
        <p:spPr>
          <a:xfrm>
            <a:off x="8158957" y="3061855"/>
            <a:ext cx="171098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Corporate presentations</a:t>
            </a:r>
            <a:endParaRPr lang="en-US" sz="120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60718245-89B0-0E44-2131-69FF4CF1E826}"/>
              </a:ext>
            </a:extLst>
          </p:cNvPr>
          <p:cNvSpPr/>
          <p:nvPr/>
        </p:nvSpPr>
        <p:spPr>
          <a:xfrm>
            <a:off x="6248401" y="3402940"/>
            <a:ext cx="175968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03BDD5CF-DF23-1A66-1478-ACB850E253A0}"/>
              </a:ext>
            </a:extLst>
          </p:cNvPr>
          <p:cNvSpPr/>
          <p:nvPr/>
        </p:nvSpPr>
        <p:spPr>
          <a:xfrm>
            <a:off x="6395358" y="3473697"/>
            <a:ext cx="151856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HR / internal material</a:t>
            </a:r>
            <a:endParaRPr lang="en-US" sz="1200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8A21C77B-DFD0-FCC0-8A82-01E5AAD89FF1}"/>
              </a:ext>
            </a:extLst>
          </p:cNvPr>
          <p:cNvSpPr/>
          <p:nvPr/>
        </p:nvSpPr>
        <p:spPr>
          <a:xfrm>
            <a:off x="8071588" y="3402940"/>
            <a:ext cx="1594133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310B85DD-AE71-7414-AA13-326301737E65}"/>
              </a:ext>
            </a:extLst>
          </p:cNvPr>
          <p:cNvSpPr/>
          <p:nvPr/>
        </p:nvSpPr>
        <p:spPr>
          <a:xfrm>
            <a:off x="8218545" y="3473697"/>
            <a:ext cx="1351019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Employer branding</a:t>
            </a:r>
            <a:endParaRPr lang="en-US" sz="120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B90DC86C-D756-ADE3-35E5-E4635395AA52}"/>
              </a:ext>
            </a:extLst>
          </p:cNvPr>
          <p:cNvSpPr/>
          <p:nvPr/>
        </p:nvSpPr>
        <p:spPr>
          <a:xfrm>
            <a:off x="9729221" y="3402940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314D63BB-EF4E-19BF-C99E-2BE2EECF62AC}"/>
              </a:ext>
            </a:extLst>
          </p:cNvPr>
          <p:cNvSpPr/>
          <p:nvPr/>
        </p:nvSpPr>
        <p:spPr>
          <a:xfrm>
            <a:off x="9876178" y="3473697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Signage</a:t>
            </a:r>
            <a:endParaRPr lang="en-US" sz="120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1CFB7FC6-C7EB-D0C9-2238-AB6A5C9E7AE7}"/>
              </a:ext>
            </a:extLst>
          </p:cNvPr>
          <p:cNvSpPr/>
          <p:nvPr/>
        </p:nvSpPr>
        <p:spPr>
          <a:xfrm>
            <a:off x="6248401" y="3814783"/>
            <a:ext cx="1580753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5377FBC9-C4E6-A948-F9D2-BBB4A9D83B26}"/>
              </a:ext>
            </a:extLst>
          </p:cNvPr>
          <p:cNvSpPr/>
          <p:nvPr/>
        </p:nvSpPr>
        <p:spPr>
          <a:xfrm>
            <a:off x="6395357" y="3885540"/>
            <a:ext cx="1337639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Onboarding assets</a:t>
            </a:r>
            <a:endParaRPr lang="en-US" sz="1200"/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B9F86B0D-8B5D-C6CC-E956-9347D95A1D1C}"/>
              </a:ext>
            </a:extLst>
          </p:cNvPr>
          <p:cNvGrpSpPr/>
          <p:nvPr/>
        </p:nvGrpSpPr>
        <p:grpSpPr>
          <a:xfrm>
            <a:off x="4467483" y="4807981"/>
            <a:ext cx="3257034" cy="393699"/>
            <a:chOff x="4164183" y="4762288"/>
            <a:chExt cx="3257034" cy="393699"/>
          </a:xfrm>
        </p:grpSpPr>
        <p:sp>
          <p:nvSpPr>
            <p:cNvPr id="58" name="Shape 5">
              <a:extLst>
                <a:ext uri="{FF2B5EF4-FFF2-40B4-BE49-F238E27FC236}">
                  <a16:creationId xmlns:a16="http://schemas.microsoft.com/office/drawing/2014/main" id="{7B545BB1-A8E0-3C8C-F0F9-440815FED3CA}"/>
                </a:ext>
              </a:extLst>
            </p:cNvPr>
            <p:cNvSpPr/>
            <p:nvPr/>
          </p:nvSpPr>
          <p:spPr>
            <a:xfrm>
              <a:off x="4164183" y="4762288"/>
              <a:ext cx="393699" cy="393699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n-DK" sz="1200"/>
            </a:p>
          </p:txBody>
        </p:sp>
        <p:sp>
          <p:nvSpPr>
            <p:cNvPr id="60" name="Text 6">
              <a:extLst>
                <a:ext uri="{FF2B5EF4-FFF2-40B4-BE49-F238E27FC236}">
                  <a16:creationId xmlns:a16="http://schemas.microsoft.com/office/drawing/2014/main" id="{F2A492A7-C1BC-1434-DEDE-DEEDD622E63B}"/>
                </a:ext>
              </a:extLst>
            </p:cNvPr>
            <p:cNvSpPr/>
            <p:nvPr/>
          </p:nvSpPr>
          <p:spPr>
            <a:xfrm>
              <a:off x="4640092" y="4818530"/>
              <a:ext cx="2781125" cy="337457"/>
            </a:xfrm>
            <a:prstGeom prst="rect">
              <a:avLst/>
            </a:prstGeom>
            <a:noFill/>
            <a:ln/>
          </p:spPr>
          <p:txBody>
            <a:bodyPr wrap="square" lIns="16933" tIns="16933" rIns="16933" bIns="16933" rtlCol="0" anchor="t">
              <a:normAutofit/>
            </a:bodyPr>
            <a:lstStyle/>
            <a:p>
              <a:r>
                <a:rPr lang="en-US" b="1" kern="0" spc="-36" dirty="0">
                  <a:solidFill>
                    <a:srgbClr val="1F3E77"/>
                  </a:solidFill>
                  <a:latin typeface="+mj-lt"/>
                  <a:ea typeface="Nunito Sans" pitchFamily="34" charset="-122"/>
                  <a:cs typeface="Nunito Sans" pitchFamily="34" charset="-120"/>
                </a:rPr>
                <a:t>Management and services</a:t>
              </a:r>
              <a:endParaRPr lang="en-US" dirty="0">
                <a:latin typeface="+mj-lt"/>
              </a:endParaRPr>
            </a:p>
          </p:txBody>
        </p:sp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99B6BF38-A578-A46E-13E7-EDE5FEBBC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252604" y="4867500"/>
              <a:ext cx="209331" cy="194155"/>
            </a:xfrm>
            <a:prstGeom prst="rect">
              <a:avLst/>
            </a:prstGeom>
          </p:spPr>
        </p:pic>
      </p:grpSp>
      <p:sp>
        <p:nvSpPr>
          <p:cNvPr id="67" name="Shape 5">
            <a:extLst>
              <a:ext uri="{FF2B5EF4-FFF2-40B4-BE49-F238E27FC236}">
                <a16:creationId xmlns:a16="http://schemas.microsoft.com/office/drawing/2014/main" id="{C895574A-2B1B-188F-2598-9CD7FF3E4B6F}"/>
              </a:ext>
            </a:extLst>
          </p:cNvPr>
          <p:cNvSpPr/>
          <p:nvPr/>
        </p:nvSpPr>
        <p:spPr>
          <a:xfrm>
            <a:off x="503276" y="2080309"/>
            <a:ext cx="393699" cy="393699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DK" sz="1200">
              <a:solidFill>
                <a:schemeClr val="tx2"/>
              </a:solidFill>
            </a:endParaRPr>
          </a:p>
        </p:txBody>
      </p:sp>
      <p:sp>
        <p:nvSpPr>
          <p:cNvPr id="68" name="Shape 5">
            <a:extLst>
              <a:ext uri="{FF2B5EF4-FFF2-40B4-BE49-F238E27FC236}">
                <a16:creationId xmlns:a16="http://schemas.microsoft.com/office/drawing/2014/main" id="{36AFB643-82F3-322B-04D0-F9773970F62D}"/>
              </a:ext>
            </a:extLst>
          </p:cNvPr>
          <p:cNvSpPr/>
          <p:nvPr/>
        </p:nvSpPr>
        <p:spPr>
          <a:xfrm>
            <a:off x="6198507" y="2080054"/>
            <a:ext cx="393699" cy="393699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DK" sz="1200">
              <a:solidFill>
                <a:schemeClr val="tx2"/>
              </a:solidFill>
            </a:endParaRPr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85D0DFCE-BD8F-D4F7-5EA1-6300A900F6EC}"/>
              </a:ext>
            </a:extLst>
          </p:cNvPr>
          <p:cNvSpPr/>
          <p:nvPr/>
        </p:nvSpPr>
        <p:spPr>
          <a:xfrm>
            <a:off x="3776038" y="3816211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DFEAF365-7566-CA14-8B71-C8DF49707E96}"/>
              </a:ext>
            </a:extLst>
          </p:cNvPr>
          <p:cNvSpPr/>
          <p:nvPr/>
        </p:nvSpPr>
        <p:spPr>
          <a:xfrm>
            <a:off x="3922995" y="3886968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Legal documents</a:t>
            </a:r>
            <a:endParaRPr lang="en-US" sz="1200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4F2F1D1C-D2F6-BC38-F8CD-57B6BA337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789" y="2168288"/>
            <a:ext cx="227381" cy="227381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3F469026-11D3-BF75-F616-D2E71F606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769" y="2165270"/>
            <a:ext cx="226164" cy="226164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05066A9E-F222-3848-91E0-3680B01BB49F}"/>
              </a:ext>
            </a:extLst>
          </p:cNvPr>
          <p:cNvGrpSpPr/>
          <p:nvPr/>
        </p:nvGrpSpPr>
        <p:grpSpPr>
          <a:xfrm>
            <a:off x="2377991" y="5344144"/>
            <a:ext cx="7436019" cy="348343"/>
            <a:chOff x="2519816" y="5344144"/>
            <a:chExt cx="7436019" cy="348343"/>
          </a:xfrm>
        </p:grpSpPr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79BD42A5-2623-ADC3-7CAE-C1CC81C7BD28}"/>
                </a:ext>
              </a:extLst>
            </p:cNvPr>
            <p:cNvSpPr/>
            <p:nvPr/>
          </p:nvSpPr>
          <p:spPr>
            <a:xfrm>
              <a:off x="2519816" y="5344144"/>
              <a:ext cx="141450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The Pond library</a:t>
              </a:r>
              <a:endParaRPr lang="en-US" sz="1100" dirty="0"/>
            </a:p>
          </p:txBody>
        </p:sp>
        <p:sp>
          <p:nvSpPr>
            <p:cNvPr id="63" name="Shape 25">
              <a:extLst>
                <a:ext uri="{FF2B5EF4-FFF2-40B4-BE49-F238E27FC236}">
                  <a16:creationId xmlns:a16="http://schemas.microsoft.com/office/drawing/2014/main" id="{C218B161-1531-4048-821B-BE9F0ABE4B24}"/>
                </a:ext>
              </a:extLst>
            </p:cNvPr>
            <p:cNvSpPr/>
            <p:nvPr/>
          </p:nvSpPr>
          <p:spPr>
            <a:xfrm>
              <a:off x="4039176" y="5344144"/>
              <a:ext cx="1339227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2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Business cards</a:t>
              </a:r>
              <a:endParaRPr lang="en-US" sz="1200" dirty="0"/>
            </a:p>
          </p:txBody>
        </p:sp>
        <p:sp>
          <p:nvSpPr>
            <p:cNvPr id="75" name="Shape 27">
              <a:extLst>
                <a:ext uri="{FF2B5EF4-FFF2-40B4-BE49-F238E27FC236}">
                  <a16:creationId xmlns:a16="http://schemas.microsoft.com/office/drawing/2014/main" id="{56157A0A-CA56-2AE2-4B31-8926BE528CD2}"/>
                </a:ext>
              </a:extLst>
            </p:cNvPr>
            <p:cNvSpPr/>
            <p:nvPr/>
          </p:nvSpPr>
          <p:spPr>
            <a:xfrm>
              <a:off x="5477975" y="5344144"/>
              <a:ext cx="217085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tIns="0" bIns="0"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Project management board</a:t>
              </a:r>
              <a:endParaRPr lang="en-DK" sz="1100" dirty="0"/>
            </a:p>
          </p:txBody>
        </p:sp>
        <p:sp>
          <p:nvSpPr>
            <p:cNvPr id="78" name="Shape 27">
              <a:extLst>
                <a:ext uri="{FF2B5EF4-FFF2-40B4-BE49-F238E27FC236}">
                  <a16:creationId xmlns:a16="http://schemas.microsoft.com/office/drawing/2014/main" id="{A6D0E4AE-0E49-36D3-3D20-BFB593849B01}"/>
                </a:ext>
              </a:extLst>
            </p:cNvPr>
            <p:cNvSpPr/>
            <p:nvPr/>
          </p:nvSpPr>
          <p:spPr>
            <a:xfrm>
              <a:off x="7753685" y="5344144"/>
              <a:ext cx="2202150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Internal Design Hub library</a:t>
              </a:r>
              <a:endParaRPr lang="en-DK" sz="1100" dirty="0"/>
            </a:p>
          </p:txBody>
        </p:sp>
      </p:grpSp>
      <p:sp>
        <p:nvSpPr>
          <p:cNvPr id="80" name="Shape 45">
            <a:extLst>
              <a:ext uri="{FF2B5EF4-FFF2-40B4-BE49-F238E27FC236}">
                <a16:creationId xmlns:a16="http://schemas.microsoft.com/office/drawing/2014/main" id="{0ED2E913-603D-235B-7222-505C29007602}"/>
              </a:ext>
            </a:extLst>
          </p:cNvPr>
          <p:cNvSpPr/>
          <p:nvPr/>
        </p:nvSpPr>
        <p:spPr>
          <a:xfrm>
            <a:off x="7897722" y="3808063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515BB134-64E5-82C9-BC50-7ABA2713C8AF}"/>
              </a:ext>
            </a:extLst>
          </p:cNvPr>
          <p:cNvSpPr/>
          <p:nvPr/>
        </p:nvSpPr>
        <p:spPr>
          <a:xfrm>
            <a:off x="8044679" y="3878820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</a:rPr>
              <a:t>Merch</a:t>
            </a:r>
            <a:endParaRPr lang="en-US" sz="1200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2C6D0C5E-6DB8-A96B-6B3A-3E015ABA31BF}"/>
              </a:ext>
            </a:extLst>
          </p:cNvPr>
          <p:cNvGrpSpPr/>
          <p:nvPr/>
        </p:nvGrpSpPr>
        <p:grpSpPr>
          <a:xfrm>
            <a:off x="2400455" y="5794395"/>
            <a:ext cx="7391091" cy="348343"/>
            <a:chOff x="2681357" y="5794395"/>
            <a:chExt cx="7391091" cy="348343"/>
          </a:xfrm>
        </p:grpSpPr>
        <p:sp>
          <p:nvSpPr>
            <p:cNvPr id="2" name="Shape 27">
              <a:extLst>
                <a:ext uri="{FF2B5EF4-FFF2-40B4-BE49-F238E27FC236}">
                  <a16:creationId xmlns:a16="http://schemas.microsoft.com/office/drawing/2014/main" id="{A797201F-F092-F986-21EA-85126B737B3B}"/>
                </a:ext>
              </a:extLst>
            </p:cNvPr>
            <p:cNvSpPr/>
            <p:nvPr/>
          </p:nvSpPr>
          <p:spPr>
            <a:xfrm>
              <a:off x="2681357" y="5794395"/>
              <a:ext cx="1627699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QR Code Generator</a:t>
              </a:r>
            </a:p>
          </p:txBody>
        </p:sp>
        <p:sp>
          <p:nvSpPr>
            <p:cNvPr id="6" name="Shape 27">
              <a:extLst>
                <a:ext uri="{FF2B5EF4-FFF2-40B4-BE49-F238E27FC236}">
                  <a16:creationId xmlns:a16="http://schemas.microsoft.com/office/drawing/2014/main" id="{32A1CED5-7893-547F-2AD0-DDE076CBF656}"/>
                </a:ext>
              </a:extLst>
            </p:cNvPr>
            <p:cNvSpPr/>
            <p:nvPr/>
          </p:nvSpPr>
          <p:spPr>
            <a:xfrm>
              <a:off x="4425932" y="5794395"/>
              <a:ext cx="1808126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r>
                <a:rPr lang="en-US" sz="1100" dirty="0">
                  <a:solidFill>
                    <a:schemeClr val="tx2"/>
                  </a:solidFill>
                </a:rPr>
                <a:t>Umbraco Content Library</a:t>
              </a:r>
              <a:endParaRPr lang="en-DK" dirty="0"/>
            </a:p>
          </p:txBody>
        </p:sp>
        <p:sp>
          <p:nvSpPr>
            <p:cNvPr id="8" name="Shape 27">
              <a:extLst>
                <a:ext uri="{FF2B5EF4-FFF2-40B4-BE49-F238E27FC236}">
                  <a16:creationId xmlns:a16="http://schemas.microsoft.com/office/drawing/2014/main" id="{61A48C25-7692-DD85-E8B4-15CCF335CCF1}"/>
                </a:ext>
              </a:extLst>
            </p:cNvPr>
            <p:cNvSpPr/>
            <p:nvPr/>
          </p:nvSpPr>
          <p:spPr>
            <a:xfrm>
              <a:off x="6344926" y="5794395"/>
              <a:ext cx="141450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Canva Templates</a:t>
              </a:r>
              <a:endParaRPr lang="en-DK" sz="2000" dirty="0"/>
            </a:p>
          </p:txBody>
        </p:sp>
        <p:sp>
          <p:nvSpPr>
            <p:cNvPr id="10" name="Shape 27">
              <a:extLst>
                <a:ext uri="{FF2B5EF4-FFF2-40B4-BE49-F238E27FC236}">
                  <a16:creationId xmlns:a16="http://schemas.microsoft.com/office/drawing/2014/main" id="{22FE4BA2-7DAF-8257-D50E-483090968526}"/>
                </a:ext>
              </a:extLst>
            </p:cNvPr>
            <p:cNvSpPr/>
            <p:nvPr/>
          </p:nvSpPr>
          <p:spPr>
            <a:xfrm>
              <a:off x="7870298" y="5794395"/>
              <a:ext cx="2202150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Stock Photography and Video</a:t>
              </a:r>
              <a:endParaRPr lang="en-DK" sz="1100" dirty="0"/>
            </a:p>
          </p:txBody>
        </p:sp>
      </p:grpSp>
      <p:sp>
        <p:nvSpPr>
          <p:cNvPr id="13" name="Shape 25">
            <a:extLst>
              <a:ext uri="{FF2B5EF4-FFF2-40B4-BE49-F238E27FC236}">
                <a16:creationId xmlns:a16="http://schemas.microsoft.com/office/drawing/2014/main" id="{C9706113-BA82-8F49-8085-281FBBC0B16E}"/>
              </a:ext>
            </a:extLst>
          </p:cNvPr>
          <p:cNvSpPr/>
          <p:nvPr/>
        </p:nvSpPr>
        <p:spPr>
          <a:xfrm>
            <a:off x="508001" y="4240216"/>
            <a:ext cx="105948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D6B14B78-585F-4F8B-1D86-8193888B2C20}"/>
              </a:ext>
            </a:extLst>
          </p:cNvPr>
          <p:cNvSpPr/>
          <p:nvPr/>
        </p:nvSpPr>
        <p:spPr>
          <a:xfrm>
            <a:off x="654957" y="4310973"/>
            <a:ext cx="86715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Packaging</a:t>
            </a:r>
            <a:endParaRPr lang="en-US" sz="1200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D296563D-0EB7-47FF-7AC8-3D2FAD83234A}"/>
              </a:ext>
            </a:extLst>
          </p:cNvPr>
          <p:cNvSpPr/>
          <p:nvPr/>
        </p:nvSpPr>
        <p:spPr>
          <a:xfrm>
            <a:off x="1630986" y="4237973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477CD155-8D8E-6EFC-7189-3AA65A556C71}"/>
              </a:ext>
            </a:extLst>
          </p:cNvPr>
          <p:cNvSpPr/>
          <p:nvPr/>
        </p:nvSpPr>
        <p:spPr>
          <a:xfrm>
            <a:off x="1777943" y="4308730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Learning Material</a:t>
            </a:r>
            <a:endParaRPr lang="en-US" sz="1200"/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E140ED10-976B-32DC-4BD6-3A9CF84C8179}"/>
              </a:ext>
            </a:extLst>
          </p:cNvPr>
          <p:cNvSpPr/>
          <p:nvPr/>
        </p:nvSpPr>
        <p:spPr>
          <a:xfrm>
            <a:off x="4252991" y="4237973"/>
            <a:ext cx="911183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778F19AE-F3E0-DF8B-0968-38632DF77701}"/>
              </a:ext>
            </a:extLst>
          </p:cNvPr>
          <p:cNvSpPr/>
          <p:nvPr/>
        </p:nvSpPr>
        <p:spPr>
          <a:xfrm>
            <a:off x="4399949" y="4308730"/>
            <a:ext cx="69466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+ more</a:t>
            </a:r>
            <a:endParaRPr lang="en-US" sz="120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1AE1FB22-B5CF-A596-CD2A-1094DCDE1F3E}"/>
              </a:ext>
            </a:extLst>
          </p:cNvPr>
          <p:cNvSpPr/>
          <p:nvPr/>
        </p:nvSpPr>
        <p:spPr>
          <a:xfrm>
            <a:off x="8805946" y="3808063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5195E7A0-85D4-0947-A5F3-19C9BD71A620}"/>
              </a:ext>
            </a:extLst>
          </p:cNvPr>
          <p:cNvSpPr/>
          <p:nvPr/>
        </p:nvSpPr>
        <p:spPr>
          <a:xfrm>
            <a:off x="8952903" y="3878820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</a:rPr>
              <a:t>+ more</a:t>
            </a:r>
            <a:endParaRPr lang="en-US" sz="1200"/>
          </a:p>
        </p:txBody>
      </p:sp>
      <p:sp>
        <p:nvSpPr>
          <p:cNvPr id="84" name="Shape 19">
            <a:extLst>
              <a:ext uri="{FF2B5EF4-FFF2-40B4-BE49-F238E27FC236}">
                <a16:creationId xmlns:a16="http://schemas.microsoft.com/office/drawing/2014/main" id="{5A2E8CE0-25AE-A168-4B4E-A999E81B89B4}"/>
              </a:ext>
            </a:extLst>
          </p:cNvPr>
          <p:cNvSpPr/>
          <p:nvPr/>
        </p:nvSpPr>
        <p:spPr>
          <a:xfrm>
            <a:off x="3274454" y="4237973"/>
            <a:ext cx="911183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4931725A-DAE8-B9C2-53E4-9BE6BDED7556}"/>
              </a:ext>
            </a:extLst>
          </p:cNvPr>
          <p:cNvSpPr/>
          <p:nvPr/>
        </p:nvSpPr>
        <p:spPr>
          <a:xfrm>
            <a:off x="3421412" y="4308730"/>
            <a:ext cx="69466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Merch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8187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AF7975-87B0-3694-92E2-3359F14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13579BA-9F4B-4D03-9B60-7525C9E9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Ownership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D284377-C6AD-BF34-3F29-D172568743AA}"/>
              </a:ext>
            </a:extLst>
          </p:cNvPr>
          <p:cNvSpPr/>
          <p:nvPr/>
        </p:nvSpPr>
        <p:spPr>
          <a:xfrm>
            <a:off x="508000" y="2667000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FBDF788-081C-7CB9-3218-007A9F1F5BFB}"/>
              </a:ext>
            </a:extLst>
          </p:cNvPr>
          <p:cNvSpPr/>
          <p:nvPr/>
        </p:nvSpPr>
        <p:spPr>
          <a:xfrm>
            <a:off x="1426029" y="2924629"/>
            <a:ext cx="4054293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Graphic Design</a:t>
            </a:r>
            <a:endParaRPr lang="en-US" sz="1400">
              <a:latin typeface="+mj-lt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7C7F426-BE65-21A0-1174-C62BCE2C9733}"/>
              </a:ext>
            </a:extLst>
          </p:cNvPr>
          <p:cNvSpPr/>
          <p:nvPr/>
        </p:nvSpPr>
        <p:spPr>
          <a:xfrm>
            <a:off x="1426029" y="3231243"/>
            <a:ext cx="4316580" cy="100061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Campaigns · marketing assets · layouts · digital &amp; print material </a:t>
            </a:r>
            <a:r>
              <a:rPr lang="en-US" sz="11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 · packaging</a:t>
            </a: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 </a:t>
            </a:r>
            <a:endParaRPr lang="en-US" sz="1100" dirty="0">
              <a:latin typeface="+mj-lt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968CF66-2A77-7FAA-F70E-1B5307AA102F}"/>
              </a:ext>
            </a:extLst>
          </p:cNvPr>
          <p:cNvSpPr/>
          <p:nvPr/>
        </p:nvSpPr>
        <p:spPr>
          <a:xfrm>
            <a:off x="6172201" y="2667000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B03E88B-0316-8CFF-6C52-B31E07344DDF}"/>
              </a:ext>
            </a:extLst>
          </p:cNvPr>
          <p:cNvSpPr/>
          <p:nvPr/>
        </p:nvSpPr>
        <p:spPr>
          <a:xfrm>
            <a:off x="7090230" y="2924629"/>
            <a:ext cx="2815861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Motion &amp; Video</a:t>
            </a:r>
            <a:endParaRPr lang="en-US" sz="1400">
              <a:latin typeface="+mj-lt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7E70527-5109-488F-E89C-208C4ADF2A69}"/>
              </a:ext>
            </a:extLst>
          </p:cNvPr>
          <p:cNvSpPr/>
          <p:nvPr/>
        </p:nvSpPr>
        <p:spPr>
          <a:xfrm>
            <a:off x="7090229" y="3231244"/>
            <a:ext cx="4363355" cy="9211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Animations · video editing · motion graphics </a:t>
            </a:r>
            <a:r>
              <a:rPr lang="en-US" sz="12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· storytelling</a:t>
            </a:r>
            <a:endParaRPr lang="en-US" sz="1200" dirty="0">
              <a:latin typeface="+mj-lt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18C92DF5-82D5-D55C-6E5D-AC832D2FA2C9}"/>
              </a:ext>
            </a:extLst>
          </p:cNvPr>
          <p:cNvSpPr/>
          <p:nvPr/>
        </p:nvSpPr>
        <p:spPr>
          <a:xfrm>
            <a:off x="508000" y="4457701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1E2F579-4E1C-34DC-1796-42F2229A11FA}"/>
              </a:ext>
            </a:extLst>
          </p:cNvPr>
          <p:cNvSpPr/>
          <p:nvPr/>
        </p:nvSpPr>
        <p:spPr>
          <a:xfrm>
            <a:off x="1426029" y="4715329"/>
            <a:ext cx="3353349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&amp; Creative Direction</a:t>
            </a:r>
            <a:endParaRPr lang="en-US" sz="1400">
              <a:latin typeface="+mj-lt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5FB8AB1-FA10-D045-C233-A3C16B6D6E9F}"/>
              </a:ext>
            </a:extLst>
          </p:cNvPr>
          <p:cNvSpPr/>
          <p:nvPr/>
        </p:nvSpPr>
        <p:spPr>
          <a:xfrm>
            <a:off x="1426029" y="5021943"/>
            <a:ext cx="4316580" cy="91061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Visual consistency · art direction · strategic guidance</a:t>
            </a:r>
            <a:endParaRPr lang="en-US" sz="1200" dirty="0">
              <a:latin typeface="+mj-lt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12774E4A-E491-710E-53F7-236939BA977E}"/>
              </a:ext>
            </a:extLst>
          </p:cNvPr>
          <p:cNvSpPr/>
          <p:nvPr/>
        </p:nvSpPr>
        <p:spPr>
          <a:xfrm>
            <a:off x="6172199" y="4457701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9418BD4-8CC8-F2E8-3C2A-1062DDD4CBFF}"/>
              </a:ext>
            </a:extLst>
          </p:cNvPr>
          <p:cNvSpPr/>
          <p:nvPr/>
        </p:nvSpPr>
        <p:spPr>
          <a:xfrm>
            <a:off x="7090230" y="4715329"/>
            <a:ext cx="4466227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Production &amp; Coordination</a:t>
            </a:r>
            <a:endParaRPr lang="en-US" sz="1400">
              <a:latin typeface="+mj-lt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7834FDE-A5BE-2B61-B376-1FF1D25BF66F}"/>
              </a:ext>
            </a:extLst>
          </p:cNvPr>
          <p:cNvSpPr/>
          <p:nvPr/>
        </p:nvSpPr>
        <p:spPr>
          <a:xfrm>
            <a:off x="7090230" y="5021942"/>
            <a:ext cx="4466227" cy="5737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Workflow management · printer/publisher coordination · file &amp; asset organization</a:t>
            </a:r>
            <a:endParaRPr lang="en-US" sz="1100" dirty="0">
              <a:latin typeface="+mj-lt"/>
            </a:endParaRPr>
          </a:p>
        </p:txBody>
      </p:sp>
      <p:pic>
        <p:nvPicPr>
          <p:cNvPr id="28" name="Graphic 27" descr="Images with solid fill">
            <a:extLst>
              <a:ext uri="{FF2B5EF4-FFF2-40B4-BE49-F238E27FC236}">
                <a16:creationId xmlns:a16="http://schemas.microsoft.com/office/drawing/2014/main" id="{3E3D933D-A43F-6D37-43E9-E9E4BEC44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415" y="2907694"/>
            <a:ext cx="457200" cy="457200"/>
          </a:xfrm>
          <a:prstGeom prst="rect">
            <a:avLst/>
          </a:prstGeom>
        </p:spPr>
      </p:pic>
      <p:pic>
        <p:nvPicPr>
          <p:cNvPr id="30" name="Graphic 29" descr="Clapper board with solid fill">
            <a:extLst>
              <a:ext uri="{FF2B5EF4-FFF2-40B4-BE49-F238E27FC236}">
                <a16:creationId xmlns:a16="http://schemas.microsoft.com/office/drawing/2014/main" id="{8A914658-36B6-07F5-40C5-10F769080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677" y="2914346"/>
            <a:ext cx="449985" cy="449985"/>
          </a:xfrm>
          <a:prstGeom prst="rect">
            <a:avLst/>
          </a:prstGeom>
        </p:spPr>
      </p:pic>
      <p:pic>
        <p:nvPicPr>
          <p:cNvPr id="32" name="Graphic 31" descr="Map compass with solid fill">
            <a:extLst>
              <a:ext uri="{FF2B5EF4-FFF2-40B4-BE49-F238E27FC236}">
                <a16:creationId xmlns:a16="http://schemas.microsoft.com/office/drawing/2014/main" id="{A9348CD9-268F-14B5-CAE8-C6B4C9247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415" y="4715329"/>
            <a:ext cx="486986" cy="486986"/>
          </a:xfrm>
          <a:prstGeom prst="rect">
            <a:avLst/>
          </a:prstGeom>
        </p:spPr>
      </p:pic>
      <p:pic>
        <p:nvPicPr>
          <p:cNvPr id="34" name="Graphic 33" descr="Filing Box Archive with solid fill">
            <a:extLst>
              <a:ext uri="{FF2B5EF4-FFF2-40B4-BE49-F238E27FC236}">
                <a16:creationId xmlns:a16="http://schemas.microsoft.com/office/drawing/2014/main" id="{C2AEF461-77BD-5145-AD80-1BF38C127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9623" y="4715329"/>
            <a:ext cx="471078" cy="471078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AF185C4E-D179-4AB0-9CAA-86759A005B8C}"/>
              </a:ext>
            </a:extLst>
          </p:cNvPr>
          <p:cNvSpPr/>
          <p:nvPr/>
        </p:nvSpPr>
        <p:spPr>
          <a:xfrm>
            <a:off x="3987801" y="1784225"/>
            <a:ext cx="6386331" cy="537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2800" b="1" kern="0" spc="-105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One team, </a:t>
            </a:r>
            <a:r>
              <a:rPr lang="en-US" sz="2800" b="1" kern="0" spc="-105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Multiple support</a:t>
            </a:r>
            <a:endParaRPr lang="en-US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0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2A7B-E567-F3FB-3A51-1734832A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856DB9-A96D-232E-2399-A6388BF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F7FA894-E008-C38D-8CC2-AA545CBE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Beyond</a:t>
            </a:r>
            <a:r>
              <a:rPr lang="es-ES"/>
              <a:t> Daily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Support</a:t>
            </a:r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0BA0217-9058-7BDA-03BF-35ABE5F547D5}"/>
              </a:ext>
            </a:extLst>
          </p:cNvPr>
          <p:cNvSpPr/>
          <p:nvPr/>
        </p:nvSpPr>
        <p:spPr>
          <a:xfrm>
            <a:off x="468000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01</a:t>
            </a:r>
          </a:p>
          <a:p>
            <a:pPr algn="ctr"/>
            <a:r>
              <a:rPr lang="en-US" sz="2800" b="1"/>
              <a:t>Brand Management</a:t>
            </a:r>
          </a:p>
          <a:p>
            <a:pPr algn="ctr"/>
            <a:endParaRPr lang="en-US" b="1"/>
          </a:p>
          <a:p>
            <a:pPr algn="ctr"/>
            <a:r>
              <a:rPr lang="en-US"/>
              <a:t>Brand consistency / Brand evolution / </a:t>
            </a:r>
          </a:p>
          <a:p>
            <a:pPr algn="ctr"/>
            <a:r>
              <a:rPr lang="en-US"/>
              <a:t>Visual governance</a:t>
            </a:r>
          </a:p>
          <a:p>
            <a:pPr algn="ctr"/>
            <a:endParaRPr lang="en-US" b="1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6938E75-1465-6D6A-57CA-23BC39D8AA34}"/>
              </a:ext>
            </a:extLst>
          </p:cNvPr>
          <p:cNvSpPr/>
          <p:nvPr/>
        </p:nvSpPr>
        <p:spPr>
          <a:xfrm>
            <a:off x="3308626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02</a:t>
            </a:r>
          </a:p>
          <a:p>
            <a:pPr algn="ctr"/>
            <a:r>
              <a:rPr lang="en-US" sz="2800" b="1"/>
              <a:t>Creative Development</a:t>
            </a:r>
          </a:p>
          <a:p>
            <a:pPr algn="ctr"/>
            <a:endParaRPr lang="en-US" b="1"/>
          </a:p>
          <a:p>
            <a:pPr algn="ctr"/>
            <a:r>
              <a:rPr lang="en-US"/>
              <a:t>Concepts and campaigns / Art direction / Visual storytelling</a:t>
            </a:r>
          </a:p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1D0CAF8-FFCF-601B-D9C6-8EB0FC76E9DA}"/>
              </a:ext>
            </a:extLst>
          </p:cNvPr>
          <p:cNvSpPr/>
          <p:nvPr/>
        </p:nvSpPr>
        <p:spPr>
          <a:xfrm>
            <a:off x="6149252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03</a:t>
            </a:r>
          </a:p>
          <a:p>
            <a:pPr algn="ctr"/>
            <a:r>
              <a:rPr lang="en-US" sz="2800" b="1"/>
              <a:t>Production &amp; Adaptation</a:t>
            </a:r>
          </a:p>
          <a:p>
            <a:pPr algn="ctr"/>
            <a:endParaRPr lang="en-US" b="1"/>
          </a:p>
          <a:p>
            <a:pPr algn="ctr"/>
            <a:r>
              <a:rPr lang="es-ES"/>
              <a:t>Market </a:t>
            </a:r>
            <a:r>
              <a:rPr lang="es-ES" err="1"/>
              <a:t>Adaptation</a:t>
            </a:r>
            <a:r>
              <a:rPr lang="en-US"/>
              <a:t> / Resizing and roll-outs / Print &amp; digital production</a:t>
            </a:r>
          </a:p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E37BD4-275F-03AD-B66F-9632163374F6}"/>
              </a:ext>
            </a:extLst>
          </p:cNvPr>
          <p:cNvSpPr/>
          <p:nvPr/>
        </p:nvSpPr>
        <p:spPr>
          <a:xfrm>
            <a:off x="8989877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04</a:t>
            </a:r>
          </a:p>
          <a:p>
            <a:pPr algn="ctr"/>
            <a:r>
              <a:rPr lang="en-US" sz="2800" b="1"/>
              <a:t>Strategic Support</a:t>
            </a:r>
          </a:p>
          <a:p>
            <a:pPr algn="ctr"/>
            <a:endParaRPr lang="en-US" b="1"/>
          </a:p>
          <a:p>
            <a:pPr algn="ctr"/>
            <a:r>
              <a:rPr lang="en-US"/>
              <a:t>Cross-market coordination / Creative recommendations /</a:t>
            </a:r>
          </a:p>
          <a:p>
            <a:pPr algn="ctr"/>
            <a:r>
              <a:rPr lang="en-US"/>
              <a:t>Design consultation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3941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