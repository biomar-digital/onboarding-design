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398" r:id="rId34"/>
    <p:sldId id="400" r:id="rId35"/>
    <p:sldId id="401" r:id="rId36"/>
    <p:sldId id="39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presProps" Target="presProps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36" Type="http://schemas.openxmlformats.org/officeDocument/2006/relationships/slide" Target="slides/slide32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6.png"/><Relationship Id="rId4" Type="http://schemas.openxmlformats.org/officeDocument/2006/relationships/image" Target="../media/image75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49B31A-4D47-D4B4-A73A-E3EAE5E1E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1600"/>
              <a:t>BioMar has invested in </a:t>
            </a:r>
            <a:r>
              <a:rPr lang="en-GB" sz="160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advanced larval research facilities </a:t>
            </a:r>
            <a:r>
              <a:rPr lang="en-GB" sz="1600"/>
              <a:t>at ATC Hirtshals, </a:t>
            </a:r>
            <a:r>
              <a:rPr lang="en-GB" sz="160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capable of performing trials in semi-industrial conditions.</a:t>
            </a:r>
          </a:p>
          <a:p>
            <a:pPr>
              <a:spcAft>
                <a:spcPts val="600"/>
              </a:spcAft>
            </a:pPr>
            <a:r>
              <a:rPr lang="en-GB" sz="160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 trial facilities will serve as a hub for: Research and development, product consolidation and validation, benchmark trails, training for technical support (Global), Show-room to customers, and building BioMar and LARVIVA innovation image.</a:t>
            </a:r>
          </a:p>
          <a:p>
            <a:pPr>
              <a:spcAft>
                <a:spcPts val="600"/>
              </a:spcAft>
            </a:pPr>
            <a:r>
              <a:rPr lang="en-GB" sz="1600">
                <a:ea typeface="DengXian" panose="02010600030101010101" pitchFamily="2" charset="-122"/>
                <a:cs typeface="Times New Roman" panose="02020603050405020304" pitchFamily="18" charset="0"/>
              </a:rPr>
              <a:t>Name of the specialized hatchery unit: LARVIVA Hatchery Hub</a:t>
            </a:r>
            <a:endParaRPr lang="en-GB" sz="160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GB" sz="1600">
                <a:ea typeface="DengXian" panose="02010600030101010101" pitchFamily="2" charset="-122"/>
                <a:cs typeface="Times New Roman" panose="02020603050405020304" pitchFamily="18" charset="0"/>
              </a:rPr>
              <a:t>Opening event: end of October (signage to be produced and installed for opening event)</a:t>
            </a:r>
            <a:endParaRPr lang="en-DK" sz="1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38DDB-513F-911A-AA9B-9C03B03E6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HATCHERY</a:t>
            </a:r>
            <a:endParaRPr lang="en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F851A1-CBC2-9C08-2295-A58E14E6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LARVIVA Hatchery Hub Signage</a:t>
            </a:r>
            <a:endParaRPr lang="en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2259BC-750D-7453-BAAF-C29D354BE71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121196" y="4846825"/>
            <a:ext cx="9583074" cy="1450608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lang="en-GB" sz="1600"/>
              <a:t>External signage for main unit: LARVIVA Hatchery Hub</a:t>
            </a:r>
          </a:p>
          <a:p>
            <a:pPr>
              <a:spcAft>
                <a:spcPts val="600"/>
              </a:spcAft>
            </a:pPr>
            <a:r>
              <a:rPr lang="en-GB" sz="1600"/>
              <a:t>External signage for small unit:  Larvae Room 2</a:t>
            </a:r>
          </a:p>
          <a:p>
            <a:pPr>
              <a:spcAft>
                <a:spcPts val="600"/>
              </a:spcAft>
            </a:pPr>
            <a:r>
              <a:rPr lang="en-GB" sz="1600"/>
              <a:t>External signage giving direction to the units</a:t>
            </a:r>
          </a:p>
          <a:p>
            <a:pPr>
              <a:spcAft>
                <a:spcPts val="600"/>
              </a:spcAft>
            </a:pPr>
            <a:r>
              <a:rPr lang="en-GB" sz="1600"/>
              <a:t>Internal signage for 5 rooms inside main unit: Lab, Artemia Room, Rotifer Room, Trail Lab, Larvae Room 1</a:t>
            </a:r>
          </a:p>
          <a:p>
            <a:pPr>
              <a:spcAft>
                <a:spcPts val="600"/>
              </a:spcAft>
            </a:pPr>
            <a:r>
              <a:rPr lang="en-GB" sz="1600"/>
              <a:t>Wall design: </a:t>
            </a:r>
            <a:r>
              <a:rPr lang="en-GB" sz="1600" err="1"/>
              <a:t>LARVIVA+tagline</a:t>
            </a:r>
            <a:r>
              <a:rPr lang="en-GB" sz="1600"/>
              <a:t> </a:t>
            </a:r>
          </a:p>
          <a:p>
            <a:pPr>
              <a:spcAft>
                <a:spcPts val="600"/>
              </a:spcAft>
            </a:pPr>
            <a:r>
              <a:rPr lang="en-GB" sz="1600"/>
              <a:t>Wall decoration  /canvas (LARVIVA hero image, etc)</a:t>
            </a:r>
          </a:p>
          <a:p>
            <a:pPr>
              <a:spcAft>
                <a:spcPts val="600"/>
              </a:spcAft>
            </a:pPr>
            <a:endParaRPr lang="en-GB" sz="16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8F7C2-C8FE-374D-0F51-0043BBE7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271E3-C0AD-7E5D-56E3-0B3BF359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30</a:t>
            </a:fld>
            <a:endParaRPr lang="en-GB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D93A66-1F1F-DFC3-9EC6-A6D0DB2745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28/09/23</a:t>
            </a:r>
            <a:endParaRPr lang="en-DK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A855F3D-2447-8C65-2BBE-3688456E73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2/10/23</a:t>
            </a:r>
            <a:endParaRPr lang="en-DK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CA17F4-3A12-C354-91B1-DF3406E18E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Final due date for artwork only (not production of the material)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146404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8A9B0-FDFF-3F1E-0DDD-9B5044A9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31</a:t>
            </a:fld>
            <a:endParaRPr lang="en-GB" noProof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144843D-BB54-100F-B248-9C583DC1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Trial facilities layout (II)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AAC2D-A2BA-2FC0-F750-3C716BFE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89" y="1372764"/>
            <a:ext cx="10734183" cy="521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34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03DB7D-9E5D-D0FE-2AC4-B6EB1BD4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32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C203B20-6301-052F-5E16-1837FD34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Trial facilities layout (III)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90625-2974-EC62-9D49-F83B1B2CB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314" y="1597160"/>
            <a:ext cx="5612315" cy="422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44208C-7BEA-D10C-1C03-4DCE7CDA4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953" y="1478943"/>
            <a:ext cx="3773297" cy="4849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7459485-5457-D98A-76E7-8C4CD43E6EED}"/>
              </a:ext>
            </a:extLst>
          </p:cNvPr>
          <p:cNvSpPr/>
          <p:nvPr/>
        </p:nvSpPr>
        <p:spPr>
          <a:xfrm>
            <a:off x="1645919" y="1478943"/>
            <a:ext cx="492981" cy="47707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85DA24-608E-9688-FC11-10C6A2FF1A5E}"/>
              </a:ext>
            </a:extLst>
          </p:cNvPr>
          <p:cNvSpPr/>
          <p:nvPr/>
        </p:nvSpPr>
        <p:spPr>
          <a:xfrm>
            <a:off x="7821267" y="1358621"/>
            <a:ext cx="492981" cy="47707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BA9B80-06E7-9E24-ADB6-1587C0373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" y="2069672"/>
            <a:ext cx="1763244" cy="132905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F52CD30-6C5E-83AE-CD71-E72243F0F9BD}"/>
              </a:ext>
            </a:extLst>
          </p:cNvPr>
          <p:cNvSpPr/>
          <p:nvPr/>
        </p:nvSpPr>
        <p:spPr>
          <a:xfrm>
            <a:off x="2995797" y="3124863"/>
            <a:ext cx="759780" cy="4691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/>
              <a:t>Signage</a:t>
            </a:r>
          </a:p>
          <a:p>
            <a:pPr algn="ctr"/>
            <a:r>
              <a:rPr lang="en-GB" sz="1050"/>
              <a:t>60x40cm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7826D8-F765-BA6C-1AF4-0AFAE33A72AD}"/>
              </a:ext>
            </a:extLst>
          </p:cNvPr>
          <p:cNvSpPr/>
          <p:nvPr/>
        </p:nvSpPr>
        <p:spPr>
          <a:xfrm>
            <a:off x="8937266" y="432001"/>
            <a:ext cx="1304107" cy="63090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>
                <a:solidFill>
                  <a:schemeClr val="accent1"/>
                </a:solidFill>
              </a:rPr>
              <a:t>Wall space for design/canvas at the end of the hallway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147982-4FE7-FB91-9A40-BB59ACB0567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9589320" y="1062909"/>
            <a:ext cx="63563" cy="24436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Rectangle 12">
            <a:extLst>
              <a:ext uri="{FF2B5EF4-FFF2-40B4-BE49-F238E27FC236}">
                <a16:creationId xmlns:a16="http://schemas.microsoft.com/office/drawing/2014/main" id="{23351575-F2E3-C80D-D08E-A027B3A2D06C}"/>
              </a:ext>
            </a:extLst>
          </p:cNvPr>
          <p:cNvSpPr/>
          <p:nvPr/>
        </p:nvSpPr>
        <p:spPr>
          <a:xfrm>
            <a:off x="9241211" y="3903795"/>
            <a:ext cx="759780" cy="4691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/>
              <a:t>Wall 1,2x2,5m</a:t>
            </a:r>
          </a:p>
        </p:txBody>
      </p:sp>
    </p:spTree>
    <p:extLst>
      <p:ext uri="{BB962C8B-B14F-4D97-AF65-F5344CB8AC3E}">
        <p14:creationId xmlns:p14="http://schemas.microsoft.com/office/powerpoint/2010/main" val="39021991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B48A06-D4E9-2B97-E095-1F116D7BFB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www.biomar.com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390042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