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2"/>
  </p:notesMasterIdLst>
  <p:sldIdLst>
    <p:sldId id="2147471927" r:id="rId6"/>
    <p:sldId id="2147471930" r:id="rId7"/>
    <p:sldId id="2147471925" r:id="rId8"/>
    <p:sldId id="257" r:id="rId9"/>
    <p:sldId id="2147471942" r:id="rId10"/>
    <p:sldId id="2147471933" r:id="rId11"/>
    <p:sldId id="2147471939" r:id="rId12"/>
    <p:sldId id="141168962" r:id="rId15"/>
    <p:sldId id="214747194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71AD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4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03T16:54:00.274" v="4011" actId="20577"/>
      <pc:docMkLst>
        <pc:docMk/>
      </pc:docMkLst>
      <pc:sldChg chg="addSp modSp mod modNotesTx">
        <pc:chgData name="Isidora Silva Chiros" userId="0c986419-ce68-48bd-b705-f5a03ec14101" providerId="ADAL" clId="{BCD2818F-01C6-4AA5-A3AE-DDBFA260FF8C}" dt="2026-07-03T16:54:00.274" v="4011" actId="20577"/>
        <pc:sldMkLst>
          <pc:docMk/>
          <pc:sldMk cId="2895296564" sldId="257"/>
        </pc:sldMkLst>
        <pc:spChg chg="mod">
          <ac:chgData name="Isidora Silva Chiros" userId="0c986419-ce68-48bd-b705-f5a03ec14101" providerId="ADAL" clId="{BCD2818F-01C6-4AA5-A3AE-DDBFA260FF8C}" dt="2026-07-03T16:54:00.274" v="4011" actId="20577"/>
          <ac:spMkLst>
            <pc:docMk/>
            <pc:sldMk cId="2895296564" sldId="257"/>
            <ac:spMk id="4" creationId="{692A734B-FA63-AA24-1F28-2D6D0F930D30}"/>
          </ac:spMkLst>
        </pc:spChg>
      </pc:sldChg>
    </pc:docChg>
  </pc:docChgLst>
  <pc:docChgLst>
    <pc:chgData name="Andres Bernadou" userId="03fff62b-e549-456b-a7f9-42d2972824e9" providerId="ADAL" clId="{0CB13D59-2190-41A4-A0AC-6FE063695352}"/>
    <pc:docChg chg="undo custSel addSld modSld sldOrd">
      <pc:chgData name="Andres Bernadou" userId="03fff62b-e549-456b-a7f9-42d2972824e9" providerId="ADAL" clId="{0CB13D59-2190-41A4-A0AC-6FE063695352}" dt="2026-06-04T08:44:59.729" v="436" actId="20577"/>
      <pc:docMkLst>
        <pc:docMk/>
      </pc:docMkLst>
      <pc:sldChg chg="addSp delSp modSp mod">
        <pc:chgData name="Andres Bernadou" userId="03fff62b-e549-456b-a7f9-42d2972824e9" providerId="ADAL" clId="{0CB13D59-2190-41A4-A0AC-6FE063695352}" dt="2026-06-03T13:52:20.486" v="415" actId="20577"/>
        <pc:sldMkLst>
          <pc:docMk/>
          <pc:sldMk cId="2895296564" sldId="257"/>
        </pc:sldMkLst>
        <pc:spChg chg="mod">
          <ac:chgData name="Andres Bernadou" userId="03fff62b-e549-456b-a7f9-42d2972824e9" providerId="ADAL" clId="{0CB13D59-2190-41A4-A0AC-6FE063695352}" dt="2026-06-03T13:51:59.495" v="379" actId="20577"/>
          <ac:spMkLst>
            <pc:docMk/>
            <pc:sldMk cId="2895296564" sldId="257"/>
            <ac:spMk id="72" creationId="{6610583F-94B3-E75B-81CD-AECAB3F94465}"/>
          </ac:spMkLst>
        </pc:spChg>
        <pc:spChg chg="mod">
          <ac:chgData name="Andres Bernadou" userId="03fff62b-e549-456b-a7f9-42d2972824e9" providerId="ADAL" clId="{0CB13D59-2190-41A4-A0AC-6FE063695352}" dt="2026-06-03T13:52:20.486" v="415" actId="20577"/>
          <ac:spMkLst>
            <pc:docMk/>
            <pc:sldMk cId="2895296564" sldId="257"/>
            <ac:spMk id="77" creationId="{D34A1679-C2C4-9901-026D-B7C8EA3340BA}"/>
          </ac:spMkLst>
        </pc:spChg>
      </pc:sldChg>
      <pc:sldChg chg="modSp mod">
        <pc:chgData name="Andres Bernadou" userId="03fff62b-e549-456b-a7f9-42d2972824e9" providerId="ADAL" clId="{0CB13D59-2190-41A4-A0AC-6FE063695352}" dt="2026-06-04T08:44:59.729" v="436" actId="20577"/>
        <pc:sldMkLst>
          <pc:docMk/>
          <pc:sldMk cId="0" sldId="141168962"/>
        </pc:sldMkLst>
        <pc:spChg chg="mod">
          <ac:chgData name="Andres Bernadou" userId="03fff62b-e549-456b-a7f9-42d2972824e9" providerId="ADAL" clId="{0CB13D59-2190-41A4-A0AC-6FE063695352}" dt="2026-06-04T08:44:59.729" v="436" actId="20577"/>
          <ac:spMkLst>
            <pc:docMk/>
            <pc:sldMk cId="0" sldId="141168962"/>
            <ac:spMk id="76" creationId="{1F3D52EF-D177-C240-EF43-0CD3420B3E3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0EBD9D-148E-4070-90BE-731438035BF5}" type="doc">
      <dgm:prSet loTypeId="urn:microsoft.com/office/officeart/2005/8/layout/radial3" loCatId="relationship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s-ES"/>
        </a:p>
      </dgm:t>
    </dgm:pt>
    <dgm:pt modelId="{1D2DFFB7-514C-4EE1-9876-CA6B5B02F3FA}">
      <dgm:prSet phldrT="[Texto]" custT="1"/>
      <dgm:spPr>
        <a:solidFill>
          <a:schemeClr val="bg2">
            <a:alpha val="50000"/>
          </a:schemeClr>
        </a:solidFill>
      </dgm:spPr>
      <dgm:t>
        <a:bodyPr lIns="0" tIns="0" rIns="0" bIns="0" anchor="ctr"/>
        <a:lstStyle/>
        <a:p>
          <a:r>
            <a:rPr lang="en-US" sz="3200" b="1">
              <a:solidFill>
                <a:schemeClr val="bg1"/>
              </a:solidFill>
            </a:rPr>
            <a:t>Design Hub </a:t>
          </a:r>
          <a:endParaRPr lang="es-ES" sz="3200">
            <a:solidFill>
              <a:schemeClr val="bg1"/>
            </a:solidFill>
          </a:endParaRPr>
        </a:p>
      </dgm:t>
    </dgm:pt>
    <dgm:pt modelId="{BD491EB6-5648-4FC2-A63F-EE1C8E6B30AC}" type="parTrans" cxnId="{6569CE11-9A7A-43FB-A443-A2F187419A69}">
      <dgm:prSet/>
      <dgm:spPr/>
      <dgm:t>
        <a:bodyPr/>
        <a:lstStyle/>
        <a:p>
          <a:endParaRPr lang="es-ES"/>
        </a:p>
      </dgm:t>
    </dgm:pt>
    <dgm:pt modelId="{8FF800CC-61E4-4B50-8CA1-4BE26C6FEE0B}" type="sibTrans" cxnId="{6569CE11-9A7A-43FB-A443-A2F187419A69}">
      <dgm:prSet/>
      <dgm:spPr/>
      <dgm:t>
        <a:bodyPr/>
        <a:lstStyle/>
        <a:p>
          <a:endParaRPr lang="es-ES"/>
        </a:p>
      </dgm:t>
    </dgm:pt>
    <dgm:pt modelId="{B02EAD6C-3815-41A2-A484-6ADCAD025AD8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Global </a:t>
          </a:r>
        </a:p>
        <a:p>
          <a:r>
            <a:rPr lang="en-US" sz="1100">
              <a:solidFill>
                <a:schemeClr val="tx2"/>
              </a:solidFill>
            </a:rPr>
            <a:t>Marketing</a:t>
          </a:r>
          <a:endParaRPr lang="es-ES" sz="1100">
            <a:solidFill>
              <a:schemeClr val="tx2"/>
            </a:solidFill>
          </a:endParaRPr>
        </a:p>
      </dgm:t>
    </dgm:pt>
    <dgm:pt modelId="{77E4E640-14B9-47A7-9456-A7F12679EB6F}" type="parTrans" cxnId="{AD7BD09F-5581-4809-9B78-BA27223B8D39}">
      <dgm:prSet/>
      <dgm:spPr/>
      <dgm:t>
        <a:bodyPr/>
        <a:lstStyle/>
        <a:p>
          <a:endParaRPr lang="es-ES"/>
        </a:p>
      </dgm:t>
    </dgm:pt>
    <dgm:pt modelId="{D9B92ABD-98D4-448A-9536-F80A9411F009}" type="sibTrans" cxnId="{AD7BD09F-5581-4809-9B78-BA27223B8D39}">
      <dgm:prSet/>
      <dgm:spPr/>
      <dgm:t>
        <a:bodyPr/>
        <a:lstStyle/>
        <a:p>
          <a:endParaRPr lang="es-ES"/>
        </a:p>
      </dgm:t>
    </dgm:pt>
    <dgm:pt modelId="{1E95DE89-EA4B-4952-A3A8-E6B6106C8088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Local </a:t>
          </a:r>
        </a:p>
        <a:p>
          <a:r>
            <a:rPr lang="en-US" sz="1100">
              <a:solidFill>
                <a:schemeClr val="tx2"/>
              </a:solidFill>
            </a:rPr>
            <a:t>Markets</a:t>
          </a:r>
          <a:endParaRPr lang="es-ES" sz="1100">
            <a:solidFill>
              <a:schemeClr val="tx2"/>
            </a:solidFill>
          </a:endParaRPr>
        </a:p>
      </dgm:t>
    </dgm:pt>
    <dgm:pt modelId="{742BA029-F3CE-42B7-9988-CD68122D880F}" type="parTrans" cxnId="{2CF0C69E-B7F9-4415-A727-A53F16DEBD02}">
      <dgm:prSet/>
      <dgm:spPr/>
      <dgm:t>
        <a:bodyPr/>
        <a:lstStyle/>
        <a:p>
          <a:endParaRPr lang="es-ES"/>
        </a:p>
      </dgm:t>
    </dgm:pt>
    <dgm:pt modelId="{1779618C-A672-471C-AA3F-B4D76E4F1270}" type="sibTrans" cxnId="{2CF0C69E-B7F9-4415-A727-A53F16DEBD02}">
      <dgm:prSet/>
      <dgm:spPr/>
      <dgm:t>
        <a:bodyPr/>
        <a:lstStyle/>
        <a:p>
          <a:endParaRPr lang="es-ES"/>
        </a:p>
      </dgm:t>
    </dgm:pt>
    <dgm:pt modelId="{C47C9E70-8E71-46C2-8B8A-8ACB836CDA20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External </a:t>
          </a:r>
        </a:p>
        <a:p>
          <a:r>
            <a:rPr lang="en-US" sz="1100">
              <a:solidFill>
                <a:schemeClr val="tx2"/>
              </a:solidFill>
            </a:rPr>
            <a:t>Agencies</a:t>
          </a:r>
          <a:endParaRPr lang="es-ES" sz="1100">
            <a:solidFill>
              <a:schemeClr val="tx2"/>
            </a:solidFill>
          </a:endParaRPr>
        </a:p>
      </dgm:t>
    </dgm:pt>
    <dgm:pt modelId="{12164E01-ED22-4C26-8B53-E1A4C550BD52}" type="parTrans" cxnId="{43D9B4BC-B8BB-42B8-A701-A58A6689439A}">
      <dgm:prSet/>
      <dgm:spPr/>
      <dgm:t>
        <a:bodyPr/>
        <a:lstStyle/>
        <a:p>
          <a:endParaRPr lang="es-ES"/>
        </a:p>
      </dgm:t>
    </dgm:pt>
    <dgm:pt modelId="{A6D92D84-4887-4213-925F-7AC1E98C6630}" type="sibTrans" cxnId="{43D9B4BC-B8BB-42B8-A701-A58A6689439A}">
      <dgm:prSet/>
      <dgm:spPr/>
      <dgm:t>
        <a:bodyPr/>
        <a:lstStyle/>
        <a:p>
          <a:endParaRPr lang="es-ES"/>
        </a:p>
      </dgm:t>
    </dgm:pt>
    <dgm:pt modelId="{5C826ACB-1A93-49E8-B044-4B90EF319349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Product and Technical Teams</a:t>
          </a:r>
          <a:endParaRPr lang="es-ES" sz="1100">
            <a:solidFill>
              <a:schemeClr val="tx2"/>
            </a:solidFill>
          </a:endParaRPr>
        </a:p>
      </dgm:t>
    </dgm:pt>
    <dgm:pt modelId="{5DD7791D-A1B1-45F1-A0A6-1B9ACA265A7E}" type="parTrans" cxnId="{23AAD35C-8FDD-45D2-9CEB-4912A86A9D63}">
      <dgm:prSet/>
      <dgm:spPr/>
      <dgm:t>
        <a:bodyPr/>
        <a:lstStyle/>
        <a:p>
          <a:endParaRPr lang="es-ES"/>
        </a:p>
      </dgm:t>
    </dgm:pt>
    <dgm:pt modelId="{3640765B-D5BF-4007-A381-F1A72F87D3A6}" type="sibTrans" cxnId="{23AAD35C-8FDD-45D2-9CEB-4912A86A9D63}">
      <dgm:prSet/>
      <dgm:spPr/>
      <dgm:t>
        <a:bodyPr/>
        <a:lstStyle/>
        <a:p>
          <a:endParaRPr lang="es-ES"/>
        </a:p>
      </dgm:t>
    </dgm:pt>
    <dgm:pt modelId="{CE412E83-3422-45AB-9478-782F19D7BA45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Sustainability</a:t>
          </a:r>
          <a:endParaRPr lang="es-ES" sz="1100">
            <a:solidFill>
              <a:schemeClr val="tx2"/>
            </a:solidFill>
          </a:endParaRPr>
        </a:p>
      </dgm:t>
    </dgm:pt>
    <dgm:pt modelId="{A1D0F5AA-B83C-4206-85CA-C03EBDF1203F}" type="parTrans" cxnId="{1B0532AC-132F-46F8-98B3-17C0D0CF490F}">
      <dgm:prSet/>
      <dgm:spPr/>
      <dgm:t>
        <a:bodyPr/>
        <a:lstStyle/>
        <a:p>
          <a:endParaRPr lang="es-ES"/>
        </a:p>
      </dgm:t>
    </dgm:pt>
    <dgm:pt modelId="{267C9A33-4C93-47C8-B5E4-35C3E67828C4}" type="sibTrans" cxnId="{1B0532AC-132F-46F8-98B3-17C0D0CF490F}">
      <dgm:prSet/>
      <dgm:spPr/>
      <dgm:t>
        <a:bodyPr/>
        <a:lstStyle/>
        <a:p>
          <a:endParaRPr lang="es-ES"/>
        </a:p>
      </dgm:t>
    </dgm:pt>
    <dgm:pt modelId="{5B125F0D-79AB-47C0-B1ED-0E5AE0F0DD3D}">
      <dgm:prSet phldrT="[Texto]" custT="1"/>
      <dgm:spPr/>
      <dgm:t>
        <a:bodyPr lIns="0" tIns="0" rIns="0" bIns="0"/>
        <a:lstStyle/>
        <a:p>
          <a:r>
            <a:rPr lang="en-US" sz="900">
              <a:solidFill>
                <a:schemeClr val="tx2"/>
              </a:solidFill>
            </a:rPr>
            <a:t>Corporate &amp; Internal Communications</a:t>
          </a:r>
          <a:endParaRPr lang="es-ES" sz="900">
            <a:solidFill>
              <a:schemeClr val="tx2"/>
            </a:solidFill>
          </a:endParaRPr>
        </a:p>
      </dgm:t>
    </dgm:pt>
    <dgm:pt modelId="{B862775B-F07A-4266-AE73-B6E39E13B92C}" type="parTrans" cxnId="{AD10802D-341E-4806-A0BF-735B178D0984}">
      <dgm:prSet/>
      <dgm:spPr/>
      <dgm:t>
        <a:bodyPr/>
        <a:lstStyle/>
        <a:p>
          <a:endParaRPr lang="es-ES"/>
        </a:p>
      </dgm:t>
    </dgm:pt>
    <dgm:pt modelId="{30AF9091-1001-49D8-B87D-BE9E2504BC2E}" type="sibTrans" cxnId="{AD10802D-341E-4806-A0BF-735B178D0984}">
      <dgm:prSet/>
      <dgm:spPr/>
      <dgm:t>
        <a:bodyPr/>
        <a:lstStyle/>
        <a:p>
          <a:endParaRPr lang="es-ES"/>
        </a:p>
      </dgm:t>
    </dgm:pt>
    <dgm:pt modelId="{5123B6B1-0F18-4F1A-B6BF-C83247B29B1C}">
      <dgm:prSet phldrT="[Texto]" phldr="0" custT="1"/>
      <dgm:spPr/>
      <dgm:t>
        <a:bodyPr/>
        <a:lstStyle/>
        <a:p>
          <a:r>
            <a:rPr lang="es-ES" sz="1050">
              <a:solidFill>
                <a:schemeClr val="tx2"/>
              </a:solidFill>
            </a:rPr>
            <a:t>AQ1</a:t>
          </a:r>
        </a:p>
      </dgm:t>
    </dgm:pt>
    <dgm:pt modelId="{73A5445C-F2E3-4919-B94C-3E0BECE87B34}" type="parTrans" cxnId="{2681E8F7-A2A8-4E13-9DBA-875C49EF7C6D}">
      <dgm:prSet/>
      <dgm:spPr/>
      <dgm:t>
        <a:bodyPr/>
        <a:lstStyle/>
        <a:p>
          <a:endParaRPr lang="es-ES"/>
        </a:p>
      </dgm:t>
    </dgm:pt>
    <dgm:pt modelId="{5387F1C7-96F5-4FC9-9A27-232361AD45C2}" type="sibTrans" cxnId="{2681E8F7-A2A8-4E13-9DBA-875C49EF7C6D}">
      <dgm:prSet/>
      <dgm:spPr/>
      <dgm:t>
        <a:bodyPr/>
        <a:lstStyle/>
        <a:p>
          <a:endParaRPr lang="es-ES"/>
        </a:p>
      </dgm:t>
    </dgm:pt>
    <dgm:pt modelId="{A5E7C116-E4B5-40D9-8C81-5CFD37039706}" type="pres">
      <dgm:prSet presAssocID="{2A0EBD9D-148E-4070-90BE-731438035BF5}" presName="composite" presStyleCnt="0">
        <dgm:presLayoutVars>
          <dgm:chMax val="1"/>
          <dgm:dir/>
          <dgm:resizeHandles val="exact"/>
        </dgm:presLayoutVars>
      </dgm:prSet>
      <dgm:spPr/>
    </dgm:pt>
    <dgm:pt modelId="{942B896E-785B-4D94-B219-3AA5960F45AD}" type="pres">
      <dgm:prSet presAssocID="{2A0EBD9D-148E-4070-90BE-731438035BF5}" presName="radial" presStyleCnt="0">
        <dgm:presLayoutVars>
          <dgm:animLvl val="ctr"/>
        </dgm:presLayoutVars>
      </dgm:prSet>
      <dgm:spPr/>
    </dgm:pt>
    <dgm:pt modelId="{E49261D8-CE2A-4BF6-9DDF-13218E2D77FE}" type="pres">
      <dgm:prSet presAssocID="{1D2DFFB7-514C-4EE1-9876-CA6B5B02F3FA}" presName="centerShape" presStyleLbl="vennNode1" presStyleIdx="0" presStyleCnt="8" custScaleX="75132" custScaleY="75132"/>
      <dgm:spPr/>
    </dgm:pt>
    <dgm:pt modelId="{0E4633B7-14D8-49E4-9452-F95D5081FEED}" type="pres">
      <dgm:prSet presAssocID="{B02EAD6C-3815-41A2-A484-6ADCAD025AD8}" presName="node" presStyleLbl="vennNode1" presStyleIdx="1" presStyleCnt="8">
        <dgm:presLayoutVars>
          <dgm:bulletEnabled val="1"/>
        </dgm:presLayoutVars>
      </dgm:prSet>
      <dgm:spPr/>
    </dgm:pt>
    <dgm:pt modelId="{CEAB3872-B4BA-431E-9ED7-EC191A6ECEB1}" type="pres">
      <dgm:prSet presAssocID="{1E95DE89-EA4B-4952-A3A8-E6B6106C8088}" presName="node" presStyleLbl="vennNode1" presStyleIdx="2" presStyleCnt="8">
        <dgm:presLayoutVars>
          <dgm:bulletEnabled val="1"/>
        </dgm:presLayoutVars>
      </dgm:prSet>
      <dgm:spPr/>
    </dgm:pt>
    <dgm:pt modelId="{98C0CFDC-9951-4FBC-877D-99F12FF25858}" type="pres">
      <dgm:prSet presAssocID="{CE412E83-3422-45AB-9478-782F19D7BA45}" presName="node" presStyleLbl="vennNode1" presStyleIdx="3" presStyleCnt="8">
        <dgm:presLayoutVars>
          <dgm:bulletEnabled val="1"/>
        </dgm:presLayoutVars>
      </dgm:prSet>
      <dgm:spPr/>
    </dgm:pt>
    <dgm:pt modelId="{E1AC6CF1-C72E-43F1-A5C8-DC7B34AA5D3C}" type="pres">
      <dgm:prSet presAssocID="{5123B6B1-0F18-4F1A-B6BF-C83247B29B1C}" presName="node" presStyleLbl="vennNode1" presStyleIdx="4" presStyleCnt="8">
        <dgm:presLayoutVars>
          <dgm:bulletEnabled val="1"/>
        </dgm:presLayoutVars>
      </dgm:prSet>
      <dgm:spPr/>
    </dgm:pt>
    <dgm:pt modelId="{F481AD7B-B1CD-4952-AE02-037138051AB8}" type="pres">
      <dgm:prSet presAssocID="{5B125F0D-79AB-47C0-B1ED-0E5AE0F0DD3D}" presName="node" presStyleLbl="vennNode1" presStyleIdx="5" presStyleCnt="8">
        <dgm:presLayoutVars>
          <dgm:bulletEnabled val="1"/>
        </dgm:presLayoutVars>
      </dgm:prSet>
      <dgm:spPr/>
    </dgm:pt>
    <dgm:pt modelId="{7CCD1EB6-9B92-4AD9-96A5-22F41BE00466}" type="pres">
      <dgm:prSet presAssocID="{C47C9E70-8E71-46C2-8B8A-8ACB836CDA20}" presName="node" presStyleLbl="vennNode1" presStyleIdx="6" presStyleCnt="8">
        <dgm:presLayoutVars>
          <dgm:bulletEnabled val="1"/>
        </dgm:presLayoutVars>
      </dgm:prSet>
      <dgm:spPr/>
    </dgm:pt>
    <dgm:pt modelId="{E5886B69-7FA5-4EEF-B97E-2743F0766AB0}" type="pres">
      <dgm:prSet presAssocID="{5C826ACB-1A93-49E8-B044-4B90EF319349}" presName="node" presStyleLbl="vennNode1" presStyleIdx="7" presStyleCnt="8">
        <dgm:presLayoutVars>
          <dgm:bulletEnabled val="1"/>
        </dgm:presLayoutVars>
      </dgm:prSet>
      <dgm:spPr/>
    </dgm:pt>
  </dgm:ptLst>
  <dgm:cxnLst>
    <dgm:cxn modelId="{55325F01-1CB9-4108-937D-186E1B2256F5}" type="presOf" srcId="{5123B6B1-0F18-4F1A-B6BF-C83247B29B1C}" destId="{E1AC6CF1-C72E-43F1-A5C8-DC7B34AA5D3C}" srcOrd="0" destOrd="0" presId="urn:microsoft.com/office/officeart/2005/8/layout/radial3"/>
    <dgm:cxn modelId="{097F6C02-BEB0-46AA-831E-356A6CFC0E53}" type="presOf" srcId="{5C826ACB-1A93-49E8-B044-4B90EF319349}" destId="{E5886B69-7FA5-4EEF-B97E-2743F0766AB0}" srcOrd="0" destOrd="0" presId="urn:microsoft.com/office/officeart/2005/8/layout/radial3"/>
    <dgm:cxn modelId="{6569CE11-9A7A-43FB-A443-A2F187419A69}" srcId="{2A0EBD9D-148E-4070-90BE-731438035BF5}" destId="{1D2DFFB7-514C-4EE1-9876-CA6B5B02F3FA}" srcOrd="0" destOrd="0" parTransId="{BD491EB6-5648-4FC2-A63F-EE1C8E6B30AC}" sibTransId="{8FF800CC-61E4-4B50-8CA1-4BE26C6FEE0B}"/>
    <dgm:cxn modelId="{32464621-D986-47B4-9BA5-04BDE825790F}" type="presOf" srcId="{5B125F0D-79AB-47C0-B1ED-0E5AE0F0DD3D}" destId="{F481AD7B-B1CD-4952-AE02-037138051AB8}" srcOrd="0" destOrd="0" presId="urn:microsoft.com/office/officeart/2005/8/layout/radial3"/>
    <dgm:cxn modelId="{AD10802D-341E-4806-A0BF-735B178D0984}" srcId="{1D2DFFB7-514C-4EE1-9876-CA6B5B02F3FA}" destId="{5B125F0D-79AB-47C0-B1ED-0E5AE0F0DD3D}" srcOrd="4" destOrd="0" parTransId="{B862775B-F07A-4266-AE73-B6E39E13B92C}" sibTransId="{30AF9091-1001-49D8-B87D-BE9E2504BC2E}"/>
    <dgm:cxn modelId="{CDE0473D-06A1-4BCC-A1BB-599FA983D10C}" type="presOf" srcId="{2A0EBD9D-148E-4070-90BE-731438035BF5}" destId="{A5E7C116-E4B5-40D9-8C81-5CFD37039706}" srcOrd="0" destOrd="0" presId="urn:microsoft.com/office/officeart/2005/8/layout/radial3"/>
    <dgm:cxn modelId="{23AAD35C-8FDD-45D2-9CEB-4912A86A9D63}" srcId="{1D2DFFB7-514C-4EE1-9876-CA6B5B02F3FA}" destId="{5C826ACB-1A93-49E8-B044-4B90EF319349}" srcOrd="6" destOrd="0" parTransId="{5DD7791D-A1B1-45F1-A0A6-1B9ACA265A7E}" sibTransId="{3640765B-D5BF-4007-A381-F1A72F87D3A6}"/>
    <dgm:cxn modelId="{A75AA26C-679A-4FA3-840F-6FE173C8BC30}" type="presOf" srcId="{1D2DFFB7-514C-4EE1-9876-CA6B5B02F3FA}" destId="{E49261D8-CE2A-4BF6-9DDF-13218E2D77FE}" srcOrd="0" destOrd="0" presId="urn:microsoft.com/office/officeart/2005/8/layout/radial3"/>
    <dgm:cxn modelId="{3FFEAA89-E7DE-4029-9A06-261E184208E8}" type="presOf" srcId="{C47C9E70-8E71-46C2-8B8A-8ACB836CDA20}" destId="{7CCD1EB6-9B92-4AD9-96A5-22F41BE00466}" srcOrd="0" destOrd="0" presId="urn:microsoft.com/office/officeart/2005/8/layout/radial3"/>
    <dgm:cxn modelId="{83F92D91-EF3D-4FFB-9994-9069581C548D}" type="presOf" srcId="{1E95DE89-EA4B-4952-A3A8-E6B6106C8088}" destId="{CEAB3872-B4BA-431E-9ED7-EC191A6ECEB1}" srcOrd="0" destOrd="0" presId="urn:microsoft.com/office/officeart/2005/8/layout/radial3"/>
    <dgm:cxn modelId="{2CF0C69E-B7F9-4415-A727-A53F16DEBD02}" srcId="{1D2DFFB7-514C-4EE1-9876-CA6B5B02F3FA}" destId="{1E95DE89-EA4B-4952-A3A8-E6B6106C8088}" srcOrd="1" destOrd="0" parTransId="{742BA029-F3CE-42B7-9988-CD68122D880F}" sibTransId="{1779618C-A672-471C-AA3F-B4D76E4F1270}"/>
    <dgm:cxn modelId="{AD7BD09F-5581-4809-9B78-BA27223B8D39}" srcId="{1D2DFFB7-514C-4EE1-9876-CA6B5B02F3FA}" destId="{B02EAD6C-3815-41A2-A484-6ADCAD025AD8}" srcOrd="0" destOrd="0" parTransId="{77E4E640-14B9-47A7-9456-A7F12679EB6F}" sibTransId="{D9B92ABD-98D4-448A-9536-F80A9411F009}"/>
    <dgm:cxn modelId="{1B0532AC-132F-46F8-98B3-17C0D0CF490F}" srcId="{1D2DFFB7-514C-4EE1-9876-CA6B5B02F3FA}" destId="{CE412E83-3422-45AB-9478-782F19D7BA45}" srcOrd="2" destOrd="0" parTransId="{A1D0F5AA-B83C-4206-85CA-C03EBDF1203F}" sibTransId="{267C9A33-4C93-47C8-B5E4-35C3E67828C4}"/>
    <dgm:cxn modelId="{9F39DCB8-CB77-4ECD-BA0D-60467C1F9D9E}" type="presOf" srcId="{CE412E83-3422-45AB-9478-782F19D7BA45}" destId="{98C0CFDC-9951-4FBC-877D-99F12FF25858}" srcOrd="0" destOrd="0" presId="urn:microsoft.com/office/officeart/2005/8/layout/radial3"/>
    <dgm:cxn modelId="{43D9B4BC-B8BB-42B8-A701-A58A6689439A}" srcId="{1D2DFFB7-514C-4EE1-9876-CA6B5B02F3FA}" destId="{C47C9E70-8E71-46C2-8B8A-8ACB836CDA20}" srcOrd="5" destOrd="0" parTransId="{12164E01-ED22-4C26-8B53-E1A4C550BD52}" sibTransId="{A6D92D84-4887-4213-925F-7AC1E98C6630}"/>
    <dgm:cxn modelId="{85653DE0-E667-4941-99EA-9EC041ACB501}" type="presOf" srcId="{B02EAD6C-3815-41A2-A484-6ADCAD025AD8}" destId="{0E4633B7-14D8-49E4-9452-F95D5081FEED}" srcOrd="0" destOrd="0" presId="urn:microsoft.com/office/officeart/2005/8/layout/radial3"/>
    <dgm:cxn modelId="{2681E8F7-A2A8-4E13-9DBA-875C49EF7C6D}" srcId="{1D2DFFB7-514C-4EE1-9876-CA6B5B02F3FA}" destId="{5123B6B1-0F18-4F1A-B6BF-C83247B29B1C}" srcOrd="3" destOrd="0" parTransId="{73A5445C-F2E3-4919-B94C-3E0BECE87B34}" sibTransId="{5387F1C7-96F5-4FC9-9A27-232361AD45C2}"/>
    <dgm:cxn modelId="{2FA4119A-97AA-4742-997E-3CA5652134E1}" type="presParOf" srcId="{A5E7C116-E4B5-40D9-8C81-5CFD37039706}" destId="{942B896E-785B-4D94-B219-3AA5960F45AD}" srcOrd="0" destOrd="0" presId="urn:microsoft.com/office/officeart/2005/8/layout/radial3"/>
    <dgm:cxn modelId="{7491D532-61B2-495A-B2B0-840B9D7985BE}" type="presParOf" srcId="{942B896E-785B-4D94-B219-3AA5960F45AD}" destId="{E49261D8-CE2A-4BF6-9DDF-13218E2D77FE}" srcOrd="0" destOrd="0" presId="urn:microsoft.com/office/officeart/2005/8/layout/radial3"/>
    <dgm:cxn modelId="{81902DEF-A240-42A7-AC65-BC08DC6B1B31}" type="presParOf" srcId="{942B896E-785B-4D94-B219-3AA5960F45AD}" destId="{0E4633B7-14D8-49E4-9452-F95D5081FEED}" srcOrd="1" destOrd="0" presId="urn:microsoft.com/office/officeart/2005/8/layout/radial3"/>
    <dgm:cxn modelId="{8B45CA9C-3FC2-4845-82A9-F17103926A5A}" type="presParOf" srcId="{942B896E-785B-4D94-B219-3AA5960F45AD}" destId="{CEAB3872-B4BA-431E-9ED7-EC191A6ECEB1}" srcOrd="2" destOrd="0" presId="urn:microsoft.com/office/officeart/2005/8/layout/radial3"/>
    <dgm:cxn modelId="{BEE0A940-3A2C-4871-9145-FF42A33CE195}" type="presParOf" srcId="{942B896E-785B-4D94-B219-3AA5960F45AD}" destId="{98C0CFDC-9951-4FBC-877D-99F12FF25858}" srcOrd="3" destOrd="0" presId="urn:microsoft.com/office/officeart/2005/8/layout/radial3"/>
    <dgm:cxn modelId="{3E07B70A-E073-4FBF-A327-46245CED5C08}" type="presParOf" srcId="{942B896E-785B-4D94-B219-3AA5960F45AD}" destId="{E1AC6CF1-C72E-43F1-A5C8-DC7B34AA5D3C}" srcOrd="4" destOrd="0" presId="urn:microsoft.com/office/officeart/2005/8/layout/radial3"/>
    <dgm:cxn modelId="{6AA6E1F3-9CBB-4EE5-8460-2DAD20751112}" type="presParOf" srcId="{942B896E-785B-4D94-B219-3AA5960F45AD}" destId="{F481AD7B-B1CD-4952-AE02-037138051AB8}" srcOrd="5" destOrd="0" presId="urn:microsoft.com/office/officeart/2005/8/layout/radial3"/>
    <dgm:cxn modelId="{DD95CFC1-EF45-4CF2-9581-A828BB111DCF}" type="presParOf" srcId="{942B896E-785B-4D94-B219-3AA5960F45AD}" destId="{7CCD1EB6-9B92-4AD9-96A5-22F41BE00466}" srcOrd="6" destOrd="0" presId="urn:microsoft.com/office/officeart/2005/8/layout/radial3"/>
    <dgm:cxn modelId="{4D4CD499-E499-4A25-856A-9C505DECC333}" type="presParOf" srcId="{942B896E-785B-4D94-B219-3AA5960F45AD}" destId="{E5886B69-7FA5-4EEF-B97E-2743F0766AB0}" srcOrd="7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9261D8-CE2A-4BF6-9DDF-13218E2D77FE}">
      <dsp:nvSpPr>
        <dsp:cNvPr id="0" name=""/>
        <dsp:cNvSpPr/>
      </dsp:nvSpPr>
      <dsp:spPr>
        <a:xfrm>
          <a:off x="1631109" y="1424981"/>
          <a:ext cx="1973787" cy="1973787"/>
        </a:xfrm>
        <a:prstGeom prst="ellipse">
          <a:avLst/>
        </a:prstGeom>
        <a:solidFill>
          <a:schemeClr val="bg2"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>
              <a:solidFill>
                <a:schemeClr val="bg1"/>
              </a:solidFill>
            </a:rPr>
            <a:t>Design Hub </a:t>
          </a:r>
          <a:endParaRPr lang="es-ES" sz="3200" kern="1200">
            <a:solidFill>
              <a:schemeClr val="bg1"/>
            </a:solidFill>
          </a:endParaRPr>
        </a:p>
      </dsp:txBody>
      <dsp:txXfrm>
        <a:off x="1920163" y="1714035"/>
        <a:ext cx="1395679" cy="1395679"/>
      </dsp:txXfrm>
    </dsp:sp>
    <dsp:sp modelId="{0E4633B7-14D8-49E4-9452-F95D5081FEED}">
      <dsp:nvSpPr>
        <dsp:cNvPr id="0" name=""/>
        <dsp:cNvSpPr/>
      </dsp:nvSpPr>
      <dsp:spPr>
        <a:xfrm>
          <a:off x="1961229" y="4329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3"/>
            <a:satOff val="3376"/>
            <a:lumOff val="1149"/>
            <a:alphaOff val="4286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Global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Marketing</a:t>
          </a:r>
          <a:endParaRPr lang="es-ES" sz="1100" kern="1200">
            <a:solidFill>
              <a:schemeClr val="tx2"/>
            </a:solidFill>
          </a:endParaRPr>
        </a:p>
      </dsp:txBody>
      <dsp:txXfrm>
        <a:off x="2153593" y="235658"/>
        <a:ext cx="928818" cy="928818"/>
      </dsp:txXfrm>
    </dsp:sp>
    <dsp:sp modelId="{CEAB3872-B4BA-431E-9ED7-EC191A6ECEB1}">
      <dsp:nvSpPr>
        <dsp:cNvPr id="0" name=""/>
        <dsp:cNvSpPr/>
      </dsp:nvSpPr>
      <dsp:spPr>
        <a:xfrm>
          <a:off x="3299574" y="687807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5"/>
            <a:satOff val="6753"/>
            <a:lumOff val="2298"/>
            <a:alphaOff val="8571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Local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Markets</a:t>
          </a:r>
          <a:endParaRPr lang="es-ES" sz="1100" kern="1200">
            <a:solidFill>
              <a:schemeClr val="tx2"/>
            </a:solidFill>
          </a:endParaRPr>
        </a:p>
      </dsp:txBody>
      <dsp:txXfrm>
        <a:off x="3491938" y="880171"/>
        <a:ext cx="928818" cy="928818"/>
      </dsp:txXfrm>
    </dsp:sp>
    <dsp:sp modelId="{98C0CFDC-9951-4FBC-877D-99F12FF25858}">
      <dsp:nvSpPr>
        <dsp:cNvPr id="0" name=""/>
        <dsp:cNvSpPr/>
      </dsp:nvSpPr>
      <dsp:spPr>
        <a:xfrm>
          <a:off x="3630118" y="213601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8"/>
            <a:satOff val="10129"/>
            <a:lumOff val="3447"/>
            <a:alphaOff val="1285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Sustainability</a:t>
          </a:r>
          <a:endParaRPr lang="es-ES" sz="1100" kern="1200">
            <a:solidFill>
              <a:schemeClr val="tx2"/>
            </a:solidFill>
          </a:endParaRPr>
        </a:p>
      </dsp:txBody>
      <dsp:txXfrm>
        <a:off x="3822482" y="2328378"/>
        <a:ext cx="928818" cy="928818"/>
      </dsp:txXfrm>
    </dsp:sp>
    <dsp:sp modelId="{E1AC6CF1-C72E-43F1-A5C8-DC7B34AA5D3C}">
      <dsp:nvSpPr>
        <dsp:cNvPr id="0" name=""/>
        <dsp:cNvSpPr/>
      </dsp:nvSpPr>
      <dsp:spPr>
        <a:xfrm>
          <a:off x="2703955" y="3297386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0"/>
            <a:satOff val="13505"/>
            <a:lumOff val="4597"/>
            <a:alphaOff val="1714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50" kern="1200">
              <a:solidFill>
                <a:schemeClr val="tx2"/>
              </a:solidFill>
            </a:rPr>
            <a:t>AQ1</a:t>
          </a:r>
        </a:p>
      </dsp:txBody>
      <dsp:txXfrm>
        <a:off x="2896319" y="3489750"/>
        <a:ext cx="928818" cy="928818"/>
      </dsp:txXfrm>
    </dsp:sp>
    <dsp:sp modelId="{F481AD7B-B1CD-4952-AE02-037138051AB8}">
      <dsp:nvSpPr>
        <dsp:cNvPr id="0" name=""/>
        <dsp:cNvSpPr/>
      </dsp:nvSpPr>
      <dsp:spPr>
        <a:xfrm>
          <a:off x="1218504" y="3297386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3"/>
            <a:satOff val="16881"/>
            <a:lumOff val="5746"/>
            <a:alphaOff val="21429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schemeClr val="tx2"/>
              </a:solidFill>
            </a:rPr>
            <a:t>Corporate &amp; Internal Communications</a:t>
          </a:r>
          <a:endParaRPr lang="es-ES" sz="900" kern="1200">
            <a:solidFill>
              <a:schemeClr val="tx2"/>
            </a:solidFill>
          </a:endParaRPr>
        </a:p>
      </dsp:txBody>
      <dsp:txXfrm>
        <a:off x="1410868" y="3489750"/>
        <a:ext cx="928818" cy="928818"/>
      </dsp:txXfrm>
    </dsp:sp>
    <dsp:sp modelId="{7CCD1EB6-9B92-4AD9-96A5-22F41BE00466}">
      <dsp:nvSpPr>
        <dsp:cNvPr id="0" name=""/>
        <dsp:cNvSpPr/>
      </dsp:nvSpPr>
      <dsp:spPr>
        <a:xfrm>
          <a:off x="292340" y="213601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6"/>
            <a:satOff val="20258"/>
            <a:lumOff val="6895"/>
            <a:alphaOff val="25714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External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Agencies</a:t>
          </a:r>
          <a:endParaRPr lang="es-ES" sz="1100" kern="1200">
            <a:solidFill>
              <a:schemeClr val="tx2"/>
            </a:solidFill>
          </a:endParaRPr>
        </a:p>
      </dsp:txBody>
      <dsp:txXfrm>
        <a:off x="484704" y="2328378"/>
        <a:ext cx="928818" cy="928818"/>
      </dsp:txXfrm>
    </dsp:sp>
    <dsp:sp modelId="{E5886B69-7FA5-4EEF-B97E-2743F0766AB0}">
      <dsp:nvSpPr>
        <dsp:cNvPr id="0" name=""/>
        <dsp:cNvSpPr/>
      </dsp:nvSpPr>
      <dsp:spPr>
        <a:xfrm>
          <a:off x="622884" y="687807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8"/>
            <a:satOff val="23634"/>
            <a:lumOff val="8044"/>
            <a:alphaOff val="3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Product and Technical Teams</a:t>
          </a:r>
          <a:endParaRPr lang="es-ES" sz="1100" kern="1200">
            <a:solidFill>
              <a:schemeClr val="tx2"/>
            </a:solidFill>
          </a:endParaRPr>
        </a:p>
      </dsp:txBody>
      <dsp:txXfrm>
        <a:off x="815248" y="880171"/>
        <a:ext cx="928818" cy="9288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957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945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 + 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224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9805-C7E8-1176-A581-D24F5575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9F331-435E-C75C-E370-767B23E61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D2248-4676-2C6B-C1BD-BF225F5F0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4260-1EBF-344F-6DAD-2ECF8D071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122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641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395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299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Intangible </a:t>
            </a:r>
            <a:r>
              <a:rPr lang="es-ES" dirty="0" err="1"/>
              <a:t>part</a:t>
            </a:r>
            <a:endParaRPr lang="es-ES" dirty="0"/>
          </a:p>
          <a:p>
            <a:r>
              <a:rPr lang="es-ES" dirty="0" err="1"/>
              <a:t>Concepts</a:t>
            </a:r>
            <a:r>
              <a:rPr lang="es-ES" dirty="0"/>
              <a:t> </a:t>
            </a:r>
            <a:r>
              <a:rPr lang="es-ES" dirty="0" err="1"/>
              <a:t>meaning</a:t>
            </a:r>
            <a:r>
              <a:rPr lang="es-ES" dirty="0"/>
              <a:t> branding and look and </a:t>
            </a:r>
            <a:r>
              <a:rPr lang="es-ES" dirty="0" err="1"/>
              <a:t>feel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prodcuts</a:t>
            </a:r>
            <a:r>
              <a:rPr lang="es-ES" dirty="0"/>
              <a:t> and </a:t>
            </a:r>
            <a:r>
              <a:rPr lang="es-ES" dirty="0" err="1"/>
              <a:t>services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137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partiría con el usuario, o sea ustedes, rellenando formulario con la información necesaria, y enviarlo al correo de diseño. Para este formulario hay un </a:t>
            </a:r>
            <a:r>
              <a:rPr lang="es-ES" err="1"/>
              <a:t>template</a:t>
            </a:r>
            <a:r>
              <a:rPr lang="es-ES"/>
              <a:t> en </a:t>
            </a:r>
            <a:r>
              <a:rPr lang="es-ES" err="1"/>
              <a:t>power</a:t>
            </a:r>
            <a:r>
              <a:rPr lang="es-ES"/>
              <a:t> </a:t>
            </a:r>
            <a:r>
              <a:rPr lang="es-ES" err="1"/>
              <a:t>point</a:t>
            </a:r>
            <a:r>
              <a:rPr lang="es-ES"/>
              <a:t>, que les mostrare más adelante.</a:t>
            </a:r>
          </a:p>
          <a:p>
            <a:endParaRPr lang="es-ES"/>
          </a:p>
          <a:p>
            <a:r>
              <a:rPr lang="es-ES"/>
              <a:t>Luego, nosotros como </a:t>
            </a:r>
            <a:r>
              <a:rPr lang="es-ES" err="1"/>
              <a:t>Design</a:t>
            </a:r>
            <a:r>
              <a:rPr lang="es-ES"/>
              <a:t> Hub tomamos la solicitud, la revisamos, la agregamos a nuestras tareas, y de ser necesario, pedimos información faltante o aclarar alguna duda.</a:t>
            </a:r>
          </a:p>
          <a:p>
            <a:endParaRPr lang="es-ES"/>
          </a:p>
          <a:p>
            <a:r>
              <a:rPr lang="es-ES"/>
              <a:t>Posteriormente, enviamos el borrador dentro de la misma línea de correos. Y se recibirá retroalimentación dentro de la misma.</a:t>
            </a:r>
          </a:p>
          <a:p>
            <a:endParaRPr lang="es-ES"/>
          </a:p>
          <a:p>
            <a:r>
              <a:rPr lang="es-ES"/>
              <a:t>Así, se harán los ajustes basados en el </a:t>
            </a:r>
            <a:r>
              <a:rPr lang="es-ES" err="1"/>
              <a:t>feedback</a:t>
            </a:r>
            <a:r>
              <a:rPr lang="es-ES"/>
              <a:t>, y se enviará la versión final.</a:t>
            </a:r>
          </a:p>
          <a:p>
            <a:endParaRPr lang="es-ES"/>
          </a:p>
          <a:p>
            <a:r>
              <a:rPr lang="es-ES"/>
              <a:t>Al ser aprobado, es necesario informarle al </a:t>
            </a:r>
            <a:r>
              <a:rPr lang="es-ES" err="1"/>
              <a:t>Design</a:t>
            </a:r>
            <a:r>
              <a:rPr lang="es-ES"/>
              <a:t> Hub, para que luego la tarea pueda ser marcada como completada.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784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838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8F0D8-4C98-2DB9-2A6F-3089E9639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8EA15-06FF-B207-2B0A-6F740F38892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da-DK" dirty="0"/>
              <a:t>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829C6-C373-93CB-C9C7-DD119AC880B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34D6EE3-4212-4D31-9F8D-4D6C0DEAA356}" type="slidenum">
              <a:t>11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5619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4683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IS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err="1"/>
              <a:t>Managing</a:t>
            </a:r>
            <a:r>
              <a:rPr lang="es-ES" dirty="0"/>
              <a:t> Brand </a:t>
            </a:r>
            <a:r>
              <a:rPr lang="es-ES" dirty="0" err="1"/>
              <a:t>Evolution</a:t>
            </a:r>
            <a:endParaRPr lang="es-ES" dirty="0"/>
          </a:p>
          <a:p>
            <a:r>
              <a:rPr lang="en-US" dirty="0"/>
              <a:t>Talking points:</a:t>
            </a:r>
          </a:p>
          <a:p>
            <a:pPr lvl="1"/>
            <a:r>
              <a:rPr lang="en-US" dirty="0"/>
              <a:t>Recent logo update/rebranding initiative</a:t>
            </a:r>
          </a:p>
          <a:p>
            <a:pPr lvl="1"/>
            <a:r>
              <a:rPr lang="en-US" dirty="0"/>
              <a:t>Importance of maintaining consistency during transition</a:t>
            </a:r>
          </a:p>
          <a:p>
            <a:pPr lvl="1"/>
            <a:r>
              <a:rPr lang="en-US" dirty="0"/>
              <a:t>Roll-out across markets and materials</a:t>
            </a:r>
          </a:p>
          <a:p>
            <a:pPr lvl="1"/>
            <a:r>
              <a:rPr lang="en-US" dirty="0"/>
              <a:t>Updating templates, assets, documents, presentations, videos, and platforms</a:t>
            </a:r>
          </a:p>
          <a:p>
            <a:pPr lvl="1"/>
            <a:r>
              <a:rPr lang="en-US" dirty="0"/>
              <a:t>Coordination across departments and external suppliers</a:t>
            </a:r>
          </a:p>
          <a:p>
            <a:pPr lvl="1"/>
            <a:r>
              <a:rPr lang="en-US" dirty="0"/>
              <a:t>Design logistics behind implementation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396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6337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282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03/07/2026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03/07/2026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2FA4-4804-46F1-9D25-C27C4B1804A8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004182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1511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  <p:sldLayoutId id="2147483676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sv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696823D9-E1F0-2B87-47F5-7154B7B925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7F853834-C81A-BA46-FBA8-0503B1D7A746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>
                <a:solidFill>
                  <a:schemeClr val="bg2"/>
                </a:solidFill>
              </a:rPr>
              <a:t>A Centralized Creative &amp; Brand Support Function</a:t>
            </a:r>
          </a:p>
          <a:p>
            <a:r>
              <a:rPr lang="en-US"/>
              <a:t>Supports both global and local communication needs</a:t>
            </a:r>
          </a:p>
          <a:p>
            <a:r>
              <a:rPr lang="en-US"/>
              <a:t>Ensures brand consistency across markets and channels</a:t>
            </a:r>
          </a:p>
          <a:p>
            <a:r>
              <a:rPr lang="en-US"/>
              <a:t>Provides strategic and operational design support</a:t>
            </a:r>
          </a:p>
          <a:p>
            <a:r>
              <a:rPr lang="en-US"/>
              <a:t>Cross-functional collaboration with marketing, sustainability, corporate, product and technical teams, as well as external partners</a:t>
            </a:r>
          </a:p>
          <a:p>
            <a:r>
              <a:rPr lang="en-US"/>
              <a:t>Combines creative execution, brand governance and technical technology-based knowledge</a:t>
            </a:r>
            <a:endParaRPr lang="es-E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8E7A77D-9E3C-271D-DF3E-910E54F83F4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</a:t>
            </a:fld>
            <a:endParaRPr lang="en-GB" noProof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7981F80C-B6D5-B035-CF1B-0925E1E85ABF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544A888-3159-2195-490A-0B7EF3049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What</a:t>
            </a:r>
            <a:r>
              <a:rPr lang="es-ES"/>
              <a:t> </a:t>
            </a:r>
            <a:r>
              <a:rPr lang="es-ES" err="1"/>
              <a:t>is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Design</a:t>
            </a:r>
            <a:r>
              <a:rPr lang="es-ES"/>
              <a:t> Hub?</a:t>
            </a:r>
          </a:p>
        </p:txBody>
      </p:sp>
      <p:graphicFrame>
        <p:nvGraphicFramePr>
          <p:cNvPr id="12" name="Diagrama 11">
            <a:extLst>
              <a:ext uri="{FF2B5EF4-FFF2-40B4-BE49-F238E27FC236}">
                <a16:creationId xmlns:a16="http://schemas.microsoft.com/office/drawing/2014/main" id="{61DB4B71-9849-3309-5BB0-4F4A8F43A3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8848530"/>
              </p:ext>
            </p:extLst>
          </p:nvPr>
        </p:nvGraphicFramePr>
        <p:xfrm>
          <a:off x="453200" y="1101886"/>
          <a:ext cx="5236006" cy="4654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50698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2E6567F-91A0-8FA3-6DAF-AA364A6FF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7892" y="3453738"/>
            <a:ext cx="5592000" cy="297226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ES" sz="2000"/>
              <a:t>2 Years at </a:t>
            </a:r>
            <a:r>
              <a:rPr lang="es-ES" sz="2000" err="1"/>
              <a:t>BioMar</a:t>
            </a:r>
            <a:r>
              <a:rPr lang="es-ES" sz="2000"/>
              <a:t> </a:t>
            </a:r>
          </a:p>
          <a:p>
            <a:pPr>
              <a:spcAft>
                <a:spcPts val="600"/>
              </a:spcAft>
            </a:pPr>
            <a:r>
              <a:rPr lang="es-ES" sz="2000"/>
              <a:t>Video &amp; digital Design (</a:t>
            </a:r>
            <a:r>
              <a:rPr lang="es-ES" sz="2000" err="1"/>
              <a:t>External</a:t>
            </a:r>
            <a:r>
              <a:rPr lang="es-ES" sz="2000"/>
              <a:t> and </a:t>
            </a:r>
            <a:r>
              <a:rPr lang="es-ES" sz="2000" err="1"/>
              <a:t>Internal</a:t>
            </a:r>
            <a:r>
              <a:rPr lang="es-ES" sz="2000"/>
              <a:t>)</a:t>
            </a:r>
          </a:p>
          <a:p>
            <a:pPr>
              <a:spcAft>
                <a:spcPts val="600"/>
              </a:spcAft>
            </a:pPr>
            <a:r>
              <a:rPr lang="es-ES" sz="2000" err="1"/>
              <a:t>Supporting</a:t>
            </a:r>
            <a:r>
              <a:rPr lang="es-ES" sz="2000"/>
              <a:t> </a:t>
            </a:r>
            <a:r>
              <a:rPr lang="es-ES" sz="2000" err="1"/>
              <a:t>storytelling</a:t>
            </a:r>
            <a:r>
              <a:rPr lang="es-ES" sz="2000"/>
              <a:t> and concept </a:t>
            </a:r>
            <a:r>
              <a:rPr lang="es-ES" sz="2000" err="1"/>
              <a:t>creation</a:t>
            </a:r>
            <a:r>
              <a:rPr lang="es-ES" sz="2000"/>
              <a:t> </a:t>
            </a:r>
            <a:r>
              <a:rPr lang="es-ES" sz="2000" err="1"/>
              <a:t>Across</a:t>
            </a:r>
            <a:r>
              <a:rPr lang="es-ES" sz="2000"/>
              <a:t> </a:t>
            </a:r>
            <a:r>
              <a:rPr lang="es-ES" sz="2000" err="1"/>
              <a:t>Markets</a:t>
            </a:r>
            <a:r>
              <a:rPr lang="es-ES" sz="2000"/>
              <a:t> </a:t>
            </a:r>
          </a:p>
          <a:p>
            <a:pPr>
              <a:spcAft>
                <a:spcPts val="600"/>
              </a:spcAft>
            </a:pPr>
            <a:r>
              <a:rPr lang="es-ES" sz="2000"/>
              <a:t>Working </a:t>
            </a:r>
            <a:r>
              <a:rPr lang="es-ES" sz="2000" err="1"/>
              <a:t>with</a:t>
            </a:r>
            <a:r>
              <a:rPr lang="es-ES" sz="2000"/>
              <a:t> </a:t>
            </a:r>
            <a:r>
              <a:rPr lang="es-ES" sz="2000" err="1"/>
              <a:t>Campaigns</a:t>
            </a:r>
            <a:r>
              <a:rPr lang="es-ES" sz="2000"/>
              <a:t> &amp; </a:t>
            </a:r>
            <a:r>
              <a:rPr lang="es-ES" sz="2000" err="1"/>
              <a:t>Corporate</a:t>
            </a:r>
            <a:r>
              <a:rPr lang="es-ES" sz="2000"/>
              <a:t> </a:t>
            </a:r>
            <a:r>
              <a:rPr lang="es-ES" sz="2000" err="1"/>
              <a:t>Communication</a:t>
            </a:r>
            <a:endParaRPr lang="es-ES" sz="200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A2FC9F8-E443-8641-9AA7-1B8DF0FB7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3</a:t>
            </a:fld>
            <a:endParaRPr lang="en-GB" noProof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2D1997D0-F40E-F383-6D03-365401CD5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Who </a:t>
            </a:r>
            <a:r>
              <a:rPr lang="es-ES" err="1"/>
              <a:t>we</a:t>
            </a:r>
            <a:r>
              <a:rPr lang="es-ES"/>
              <a:t> are</a:t>
            </a:r>
          </a:p>
        </p:txBody>
      </p:sp>
      <p:pic>
        <p:nvPicPr>
          <p:cNvPr id="2" name="Imagen 1" descr="Profile image">
            <a:extLst>
              <a:ext uri="{FF2B5EF4-FFF2-40B4-BE49-F238E27FC236}">
                <a16:creationId xmlns:a16="http://schemas.microsoft.com/office/drawing/2014/main" id="{78607702-04F8-FA1E-0164-4F5CC4338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78" y="1618478"/>
            <a:ext cx="1620614" cy="1620614"/>
          </a:xfrm>
          <a:prstGeom prst="ellipse">
            <a:avLst/>
          </a:prstGeom>
        </p:spPr>
      </p:pic>
      <p:sp>
        <p:nvSpPr>
          <p:cNvPr id="4" name="Marcador de contenido 7">
            <a:extLst>
              <a:ext uri="{FF2B5EF4-FFF2-40B4-BE49-F238E27FC236}">
                <a16:creationId xmlns:a16="http://schemas.microsoft.com/office/drawing/2014/main" id="{9D755087-990D-2169-8C97-176D182CBE67}"/>
              </a:ext>
            </a:extLst>
          </p:cNvPr>
          <p:cNvSpPr txBox="1">
            <a:spLocks/>
          </p:cNvSpPr>
          <p:nvPr/>
        </p:nvSpPr>
        <p:spPr>
          <a:xfrm>
            <a:off x="2520549" y="1440000"/>
            <a:ext cx="3575451" cy="1799092"/>
          </a:xfrm>
          <a:prstGeom prst="rect">
            <a:avLst/>
          </a:prstGeom>
        </p:spPr>
        <p:txBody>
          <a:bodyPr vert="horz" lIns="91440" tIns="90000" rIns="91440" bIns="3600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s-ES" sz="3200" b="1"/>
              <a:t>Isidora Silva Ch.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 err="1">
                <a:solidFill>
                  <a:schemeClr val="bg2"/>
                </a:solidFill>
              </a:rPr>
              <a:t>Graphic</a:t>
            </a:r>
            <a:r>
              <a:rPr lang="es-ES" sz="2000">
                <a:solidFill>
                  <a:schemeClr val="bg2"/>
                </a:solidFill>
              </a:rPr>
              <a:t> </a:t>
            </a:r>
            <a:r>
              <a:rPr lang="es-ES" sz="2000" err="1">
                <a:solidFill>
                  <a:schemeClr val="bg2"/>
                </a:solidFill>
              </a:rPr>
              <a:t>Designer</a:t>
            </a:r>
            <a:endParaRPr lang="es-ES" sz="2000">
              <a:solidFill>
                <a:schemeClr val="bg2"/>
              </a:solidFill>
            </a:endParaRPr>
          </a:p>
        </p:txBody>
      </p:sp>
      <p:sp>
        <p:nvSpPr>
          <p:cNvPr id="6" name="Marcador de contenido 7">
            <a:extLst>
              <a:ext uri="{FF2B5EF4-FFF2-40B4-BE49-F238E27FC236}">
                <a16:creationId xmlns:a16="http://schemas.microsoft.com/office/drawing/2014/main" id="{AC4751E1-C454-40F0-7D3D-BFD5F7CD15AB}"/>
              </a:ext>
            </a:extLst>
          </p:cNvPr>
          <p:cNvSpPr txBox="1">
            <a:spLocks/>
          </p:cNvSpPr>
          <p:nvPr/>
        </p:nvSpPr>
        <p:spPr>
          <a:xfrm>
            <a:off x="8264505" y="1440000"/>
            <a:ext cx="3723279" cy="1799092"/>
          </a:xfrm>
          <a:prstGeom prst="rect">
            <a:avLst/>
          </a:prstGeom>
        </p:spPr>
        <p:txBody>
          <a:bodyPr vert="horz" lIns="91440" tIns="90000" rIns="91440" bIns="3600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s-ES" sz="3200" b="1"/>
              <a:t>Andres Bernadou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" sz="2000">
                <a:solidFill>
                  <a:schemeClr val="bg2"/>
                </a:solidFill>
              </a:rPr>
              <a:t>Multimedia </a:t>
            </a:r>
            <a:r>
              <a:rPr lang="es-ES" sz="2000" err="1">
                <a:solidFill>
                  <a:schemeClr val="bg2"/>
                </a:solidFill>
              </a:rPr>
              <a:t>Designer</a:t>
            </a:r>
            <a:endParaRPr lang="es-ES" sz="2000">
              <a:solidFill>
                <a:schemeClr val="bg2"/>
              </a:solidFill>
            </a:endParaRPr>
          </a:p>
        </p:txBody>
      </p:sp>
      <p:sp>
        <p:nvSpPr>
          <p:cNvPr id="10" name="Marcador de contenido 7">
            <a:extLst>
              <a:ext uri="{FF2B5EF4-FFF2-40B4-BE49-F238E27FC236}">
                <a16:creationId xmlns:a16="http://schemas.microsoft.com/office/drawing/2014/main" id="{F89C0B20-EE84-9F0B-A16C-15681FC4F88B}"/>
              </a:ext>
            </a:extLst>
          </p:cNvPr>
          <p:cNvSpPr txBox="1">
            <a:spLocks/>
          </p:cNvSpPr>
          <p:nvPr/>
        </p:nvSpPr>
        <p:spPr>
          <a:xfrm>
            <a:off x="656400" y="3581400"/>
            <a:ext cx="5592000" cy="2972262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s-ES" sz="2000"/>
              <a:t>3 Years at </a:t>
            </a:r>
            <a:r>
              <a:rPr lang="es-ES" sz="2000" err="1"/>
              <a:t>BioMar</a:t>
            </a:r>
            <a:r>
              <a:rPr lang="es-ES" sz="2000"/>
              <a:t> </a:t>
            </a:r>
          </a:p>
          <a:p>
            <a:pPr>
              <a:spcAft>
                <a:spcPts val="600"/>
              </a:spcAft>
            </a:pPr>
            <a:r>
              <a:rPr lang="es-ES" sz="2000" err="1"/>
              <a:t>Graphic</a:t>
            </a:r>
            <a:r>
              <a:rPr lang="es-ES" sz="2000"/>
              <a:t> &amp; </a:t>
            </a:r>
            <a:r>
              <a:rPr lang="es-ES" sz="2000" err="1"/>
              <a:t>Print</a:t>
            </a:r>
            <a:r>
              <a:rPr lang="es-ES" sz="2000"/>
              <a:t> Design (</a:t>
            </a:r>
            <a:r>
              <a:rPr lang="es-ES" sz="2000" err="1"/>
              <a:t>External</a:t>
            </a:r>
            <a:r>
              <a:rPr lang="es-ES" sz="2000"/>
              <a:t> and </a:t>
            </a:r>
            <a:r>
              <a:rPr lang="es-ES" sz="2000" err="1"/>
              <a:t>Internal</a:t>
            </a:r>
            <a:r>
              <a:rPr lang="es-ES" sz="2000"/>
              <a:t>)</a:t>
            </a:r>
          </a:p>
          <a:p>
            <a:pPr>
              <a:spcAft>
                <a:spcPts val="600"/>
              </a:spcAft>
            </a:pPr>
            <a:r>
              <a:rPr lang="es-ES" sz="2000" err="1"/>
              <a:t>Supporting</a:t>
            </a:r>
            <a:r>
              <a:rPr lang="es-ES" sz="2000"/>
              <a:t> Brand </a:t>
            </a:r>
            <a:r>
              <a:rPr lang="es-ES" sz="2000" err="1"/>
              <a:t>Consistency</a:t>
            </a:r>
            <a:r>
              <a:rPr lang="es-ES" sz="2000"/>
              <a:t> </a:t>
            </a:r>
            <a:r>
              <a:rPr lang="es-ES" sz="2000" err="1"/>
              <a:t>Across</a:t>
            </a:r>
            <a:r>
              <a:rPr lang="es-ES" sz="2000"/>
              <a:t> </a:t>
            </a:r>
            <a:r>
              <a:rPr lang="es-ES" sz="2000" err="1"/>
              <a:t>Markets</a:t>
            </a:r>
            <a:r>
              <a:rPr lang="es-ES" sz="2000"/>
              <a:t> </a:t>
            </a:r>
          </a:p>
          <a:p>
            <a:pPr>
              <a:spcAft>
                <a:spcPts val="600"/>
              </a:spcAft>
            </a:pPr>
            <a:r>
              <a:rPr lang="es-ES" sz="2000"/>
              <a:t>Working </a:t>
            </a:r>
            <a:r>
              <a:rPr lang="es-ES" sz="2000" err="1"/>
              <a:t>with</a:t>
            </a:r>
            <a:r>
              <a:rPr lang="es-ES" sz="2000"/>
              <a:t> </a:t>
            </a:r>
            <a:r>
              <a:rPr lang="es-ES" sz="2000" err="1"/>
              <a:t>Campaigns</a:t>
            </a:r>
            <a:r>
              <a:rPr lang="es-ES" sz="2000"/>
              <a:t> &amp; </a:t>
            </a:r>
            <a:r>
              <a:rPr lang="es-ES" sz="2000" err="1"/>
              <a:t>Corporate</a:t>
            </a:r>
            <a:r>
              <a:rPr lang="es-ES" sz="2000"/>
              <a:t> </a:t>
            </a:r>
            <a:r>
              <a:rPr lang="es-ES" sz="2000" err="1"/>
              <a:t>Communication</a:t>
            </a:r>
            <a:endParaRPr lang="es-ES" sz="2000"/>
          </a:p>
        </p:txBody>
      </p:sp>
      <p:pic>
        <p:nvPicPr>
          <p:cNvPr id="15" name="Imagen 1">
            <a:extLst>
              <a:ext uri="{FF2B5EF4-FFF2-40B4-BE49-F238E27FC236}">
                <a16:creationId xmlns:a16="http://schemas.microsoft.com/office/drawing/2014/main" id="{C8238E99-A4C0-5651-63FB-433796BDC6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5" t="843" r="22053" b="43846"/>
          <a:stretch>
            <a:fillRect/>
          </a:stretch>
        </p:blipFill>
        <p:spPr>
          <a:xfrm>
            <a:off x="6497892" y="1679014"/>
            <a:ext cx="1547462" cy="154746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485757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0A5E8-7A99-A104-14A2-39D1B6A58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72359C8-4FAD-F4BE-ABAF-F4000E1D3F3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72359C8-4FAD-F4BE-ABAF-F4000E1D3F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D0E1F7-E6D3-0B43-52A3-2BCFD6BFB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6F6B9C1-1745-48B0-A8CA-B72E47831159}" type="slidenum">
              <a:rPr lang="en-GB" noProof="0" smtClean="0"/>
              <a:pPr>
                <a:spcAft>
                  <a:spcPts val="600"/>
                </a:spcAft>
              </a:pPr>
              <a:t>4</a:t>
            </a:fld>
            <a:endParaRPr lang="en-GB" noProof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B7526-A0A0-9A91-389D-3424E11BD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 vert="horz" lIns="0" tIns="36000" rIns="36000" bIns="36000" rtlCol="0" anchor="b" anchorCtr="0">
            <a:normAutofit/>
          </a:bodyPr>
          <a:lstStyle/>
          <a:p>
            <a:r>
              <a:rPr lang="en-GB" sz="3200"/>
              <a:t>Marketing 2028 refined strategy house</a:t>
            </a:r>
          </a:p>
        </p:txBody>
      </p:sp>
      <p:sp>
        <p:nvSpPr>
          <p:cNvPr id="9" name="Pladsholder til slidenummer 2">
            <a:extLst>
              <a:ext uri="{FF2B5EF4-FFF2-40B4-BE49-F238E27FC236}">
                <a16:creationId xmlns:a16="http://schemas.microsoft.com/office/drawing/2014/main" id="{B0ABBB3D-A840-C2C6-8840-E845CB637FDF}"/>
              </a:ext>
            </a:extLst>
          </p:cNvPr>
          <p:cNvSpPr txBox="1">
            <a:spLocks/>
          </p:cNvSpPr>
          <p:nvPr/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defPPr>
              <a:defRPr lang="en-US"/>
            </a:defPPr>
            <a:lvl1pPr algn="r">
              <a:defRPr sz="1200" b="1">
                <a:solidFill>
                  <a:schemeClr val="tx2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F6B9C1-1745-48B0-A8CA-B72E47831159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11" name="Isosceles Triangle 3">
            <a:extLst>
              <a:ext uri="{FF2B5EF4-FFF2-40B4-BE49-F238E27FC236}">
                <a16:creationId xmlns:a16="http://schemas.microsoft.com/office/drawing/2014/main" id="{F18ECA2F-1AF9-910D-3BFB-F6A043445DF5}"/>
              </a:ext>
            </a:extLst>
          </p:cNvPr>
          <p:cNvSpPr/>
          <p:nvPr/>
        </p:nvSpPr>
        <p:spPr>
          <a:xfrm>
            <a:off x="452210" y="1351734"/>
            <a:ext cx="11232000" cy="1404000"/>
          </a:xfrm>
          <a:prstGeom prst="triangle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36000" rtlCol="0" anchor="b"/>
          <a:lstStyle/>
          <a:p>
            <a:pPr algn="ctr"/>
            <a:r>
              <a:rPr lang="en-US" b="1" i="1" spc="5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2028 Refined Above &amp; Beyond</a:t>
            </a:r>
            <a:endParaRPr lang="en-US" sz="1600" b="1" i="1" spc="5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="1" i="1" spc="5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Marketing</a:t>
            </a:r>
          </a:p>
          <a:p>
            <a:pPr algn="ctr"/>
            <a:r>
              <a:rPr lang="en-US" sz="900" spc="5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Driving our value propositions, products and services to meet market needs and deliver on the promise of fed aquaculture in the global food system inline with our strategy and purpose.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A8D233EE-92E4-DBD6-DF97-0393108B139F}"/>
              </a:ext>
            </a:extLst>
          </p:cNvPr>
          <p:cNvSpPr txBox="1">
            <a:spLocks/>
          </p:cNvSpPr>
          <p:nvPr/>
        </p:nvSpPr>
        <p:spPr>
          <a:xfrm>
            <a:off x="481513" y="6010835"/>
            <a:ext cx="11195973" cy="329554"/>
          </a:xfrm>
          <a:prstGeom prst="roundRect">
            <a:avLst>
              <a:gd name="adj" fmla="val 6083"/>
            </a:avLst>
          </a:prstGeom>
          <a:solidFill>
            <a:schemeClr val="accent3"/>
          </a:solidFill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2000" b="0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100" b="1" i="1">
                <a:solidFill>
                  <a:schemeClr val="accent1"/>
                </a:solidFill>
                <a:latin typeface="Arial"/>
                <a:ea typeface="DengXian"/>
                <a:cs typeface="Nirmala UI" panose="020B0502040204020203" pitchFamily="34" charset="0"/>
              </a:rPr>
              <a:t>W</a:t>
            </a:r>
            <a:r>
              <a:rPr kumimoji="0" lang="en-GB" sz="1100" b="1" i="1" u="none" strike="noStrike" kern="120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DengXian"/>
                <a:cs typeface="Nirmala UI" panose="020B0502040204020203" pitchFamily="34" charset="0"/>
              </a:rPr>
              <a:t>e are innovators dedicated to an efficient and sustainable aquaculture </a:t>
            </a:r>
            <a:endParaRPr kumimoji="0" lang="en-GB" sz="1100" b="1" i="1" u="none" strike="noStrike" kern="120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DengXian"/>
              <a:cs typeface="+mj-cs"/>
            </a:endParaRPr>
          </a:p>
        </p:txBody>
      </p:sp>
      <p:pic>
        <p:nvPicPr>
          <p:cNvPr id="62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E3F3F225-82AA-1053-DC16-7E8DEF3EB95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5827632" y="1264989"/>
            <a:ext cx="468000" cy="435804"/>
          </a:xfrm>
          <a:prstGeom prst="ellipse">
            <a:avLst/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22BBC5EE-F9A0-AD9F-6665-6CCE432BB912}"/>
              </a:ext>
            </a:extLst>
          </p:cNvPr>
          <p:cNvSpPr txBox="1"/>
          <p:nvPr/>
        </p:nvSpPr>
        <p:spPr>
          <a:xfrm>
            <a:off x="459472" y="2820247"/>
            <a:ext cx="5735920" cy="216000"/>
          </a:xfrm>
          <a:prstGeom prst="roundRect">
            <a:avLst>
              <a:gd name="adj" fmla="val 7700"/>
            </a:avLst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100"/>
              <a:t>Functional services/Operations</a:t>
            </a:r>
          </a:p>
        </p:txBody>
      </p:sp>
      <p:sp>
        <p:nvSpPr>
          <p:cNvPr id="85" name="TextBox 5">
            <a:extLst>
              <a:ext uri="{FF2B5EF4-FFF2-40B4-BE49-F238E27FC236}">
                <a16:creationId xmlns:a16="http://schemas.microsoft.com/office/drawing/2014/main" id="{583DE651-EBE3-1BF3-CEEA-7C8FE3EEDC68}"/>
              </a:ext>
            </a:extLst>
          </p:cNvPr>
          <p:cNvSpPr txBox="1"/>
          <p:nvPr/>
        </p:nvSpPr>
        <p:spPr>
          <a:xfrm>
            <a:off x="6288150" y="2820247"/>
            <a:ext cx="5396060" cy="216000"/>
          </a:xfrm>
          <a:prstGeom prst="roundRect">
            <a:avLst>
              <a:gd name="adj" fmla="val 7700"/>
            </a:avLst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100"/>
              <a:t>New initiatives</a:t>
            </a:r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40D466B1-1F1C-A200-67B2-2AEBD3482E4F}"/>
              </a:ext>
            </a:extLst>
          </p:cNvPr>
          <p:cNvSpPr txBox="1"/>
          <p:nvPr/>
        </p:nvSpPr>
        <p:spPr>
          <a:xfrm>
            <a:off x="461276" y="3308170"/>
            <a:ext cx="1548000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Our </a:t>
            </a:r>
            <a:r>
              <a:rPr lang="en-US" sz="900" b="0" err="1">
                <a:solidFill>
                  <a:schemeClr val="tx2"/>
                </a:solidFill>
              </a:rPr>
              <a:t>centralised</a:t>
            </a:r>
            <a:r>
              <a:rPr lang="en-US" sz="900" b="0">
                <a:solidFill>
                  <a:schemeClr val="tx2"/>
                </a:solidFill>
              </a:rPr>
              <a:t> design and advertising agency providing shared services across the </a:t>
            </a:r>
            <a:r>
              <a:rPr lang="en-US" sz="900" b="0" err="1">
                <a:solidFill>
                  <a:schemeClr val="tx2"/>
                </a:solidFill>
              </a:rPr>
              <a:t>BioMar</a:t>
            </a:r>
            <a:r>
              <a:rPr lang="en-US" sz="900" b="0">
                <a:solidFill>
                  <a:schemeClr val="tx2"/>
                </a:solidFill>
              </a:rPr>
              <a:t> world. Offering services to our markets, 14 hours every weekday. The Design Hub does more then 1000 tasks annually ranging in complexity from a few hours to several months.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Management and execution of brand and product guidelines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Visual design creation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310DD56-CDDB-D15F-9DB2-C2BECD0F719D}"/>
              </a:ext>
            </a:extLst>
          </p:cNvPr>
          <p:cNvSpPr txBox="1"/>
          <p:nvPr/>
        </p:nvSpPr>
        <p:spPr>
          <a:xfrm>
            <a:off x="461276" y="3065274"/>
            <a:ext cx="1548000" cy="216000"/>
          </a:xfrm>
          <a:prstGeom prst="roundRect">
            <a:avLst>
              <a:gd name="adj" fmla="val 7700"/>
            </a:avLst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Design Hub</a:t>
            </a:r>
          </a:p>
        </p:txBody>
      </p:sp>
      <p:sp>
        <p:nvSpPr>
          <p:cNvPr id="47" name="TextBox 5">
            <a:extLst>
              <a:ext uri="{FF2B5EF4-FFF2-40B4-BE49-F238E27FC236}">
                <a16:creationId xmlns:a16="http://schemas.microsoft.com/office/drawing/2014/main" id="{4567FFD9-FA06-F8D3-AD64-06BE6B59B35C}"/>
              </a:ext>
            </a:extLst>
          </p:cNvPr>
          <p:cNvSpPr txBox="1"/>
          <p:nvPr/>
        </p:nvSpPr>
        <p:spPr>
          <a:xfrm>
            <a:off x="2055659" y="3308170"/>
            <a:ext cx="1501622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Our centralised digital marketing agency provides a global platform of digital tools and services for direct interaction with our customers, aligned with commercial and marketing teams across the BioMar world.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Management of the marketing and commercial digital strategy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Daily management and development of tools including </a:t>
            </a:r>
            <a:r>
              <a:rPr lang="en-US" sz="900" err="1">
                <a:solidFill>
                  <a:schemeClr val="tx2"/>
                </a:solidFill>
              </a:rPr>
              <a:t>brandsite</a:t>
            </a:r>
            <a:r>
              <a:rPr lang="en-US" sz="900">
                <a:solidFill>
                  <a:schemeClr val="tx2"/>
                </a:solidFill>
              </a:rPr>
              <a:t>, customer portal, marketing automation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48" name="TextBox 5">
            <a:extLst>
              <a:ext uri="{FF2B5EF4-FFF2-40B4-BE49-F238E27FC236}">
                <a16:creationId xmlns:a16="http://schemas.microsoft.com/office/drawing/2014/main" id="{4F6F51D8-05F1-859B-167B-919EB0CC5619}"/>
              </a:ext>
            </a:extLst>
          </p:cNvPr>
          <p:cNvSpPr txBox="1"/>
          <p:nvPr/>
        </p:nvSpPr>
        <p:spPr>
          <a:xfrm>
            <a:off x="2055659" y="3065274"/>
            <a:ext cx="1501622" cy="216000"/>
          </a:xfrm>
          <a:prstGeom prst="roundRect">
            <a:avLst>
              <a:gd name="adj" fmla="val 7700"/>
            </a:avLst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Digital Hub</a:t>
            </a:r>
          </a:p>
        </p:txBody>
      </p:sp>
      <p:sp>
        <p:nvSpPr>
          <p:cNvPr id="50" name="TextBox 5">
            <a:extLst>
              <a:ext uri="{FF2B5EF4-FFF2-40B4-BE49-F238E27FC236}">
                <a16:creationId xmlns:a16="http://schemas.microsoft.com/office/drawing/2014/main" id="{AB0678FF-86C7-48DA-88C7-B6D72E556F37}"/>
              </a:ext>
            </a:extLst>
          </p:cNvPr>
          <p:cNvSpPr txBox="1"/>
          <p:nvPr/>
        </p:nvSpPr>
        <p:spPr>
          <a:xfrm>
            <a:off x="3610339" y="3303306"/>
            <a:ext cx="1293019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 b="0">
                <a:solidFill>
                  <a:schemeClr val="accent1"/>
                </a:solidFill>
                <a:cs typeface="Arial"/>
              </a:rPr>
              <a:t>Umbrella product and services strategy to ensure a One BioMar approach with species segment alignment and while addressing local adaptation needs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One product segment approach to product marketing management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Creation of all product and service concepts, value propositions and campaigns </a:t>
            </a:r>
            <a:endParaRPr lang="en-GB" sz="900" b="0">
              <a:solidFill>
                <a:schemeClr val="accent1"/>
              </a:solidFill>
              <a:cs typeface="Arial"/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57" name="TextBox 5">
            <a:extLst>
              <a:ext uri="{FF2B5EF4-FFF2-40B4-BE49-F238E27FC236}">
                <a16:creationId xmlns:a16="http://schemas.microsoft.com/office/drawing/2014/main" id="{2BD6EABE-9388-CE15-DF18-7D28610F2B8D}"/>
              </a:ext>
            </a:extLst>
          </p:cNvPr>
          <p:cNvSpPr txBox="1"/>
          <p:nvPr/>
        </p:nvSpPr>
        <p:spPr>
          <a:xfrm>
            <a:off x="3610339" y="3060410"/>
            <a:ext cx="1293019" cy="216000"/>
          </a:xfrm>
          <a:prstGeom prst="roundRect">
            <a:avLst>
              <a:gd name="adj" fmla="val 7700"/>
            </a:avLst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Products</a:t>
            </a:r>
          </a:p>
        </p:txBody>
      </p:sp>
      <p:sp>
        <p:nvSpPr>
          <p:cNvPr id="83" name="TextBox 5">
            <a:extLst>
              <a:ext uri="{FF2B5EF4-FFF2-40B4-BE49-F238E27FC236}">
                <a16:creationId xmlns:a16="http://schemas.microsoft.com/office/drawing/2014/main" id="{5C102279-9850-D573-5DD8-A35305F02931}"/>
              </a:ext>
            </a:extLst>
          </p:cNvPr>
          <p:cNvSpPr txBox="1"/>
          <p:nvPr/>
        </p:nvSpPr>
        <p:spPr>
          <a:xfrm>
            <a:off x="9191361" y="3303306"/>
            <a:ext cx="1176238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Identify strategic opportunities in the digital realm to enhance the customer journey and experience with BioMar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Strategic digital situation analysis and key opportunities    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84" name="TextBox 5">
            <a:extLst>
              <a:ext uri="{FF2B5EF4-FFF2-40B4-BE49-F238E27FC236}">
                <a16:creationId xmlns:a16="http://schemas.microsoft.com/office/drawing/2014/main" id="{E7881986-5EEF-2A6F-4ABE-8DA6B17350EC}"/>
              </a:ext>
            </a:extLst>
          </p:cNvPr>
          <p:cNvSpPr txBox="1"/>
          <p:nvPr/>
        </p:nvSpPr>
        <p:spPr>
          <a:xfrm>
            <a:off x="9191359" y="3060410"/>
            <a:ext cx="1176239" cy="216000"/>
          </a:xfrm>
          <a:prstGeom prst="roundRect">
            <a:avLst>
              <a:gd name="adj" fmla="val 7700"/>
            </a:avLst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Customer Journey</a:t>
            </a:r>
          </a:p>
        </p:txBody>
      </p:sp>
      <p:sp>
        <p:nvSpPr>
          <p:cNvPr id="87" name="TextBox 5">
            <a:extLst>
              <a:ext uri="{FF2B5EF4-FFF2-40B4-BE49-F238E27FC236}">
                <a16:creationId xmlns:a16="http://schemas.microsoft.com/office/drawing/2014/main" id="{EA3EB157-D140-B921-5C27-B138595B7213}"/>
              </a:ext>
            </a:extLst>
          </p:cNvPr>
          <p:cNvSpPr txBox="1"/>
          <p:nvPr/>
        </p:nvSpPr>
        <p:spPr>
          <a:xfrm>
            <a:off x="7775867" y="3303306"/>
            <a:ext cx="1365279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Use One BioMar marketing theory and tools to meet business and commercial needs.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One Budget &amp; Reporting process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One Marketing &amp; Product process and structure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Key strategic partnerships to leverage our position and enable a market pull.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Chefs Initiative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Strategic commercial partnerships      </a:t>
            </a:r>
          </a:p>
        </p:txBody>
      </p:sp>
      <p:sp>
        <p:nvSpPr>
          <p:cNvPr id="88" name="TextBox 5">
            <a:extLst>
              <a:ext uri="{FF2B5EF4-FFF2-40B4-BE49-F238E27FC236}">
                <a16:creationId xmlns:a16="http://schemas.microsoft.com/office/drawing/2014/main" id="{9AE4332C-5A30-4A33-99B2-D243BE963E8B}"/>
              </a:ext>
            </a:extLst>
          </p:cNvPr>
          <p:cNvSpPr txBox="1"/>
          <p:nvPr/>
        </p:nvSpPr>
        <p:spPr>
          <a:xfrm>
            <a:off x="7775867" y="3060410"/>
            <a:ext cx="1365280" cy="216000"/>
          </a:xfrm>
          <a:prstGeom prst="roundRect">
            <a:avLst>
              <a:gd name="adj" fmla="val 7700"/>
            </a:avLst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Strategic Marketing</a:t>
            </a:r>
          </a:p>
        </p:txBody>
      </p:sp>
      <p:sp>
        <p:nvSpPr>
          <p:cNvPr id="90" name="TextBox 5">
            <a:extLst>
              <a:ext uri="{FF2B5EF4-FFF2-40B4-BE49-F238E27FC236}">
                <a16:creationId xmlns:a16="http://schemas.microsoft.com/office/drawing/2014/main" id="{9F249329-046A-B021-4F1B-19A028419B29}"/>
              </a:ext>
            </a:extLst>
          </p:cNvPr>
          <p:cNvSpPr txBox="1"/>
          <p:nvPr/>
        </p:nvSpPr>
        <p:spPr>
          <a:xfrm>
            <a:off x="10417810" y="3308170"/>
            <a:ext cx="1259676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Marketing strategy for our new target segment of investors: Creating the value position for BioMar in the Feed Category setting our pathway towards IPO.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Investor Category Creation marketing strategy (2026+)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91" name="TextBox 5">
            <a:extLst>
              <a:ext uri="{FF2B5EF4-FFF2-40B4-BE49-F238E27FC236}">
                <a16:creationId xmlns:a16="http://schemas.microsoft.com/office/drawing/2014/main" id="{ACC7DA7E-71D0-8ABB-83EB-FF6C92E93643}"/>
              </a:ext>
            </a:extLst>
          </p:cNvPr>
          <p:cNvSpPr txBox="1"/>
          <p:nvPr/>
        </p:nvSpPr>
        <p:spPr>
          <a:xfrm>
            <a:off x="10417810" y="3065274"/>
            <a:ext cx="1266400" cy="216000"/>
          </a:xfrm>
          <a:prstGeom prst="roundRect">
            <a:avLst>
              <a:gd name="adj" fmla="val 7700"/>
            </a:avLst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Investor Category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D0317F93-F148-8035-861F-F2C5160D1EB8}"/>
              </a:ext>
            </a:extLst>
          </p:cNvPr>
          <p:cNvSpPr txBox="1"/>
          <p:nvPr/>
        </p:nvSpPr>
        <p:spPr>
          <a:xfrm>
            <a:off x="4953570" y="3308170"/>
            <a:ext cx="1241822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 b="0" err="1">
                <a:solidFill>
                  <a:schemeClr val="accent1"/>
                </a:solidFill>
                <a:cs typeface="Arial"/>
              </a:rPr>
              <a:t>BioMar</a:t>
            </a:r>
            <a:r>
              <a:rPr lang="en-GB" sz="900" b="0">
                <a:solidFill>
                  <a:schemeClr val="accent1"/>
                </a:solidFill>
                <a:cs typeface="Arial"/>
              </a:rPr>
              <a:t> brand positioning´, management and execution across the </a:t>
            </a:r>
            <a:r>
              <a:rPr lang="en-GB" sz="900" b="0" err="1">
                <a:solidFill>
                  <a:schemeClr val="accent1"/>
                </a:solidFill>
                <a:cs typeface="Arial"/>
              </a:rPr>
              <a:t>BioMar</a:t>
            </a:r>
            <a:r>
              <a:rPr lang="en-GB" sz="900" b="0">
                <a:solidFill>
                  <a:schemeClr val="accent1"/>
                </a:solidFill>
                <a:cs typeface="Arial"/>
              </a:rPr>
              <a:t> world aligned to our strategy and purpose.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Marketing strategy, value propositions and campaigns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Stakeholder relations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Risk management communications alignment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accent1"/>
                </a:solidFill>
                <a:cs typeface="Arial"/>
              </a:rPr>
              <a:t>Content creation and alignment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0F630167-506D-9776-B023-F386408751FB}"/>
              </a:ext>
            </a:extLst>
          </p:cNvPr>
          <p:cNvSpPr txBox="1"/>
          <p:nvPr/>
        </p:nvSpPr>
        <p:spPr>
          <a:xfrm>
            <a:off x="4953570" y="3065274"/>
            <a:ext cx="1241821" cy="216000"/>
          </a:xfrm>
          <a:prstGeom prst="roundRect">
            <a:avLst>
              <a:gd name="adj" fmla="val 7700"/>
            </a:avLst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BioMar Brand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B72347EE-8FF9-D493-940D-9E7C2A9C61E9}"/>
              </a:ext>
            </a:extLst>
          </p:cNvPr>
          <p:cNvSpPr txBox="1"/>
          <p:nvPr/>
        </p:nvSpPr>
        <p:spPr>
          <a:xfrm>
            <a:off x="6288152" y="3308170"/>
            <a:ext cx="1437502" cy="2641792"/>
          </a:xfrm>
          <a:prstGeom prst="roundRect">
            <a:avLst>
              <a:gd name="adj" fmla="val 2190"/>
            </a:avLst>
          </a:prstGeom>
          <a:solidFill>
            <a:schemeClr val="bg1">
              <a:lumMod val="85000"/>
            </a:schemeClr>
          </a:solidFill>
        </p:spPr>
        <p:txBody>
          <a:bodyPr wrap="square" lIns="36000" tIns="0" rIns="36000" bIns="0" rtlCol="0" anchor="t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b="0">
                <a:solidFill>
                  <a:schemeClr val="tx2"/>
                </a:solidFill>
              </a:rPr>
              <a:t>Data-driven decision making: to deliver the right information/solution at the right time to address our customers.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 err="1">
                <a:solidFill>
                  <a:schemeClr val="tx2"/>
                </a:solidFill>
              </a:rPr>
              <a:t>Needbased</a:t>
            </a:r>
            <a:r>
              <a:rPr lang="en-US" sz="900">
                <a:solidFill>
                  <a:schemeClr val="tx2"/>
                </a:solidFill>
              </a:rPr>
              <a:t> Customer Segmentation</a:t>
            </a:r>
            <a:r>
              <a:rPr lang="en-US" sz="900" b="0">
                <a:solidFill>
                  <a:schemeClr val="tx2"/>
                </a:solidFill>
              </a:rPr>
              <a:t>: a </a:t>
            </a:r>
            <a:r>
              <a:rPr lang="en-US" sz="900" b="0" err="1">
                <a:solidFill>
                  <a:schemeClr val="tx2"/>
                </a:solidFill>
              </a:rPr>
              <a:t>ComEx</a:t>
            </a:r>
            <a:r>
              <a:rPr lang="en-US" sz="900" b="0">
                <a:solidFill>
                  <a:schemeClr val="tx2"/>
                </a:solidFill>
              </a:rPr>
              <a:t> project follow-up in which we identify customer drives that align with our strategy.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2"/>
                </a:solidFill>
              </a:rPr>
              <a:t>Product Segmentation:</a:t>
            </a:r>
            <a:r>
              <a:rPr lang="en-US" sz="900" b="0">
                <a:solidFill>
                  <a:schemeClr val="tx2"/>
                </a:solidFill>
              </a:rPr>
              <a:t> segmenting our sales data to enable product lifecycle management and product sales </a:t>
            </a:r>
            <a:r>
              <a:rPr lang="en-US" sz="900" b="0" err="1">
                <a:solidFill>
                  <a:schemeClr val="tx2"/>
                </a:solidFill>
              </a:rPr>
              <a:t>behaviour</a:t>
            </a:r>
            <a:r>
              <a:rPr lang="en-US" sz="900" b="0">
                <a:solidFill>
                  <a:schemeClr val="tx2"/>
                </a:solidFill>
              </a:rPr>
              <a:t>.  </a:t>
            </a: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  <a:p>
            <a:pPr marL="88900" indent="-88900" algn="l">
              <a:spcAft>
                <a:spcPts val="10"/>
              </a:spcAft>
              <a:buFont typeface="Arial" panose="020B0604020202020204" pitchFamily="34" charset="0"/>
              <a:buChar char="•"/>
            </a:pPr>
            <a:endParaRPr lang="en-US" sz="900" b="0">
              <a:solidFill>
                <a:schemeClr val="tx2"/>
              </a:solidFill>
              <a:highlight>
                <a:srgbClr val="FFFF00"/>
              </a:highlight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3DCBEDB9-BA83-5DFA-6347-9BF6B9B879CD}"/>
              </a:ext>
            </a:extLst>
          </p:cNvPr>
          <p:cNvSpPr txBox="1"/>
          <p:nvPr/>
        </p:nvSpPr>
        <p:spPr>
          <a:xfrm>
            <a:off x="6288150" y="3065274"/>
            <a:ext cx="1437503" cy="216000"/>
          </a:xfrm>
          <a:prstGeom prst="roundRect">
            <a:avLst>
              <a:gd name="adj" fmla="val 7700"/>
            </a:avLst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algn="ctr" defTabSz="1219170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DengXian"/>
              </a:defRPr>
            </a:lvl1pPr>
          </a:lstStyle>
          <a:p>
            <a:r>
              <a:rPr lang="en-US" sz="1000"/>
              <a:t>Market Intelligence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E00AC93-6471-EF71-937E-423B15FE9BAA}"/>
              </a:ext>
            </a:extLst>
          </p:cNvPr>
          <p:cNvSpPr/>
          <p:nvPr/>
        </p:nvSpPr>
        <p:spPr>
          <a:xfrm>
            <a:off x="368108" y="2990088"/>
            <a:ext cx="1744519" cy="3052751"/>
          </a:xfrm>
          <a:prstGeom prst="round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67818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02896C9-717D-541F-D096-F1534B4C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5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92A734B-FA63-AA24-1F28-2D6D0F930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Strategic</a:t>
            </a:r>
            <a:r>
              <a:rPr lang="es-ES" dirty="0"/>
              <a:t> role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Design</a:t>
            </a:r>
            <a:r>
              <a:rPr lang="es-ES" dirty="0"/>
              <a:t> Hub</a:t>
            </a:r>
          </a:p>
        </p:txBody>
      </p:sp>
      <p:sp>
        <p:nvSpPr>
          <p:cNvPr id="58" name="Shape 5">
            <a:extLst>
              <a:ext uri="{FF2B5EF4-FFF2-40B4-BE49-F238E27FC236}">
                <a16:creationId xmlns:a16="http://schemas.microsoft.com/office/drawing/2014/main" id="{90FAB50D-10F5-C2C3-2E3D-4490114FBB42}"/>
              </a:ext>
            </a:extLst>
          </p:cNvPr>
          <p:cNvSpPr/>
          <p:nvPr/>
        </p:nvSpPr>
        <p:spPr>
          <a:xfrm>
            <a:off x="508000" y="3142344"/>
            <a:ext cx="2113246" cy="2826657"/>
          </a:xfrm>
          <a:prstGeom prst="roundRect">
            <a:avLst>
              <a:gd name="adj" fmla="val 11370"/>
            </a:avLst>
          </a:prstGeom>
          <a:solidFill>
            <a:srgbClr val="F4F8FB"/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D5F3C872-033F-401E-E34B-A28427414D15}"/>
              </a:ext>
            </a:extLst>
          </p:cNvPr>
          <p:cNvSpPr/>
          <p:nvPr/>
        </p:nvSpPr>
        <p:spPr>
          <a:xfrm>
            <a:off x="714829" y="4428737"/>
            <a:ext cx="1750577" cy="19594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700" b="1" kern="0" spc="180">
                <a:solidFill>
                  <a:schemeClr val="accent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01</a:t>
            </a:r>
            <a:endParaRPr lang="en-US" sz="170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61" name="Text 7">
            <a:extLst>
              <a:ext uri="{FF2B5EF4-FFF2-40B4-BE49-F238E27FC236}">
                <a16:creationId xmlns:a16="http://schemas.microsoft.com/office/drawing/2014/main" id="{052811FE-C81E-5719-13F8-DD8CA6AD2939}"/>
              </a:ext>
            </a:extLst>
          </p:cNvPr>
          <p:cNvSpPr/>
          <p:nvPr/>
        </p:nvSpPr>
        <p:spPr>
          <a:xfrm>
            <a:off x="714829" y="4722043"/>
            <a:ext cx="1750577" cy="3193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700" b="1" kern="0" spc="-3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Consistency</a:t>
            </a:r>
            <a:endParaRPr lang="en-US" sz="1700">
              <a:latin typeface="+mj-lt"/>
            </a:endParaRPr>
          </a:p>
        </p:txBody>
      </p:sp>
      <p:sp>
        <p:nvSpPr>
          <p:cNvPr id="62" name="Text 8">
            <a:extLst>
              <a:ext uri="{FF2B5EF4-FFF2-40B4-BE49-F238E27FC236}">
                <a16:creationId xmlns:a16="http://schemas.microsoft.com/office/drawing/2014/main" id="{A86A3767-4AF6-9E3B-95EF-9FAC8C134EA3}"/>
              </a:ext>
            </a:extLst>
          </p:cNvPr>
          <p:cNvSpPr/>
          <p:nvPr/>
        </p:nvSpPr>
        <p:spPr>
          <a:xfrm>
            <a:off x="714829" y="5104856"/>
            <a:ext cx="1750577" cy="5588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en-US" sz="1000" kern="0" spc="-4">
                <a:solidFill>
                  <a:srgbClr val="3D5687"/>
                </a:solidFill>
                <a:ea typeface="Nunito Sans" pitchFamily="34" charset="-122"/>
                <a:cs typeface="Nunito Sans" pitchFamily="34" charset="-120"/>
              </a:rPr>
              <a:t>A unified visual identity globally. Aligned with brand standards, adapted to local needs</a:t>
            </a:r>
            <a:endParaRPr lang="en-US" sz="100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4D44462A-D0AB-198F-D46B-1B914EE7F926}"/>
              </a:ext>
            </a:extLst>
          </p:cNvPr>
          <p:cNvSpPr/>
          <p:nvPr/>
        </p:nvSpPr>
        <p:spPr>
          <a:xfrm>
            <a:off x="2773646" y="3142344"/>
            <a:ext cx="2113303" cy="2826657"/>
          </a:xfrm>
          <a:prstGeom prst="roundRect">
            <a:avLst>
              <a:gd name="adj" fmla="val 10288"/>
            </a:avLst>
          </a:prstGeom>
          <a:solidFill>
            <a:srgbClr val="F4F8FB"/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65" name="Text 10">
            <a:extLst>
              <a:ext uri="{FF2B5EF4-FFF2-40B4-BE49-F238E27FC236}">
                <a16:creationId xmlns:a16="http://schemas.microsoft.com/office/drawing/2014/main" id="{DE8ABC6D-64A5-B5C9-1B7C-09848C03C985}"/>
              </a:ext>
            </a:extLst>
          </p:cNvPr>
          <p:cNvSpPr/>
          <p:nvPr/>
        </p:nvSpPr>
        <p:spPr>
          <a:xfrm>
            <a:off x="2980475" y="4428737"/>
            <a:ext cx="1750635" cy="19594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700" b="1" kern="0" spc="180">
                <a:solidFill>
                  <a:schemeClr val="accent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02</a:t>
            </a:r>
            <a:endParaRPr lang="en-US" sz="170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66" name="Text 11">
            <a:extLst>
              <a:ext uri="{FF2B5EF4-FFF2-40B4-BE49-F238E27FC236}">
                <a16:creationId xmlns:a16="http://schemas.microsoft.com/office/drawing/2014/main" id="{21AC34D6-609D-7FCA-45B6-0F27DA17A9F4}"/>
              </a:ext>
            </a:extLst>
          </p:cNvPr>
          <p:cNvSpPr/>
          <p:nvPr/>
        </p:nvSpPr>
        <p:spPr>
          <a:xfrm>
            <a:off x="2980475" y="4722043"/>
            <a:ext cx="1750635" cy="3193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700" b="1" kern="0" spc="-3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Efficiency</a:t>
            </a:r>
            <a:endParaRPr lang="en-US" sz="1700">
              <a:latin typeface="+mj-lt"/>
            </a:endParaRPr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F3642AA7-BDFB-7450-905D-E15D920CD86B}"/>
              </a:ext>
            </a:extLst>
          </p:cNvPr>
          <p:cNvSpPr/>
          <p:nvPr/>
        </p:nvSpPr>
        <p:spPr>
          <a:xfrm>
            <a:off x="2980475" y="5104856"/>
            <a:ext cx="1750635" cy="70128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en-US" sz="1000" kern="0" spc="-4">
                <a:solidFill>
                  <a:srgbClr val="3D5687"/>
                </a:solidFill>
                <a:ea typeface="Nunito Sans" pitchFamily="34" charset="-122"/>
                <a:cs typeface="Nunito Sans" pitchFamily="34" charset="-120"/>
              </a:rPr>
              <a:t>Centralized expertise, less duplicated work, better workflows, smart prioritization based on business knowledge</a:t>
            </a:r>
            <a:endParaRPr lang="en-US" sz="1000"/>
          </a:p>
        </p:txBody>
      </p:sp>
      <p:sp>
        <p:nvSpPr>
          <p:cNvPr id="68" name="Shape 13">
            <a:extLst>
              <a:ext uri="{FF2B5EF4-FFF2-40B4-BE49-F238E27FC236}">
                <a16:creationId xmlns:a16="http://schemas.microsoft.com/office/drawing/2014/main" id="{6C4A1265-C897-8179-3C63-38FB96DBF533}"/>
              </a:ext>
            </a:extLst>
          </p:cNvPr>
          <p:cNvSpPr/>
          <p:nvPr/>
        </p:nvSpPr>
        <p:spPr>
          <a:xfrm>
            <a:off x="5039349" y="3142344"/>
            <a:ext cx="2113246" cy="2826657"/>
          </a:xfrm>
          <a:prstGeom prst="roundRect">
            <a:avLst>
              <a:gd name="adj" fmla="val 8342"/>
            </a:avLst>
          </a:prstGeom>
          <a:solidFill>
            <a:srgbClr val="F4F8FB"/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70" name="Text 14">
            <a:extLst>
              <a:ext uri="{FF2B5EF4-FFF2-40B4-BE49-F238E27FC236}">
                <a16:creationId xmlns:a16="http://schemas.microsoft.com/office/drawing/2014/main" id="{CA27BE79-7697-FFE1-6800-6E120303AD23}"/>
              </a:ext>
            </a:extLst>
          </p:cNvPr>
          <p:cNvSpPr/>
          <p:nvPr/>
        </p:nvSpPr>
        <p:spPr>
          <a:xfrm>
            <a:off x="5246178" y="4428737"/>
            <a:ext cx="1750577" cy="19594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700" b="1" kern="0" spc="180">
                <a:solidFill>
                  <a:schemeClr val="accent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03</a:t>
            </a:r>
            <a:endParaRPr lang="en-US" sz="170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81A4D463-3408-5C47-0FCE-C734E882F0EB}"/>
              </a:ext>
            </a:extLst>
          </p:cNvPr>
          <p:cNvSpPr/>
          <p:nvPr/>
        </p:nvSpPr>
        <p:spPr>
          <a:xfrm>
            <a:off x="5246178" y="4722043"/>
            <a:ext cx="1750577" cy="3193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700" b="1" kern="0" spc="-3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Quality</a:t>
            </a:r>
            <a:endParaRPr lang="en-US" sz="1700">
              <a:latin typeface="+mj-lt"/>
            </a:endParaRPr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6610583F-94B3-E75B-81CD-AECAB3F94465}"/>
              </a:ext>
            </a:extLst>
          </p:cNvPr>
          <p:cNvSpPr/>
          <p:nvPr/>
        </p:nvSpPr>
        <p:spPr>
          <a:xfrm>
            <a:off x="5246178" y="5104856"/>
            <a:ext cx="1750577" cy="5588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en-US" sz="1000" kern="0" spc="-4" dirty="0">
                <a:solidFill>
                  <a:srgbClr val="3D5687"/>
                </a:solidFill>
                <a:ea typeface="Nunito Sans" pitchFamily="34" charset="-122"/>
                <a:cs typeface="Nunito Sans" pitchFamily="34" charset="-120"/>
              </a:rPr>
              <a:t>Professional, strategic and creative. Every output earns its place.</a:t>
            </a:r>
            <a:endParaRPr lang="en-US" sz="1000" dirty="0"/>
          </a:p>
        </p:txBody>
      </p:sp>
      <p:sp>
        <p:nvSpPr>
          <p:cNvPr id="73" name="Shape 17">
            <a:extLst>
              <a:ext uri="{FF2B5EF4-FFF2-40B4-BE49-F238E27FC236}">
                <a16:creationId xmlns:a16="http://schemas.microsoft.com/office/drawing/2014/main" id="{D39BE5C1-C6A9-BBB0-2518-858F8DFBB6EA}"/>
              </a:ext>
            </a:extLst>
          </p:cNvPr>
          <p:cNvSpPr/>
          <p:nvPr/>
        </p:nvSpPr>
        <p:spPr>
          <a:xfrm>
            <a:off x="7304995" y="3142344"/>
            <a:ext cx="2113303" cy="2826657"/>
          </a:xfrm>
          <a:prstGeom prst="roundRect">
            <a:avLst>
              <a:gd name="adj" fmla="val 8558"/>
            </a:avLst>
          </a:prstGeom>
          <a:solidFill>
            <a:srgbClr val="F4F8FB"/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75" name="Text 18">
            <a:extLst>
              <a:ext uri="{FF2B5EF4-FFF2-40B4-BE49-F238E27FC236}">
                <a16:creationId xmlns:a16="http://schemas.microsoft.com/office/drawing/2014/main" id="{E8B1C071-5FAB-8F62-A74E-73883675DACD}"/>
              </a:ext>
            </a:extLst>
          </p:cNvPr>
          <p:cNvSpPr/>
          <p:nvPr/>
        </p:nvSpPr>
        <p:spPr>
          <a:xfrm>
            <a:off x="7511824" y="4428737"/>
            <a:ext cx="1750635" cy="19594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700" b="1" kern="0" spc="180">
                <a:solidFill>
                  <a:schemeClr val="accent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04</a:t>
            </a:r>
            <a:endParaRPr lang="en-US" sz="170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6" name="Text 19">
            <a:extLst>
              <a:ext uri="{FF2B5EF4-FFF2-40B4-BE49-F238E27FC236}">
                <a16:creationId xmlns:a16="http://schemas.microsoft.com/office/drawing/2014/main" id="{FA4129DE-F56C-2AB9-C0E1-47D4575BBFB7}"/>
              </a:ext>
            </a:extLst>
          </p:cNvPr>
          <p:cNvSpPr/>
          <p:nvPr/>
        </p:nvSpPr>
        <p:spPr>
          <a:xfrm>
            <a:off x="7511824" y="4722043"/>
            <a:ext cx="1750635" cy="3193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700" b="1" kern="0" spc="-3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Scalability</a:t>
            </a:r>
            <a:endParaRPr lang="en-US" sz="1700">
              <a:latin typeface="+mj-lt"/>
            </a:endParaRPr>
          </a:p>
        </p:txBody>
      </p:sp>
      <p:sp>
        <p:nvSpPr>
          <p:cNvPr id="77" name="Text 20">
            <a:extLst>
              <a:ext uri="{FF2B5EF4-FFF2-40B4-BE49-F238E27FC236}">
                <a16:creationId xmlns:a16="http://schemas.microsoft.com/office/drawing/2014/main" id="{D34A1679-C2C4-9901-026D-B7C8EA3340BA}"/>
              </a:ext>
            </a:extLst>
          </p:cNvPr>
          <p:cNvSpPr/>
          <p:nvPr/>
        </p:nvSpPr>
        <p:spPr>
          <a:xfrm>
            <a:off x="7511824" y="5104856"/>
            <a:ext cx="1750635" cy="5588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en-US" sz="1000" kern="0" spc="-4" dirty="0">
                <a:solidFill>
                  <a:srgbClr val="3D5687"/>
                </a:solidFill>
                <a:ea typeface="Nunito Sans" pitchFamily="34" charset="-122"/>
                <a:cs typeface="Nunito Sans" pitchFamily="34" charset="-120"/>
              </a:rPr>
              <a:t>Many markets, formats and campaigns: adaptations to specific needs</a:t>
            </a:r>
            <a:endParaRPr lang="en-US" sz="1000" dirty="0"/>
          </a:p>
        </p:txBody>
      </p:sp>
      <p:sp>
        <p:nvSpPr>
          <p:cNvPr id="78" name="Shape 21">
            <a:extLst>
              <a:ext uri="{FF2B5EF4-FFF2-40B4-BE49-F238E27FC236}">
                <a16:creationId xmlns:a16="http://schemas.microsoft.com/office/drawing/2014/main" id="{E9C22671-CE1F-F738-5F50-192E44E67E04}"/>
              </a:ext>
            </a:extLst>
          </p:cNvPr>
          <p:cNvSpPr/>
          <p:nvPr/>
        </p:nvSpPr>
        <p:spPr>
          <a:xfrm>
            <a:off x="9570698" y="3142344"/>
            <a:ext cx="2113303" cy="2826657"/>
          </a:xfrm>
          <a:prstGeom prst="roundRect">
            <a:avLst>
              <a:gd name="adj" fmla="val 7909"/>
            </a:avLst>
          </a:prstGeom>
          <a:solidFill>
            <a:srgbClr val="F4F8FB"/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80" name="Text 22">
            <a:extLst>
              <a:ext uri="{FF2B5EF4-FFF2-40B4-BE49-F238E27FC236}">
                <a16:creationId xmlns:a16="http://schemas.microsoft.com/office/drawing/2014/main" id="{937A59B2-0725-6971-F2EE-15D6F90E92AE}"/>
              </a:ext>
            </a:extLst>
          </p:cNvPr>
          <p:cNvSpPr/>
          <p:nvPr/>
        </p:nvSpPr>
        <p:spPr>
          <a:xfrm>
            <a:off x="9777527" y="3946261"/>
            <a:ext cx="1750635" cy="19594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r>
              <a:rPr lang="en-US" sz="1700" b="1" kern="0" spc="180">
                <a:solidFill>
                  <a:schemeClr val="accent2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05</a:t>
            </a:r>
            <a:endParaRPr lang="en-US" sz="170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81" name="Text 23">
            <a:extLst>
              <a:ext uri="{FF2B5EF4-FFF2-40B4-BE49-F238E27FC236}">
                <a16:creationId xmlns:a16="http://schemas.microsoft.com/office/drawing/2014/main" id="{952AA628-B5CB-E37C-8A9A-29B3B391A754}"/>
              </a:ext>
            </a:extLst>
          </p:cNvPr>
          <p:cNvSpPr/>
          <p:nvPr/>
        </p:nvSpPr>
        <p:spPr>
          <a:xfrm>
            <a:off x="9777527" y="4239566"/>
            <a:ext cx="1750635" cy="866058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700" b="1" kern="0" spc="-3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Brand and Product Protection</a:t>
            </a:r>
            <a:endParaRPr lang="en-US" sz="1700">
              <a:latin typeface="+mj-lt"/>
            </a:endParaRPr>
          </a:p>
        </p:txBody>
      </p:sp>
      <p:sp>
        <p:nvSpPr>
          <p:cNvPr id="82" name="Text 24">
            <a:extLst>
              <a:ext uri="{FF2B5EF4-FFF2-40B4-BE49-F238E27FC236}">
                <a16:creationId xmlns:a16="http://schemas.microsoft.com/office/drawing/2014/main" id="{70F7D696-E895-0844-AD86-23FC241E1C5C}"/>
              </a:ext>
            </a:extLst>
          </p:cNvPr>
          <p:cNvSpPr/>
          <p:nvPr/>
        </p:nvSpPr>
        <p:spPr>
          <a:xfrm>
            <a:off x="9777527" y="5104856"/>
            <a:ext cx="1750635" cy="5588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en-US" sz="1000" kern="0" spc="-4">
                <a:solidFill>
                  <a:srgbClr val="3D5687"/>
                </a:solidFill>
                <a:ea typeface="Nunito Sans" pitchFamily="34" charset="-122"/>
                <a:cs typeface="Nunito Sans" pitchFamily="34" charset="-120"/>
              </a:rPr>
              <a:t>Correct logo, typography, imagery; applied consistently everywhere.</a:t>
            </a:r>
            <a:endParaRPr lang="en-US" sz="10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F718D21-3E31-8597-3BCC-935D78D5534F}"/>
              </a:ext>
            </a:extLst>
          </p:cNvPr>
          <p:cNvSpPr txBox="1"/>
          <p:nvPr/>
        </p:nvSpPr>
        <p:spPr>
          <a:xfrm>
            <a:off x="1698742" y="1943398"/>
            <a:ext cx="8794459" cy="56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3200" b="1" kern="0" spc="-158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Five pillars hold the </a:t>
            </a:r>
            <a:r>
              <a:rPr lang="en-US" sz="3200" b="1" kern="0" spc="-158">
                <a:solidFill>
                  <a:srgbClr val="0471AD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brand </a:t>
            </a:r>
            <a:r>
              <a:rPr lang="en-US" sz="3200" b="1" kern="0" spc="-158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together.</a:t>
            </a:r>
            <a:endParaRPr lang="en-US" sz="3200">
              <a:latin typeface="+mj-lt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38CE0C29-E4CA-3B4E-1593-F6DED5DE5C25}"/>
              </a:ext>
            </a:extLst>
          </p:cNvPr>
          <p:cNvSpPr/>
          <p:nvPr/>
        </p:nvSpPr>
        <p:spPr>
          <a:xfrm>
            <a:off x="673947" y="3283372"/>
            <a:ext cx="171027" cy="17102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70BB87B1-E0B2-4BA9-392D-0599F36BE4CF}"/>
              </a:ext>
            </a:extLst>
          </p:cNvPr>
          <p:cNvSpPr/>
          <p:nvPr/>
        </p:nvSpPr>
        <p:spPr>
          <a:xfrm>
            <a:off x="759460" y="3390900"/>
            <a:ext cx="171027" cy="17102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C136FA76-3C7A-8F34-0080-1B799E515823}"/>
              </a:ext>
            </a:extLst>
          </p:cNvPr>
          <p:cNvSpPr/>
          <p:nvPr/>
        </p:nvSpPr>
        <p:spPr>
          <a:xfrm>
            <a:off x="835660" y="3487721"/>
            <a:ext cx="171027" cy="17102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0CF70B93-537D-9C40-1EFD-9E8405F6D1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1207" y="3306232"/>
            <a:ext cx="364702" cy="366535"/>
          </a:xfrm>
          <a:prstGeom prst="rect">
            <a:avLst/>
          </a:prstGeom>
        </p:spPr>
      </p:pic>
      <p:pic>
        <p:nvPicPr>
          <p:cNvPr id="91" name="Graphic 90">
            <a:extLst>
              <a:ext uri="{FF2B5EF4-FFF2-40B4-BE49-F238E27FC236}">
                <a16:creationId xmlns:a16="http://schemas.microsoft.com/office/drawing/2014/main" id="{3E9BE7E3-EF94-09BD-0759-06B17FAF3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76693" y="3265087"/>
            <a:ext cx="357120" cy="339459"/>
          </a:xfrm>
          <a:prstGeom prst="rect">
            <a:avLst/>
          </a:prstGeom>
        </p:spPr>
      </p:pic>
      <p:pic>
        <p:nvPicPr>
          <p:cNvPr id="93" name="Graphic 92">
            <a:extLst>
              <a:ext uri="{FF2B5EF4-FFF2-40B4-BE49-F238E27FC236}">
                <a16:creationId xmlns:a16="http://schemas.microsoft.com/office/drawing/2014/main" id="{D7DBA471-3159-5EAC-F6C4-02851B72B3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90426" y="3317409"/>
            <a:ext cx="319314" cy="319314"/>
          </a:xfrm>
          <a:prstGeom prst="rect">
            <a:avLst/>
          </a:prstGeom>
        </p:spPr>
      </p:pic>
      <p:pic>
        <p:nvPicPr>
          <p:cNvPr id="95" name="Graphic 94">
            <a:extLst>
              <a:ext uri="{FF2B5EF4-FFF2-40B4-BE49-F238E27FC236}">
                <a16:creationId xmlns:a16="http://schemas.microsoft.com/office/drawing/2014/main" id="{4CBA0EE1-D02D-1513-233F-28E633FA91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23207" y="3251900"/>
            <a:ext cx="339426" cy="43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296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8BA92-BF08-5741-D8A0-3937C04AA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8FE74E0-00A5-98F2-98B6-82509433A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6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736BF7E-98BE-1EA6-F7FC-A1E4CE157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err="1"/>
              <a:t>Our</a:t>
            </a:r>
            <a:r>
              <a:rPr lang="es-ES" dirty="0"/>
              <a:t> Areas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Responsibility</a:t>
            </a:r>
            <a:r>
              <a:rPr lang="es-ES" dirty="0"/>
              <a:t> and </a:t>
            </a:r>
            <a:r>
              <a:rPr lang="es-ES" dirty="0" err="1"/>
              <a:t>functions</a:t>
            </a:r>
            <a:endParaRPr lang="es-ES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AEBC1EBF-7E80-66E9-B8B2-1C004BEE2547}"/>
              </a:ext>
            </a:extLst>
          </p:cNvPr>
          <p:cNvSpPr/>
          <p:nvPr/>
        </p:nvSpPr>
        <p:spPr>
          <a:xfrm>
            <a:off x="3100527" y="1546791"/>
            <a:ext cx="5705419" cy="47647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>
              <a:lnSpc>
                <a:spcPct val="96000"/>
              </a:lnSpc>
            </a:pPr>
            <a:r>
              <a:rPr lang="en-US" sz="2800" b="1" kern="0" spc="-93" dirty="0">
                <a:solidFill>
                  <a:srgbClr val="0471AD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One hub, </a:t>
            </a:r>
            <a:r>
              <a:rPr lang="en-US" sz="2800" b="1" kern="0" spc="-93" dirty="0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Several functions</a:t>
            </a:r>
            <a:endParaRPr lang="en-US" sz="2800" dirty="0">
              <a:latin typeface="+mj-lt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2107406A-EE18-19B3-D23B-B139143EA343}"/>
              </a:ext>
            </a:extLst>
          </p:cNvPr>
          <p:cNvSpPr/>
          <p:nvPr/>
        </p:nvSpPr>
        <p:spPr>
          <a:xfrm>
            <a:off x="958143" y="2121130"/>
            <a:ext cx="2534502" cy="33745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r>
              <a:rPr lang="en-US" b="1" kern="0" spc="-36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External communication</a:t>
            </a:r>
            <a:endParaRPr lang="en-US">
              <a:latin typeface="+mj-lt"/>
            </a:endParaRP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F31245CC-23AE-3535-D495-8B2636D0DA71}"/>
              </a:ext>
            </a:extLst>
          </p:cNvPr>
          <p:cNvSpPr/>
          <p:nvPr/>
        </p:nvSpPr>
        <p:spPr>
          <a:xfrm>
            <a:off x="508000" y="2585587"/>
            <a:ext cx="1059486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6C537F1E-836D-B8F7-ACA0-B5BC6FC23E6B}"/>
              </a:ext>
            </a:extLst>
          </p:cNvPr>
          <p:cNvSpPr/>
          <p:nvPr/>
        </p:nvSpPr>
        <p:spPr>
          <a:xfrm>
            <a:off x="654957" y="2656345"/>
            <a:ext cx="816372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fontScale="925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Campaigns</a:t>
            </a:r>
            <a:endParaRPr lang="en-US" sz="120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BC9A228A-7C59-1BA4-7BA2-75FBDED1D30C}"/>
              </a:ext>
            </a:extLst>
          </p:cNvPr>
          <p:cNvSpPr/>
          <p:nvPr/>
        </p:nvSpPr>
        <p:spPr>
          <a:xfrm>
            <a:off x="1630986" y="2585587"/>
            <a:ext cx="1379651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92299369-DD5C-5E39-16C6-9E978E6EC8A4}"/>
              </a:ext>
            </a:extLst>
          </p:cNvPr>
          <p:cNvSpPr/>
          <p:nvPr/>
        </p:nvSpPr>
        <p:spPr>
          <a:xfrm>
            <a:off x="1777944" y="2656345"/>
            <a:ext cx="1136537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Advertisements</a:t>
            </a:r>
            <a:endParaRPr lang="en-US" sz="1200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AC820C83-21DC-67E8-FC9F-2125BD938694}"/>
              </a:ext>
            </a:extLst>
          </p:cNvPr>
          <p:cNvSpPr/>
          <p:nvPr/>
        </p:nvSpPr>
        <p:spPr>
          <a:xfrm>
            <a:off x="3074138" y="2585587"/>
            <a:ext cx="1634445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80D34169-0851-1BC8-F79B-3C540786F54F}"/>
              </a:ext>
            </a:extLst>
          </p:cNvPr>
          <p:cNvSpPr/>
          <p:nvPr/>
        </p:nvSpPr>
        <p:spPr>
          <a:xfrm>
            <a:off x="3221094" y="2656345"/>
            <a:ext cx="1391331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fontScale="925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Social media assets</a:t>
            </a:r>
            <a:endParaRPr lang="en-US" sz="120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37753EEA-BAA7-CF41-0CE3-E6C3F8DDE520}"/>
              </a:ext>
            </a:extLst>
          </p:cNvPr>
          <p:cNvSpPr/>
          <p:nvPr/>
        </p:nvSpPr>
        <p:spPr>
          <a:xfrm>
            <a:off x="508001" y="2997430"/>
            <a:ext cx="2041355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61B5DDD9-2B12-59AB-A9A7-D0D8D1B11813}"/>
              </a:ext>
            </a:extLst>
          </p:cNvPr>
          <p:cNvSpPr/>
          <p:nvPr/>
        </p:nvSpPr>
        <p:spPr>
          <a:xfrm>
            <a:off x="654958" y="3068188"/>
            <a:ext cx="1808681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Videos &amp; motion graphics</a:t>
            </a:r>
            <a:endParaRPr lang="en-US" sz="120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FACB9BCE-3F3A-2247-23B3-24C7375A2083}"/>
              </a:ext>
            </a:extLst>
          </p:cNvPr>
          <p:cNvSpPr/>
          <p:nvPr/>
        </p:nvSpPr>
        <p:spPr>
          <a:xfrm>
            <a:off x="2612855" y="2997430"/>
            <a:ext cx="1551328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074EDC09-EFE8-8AB4-0DBB-69F3ABAA5A17}"/>
              </a:ext>
            </a:extLst>
          </p:cNvPr>
          <p:cNvSpPr/>
          <p:nvPr/>
        </p:nvSpPr>
        <p:spPr>
          <a:xfrm>
            <a:off x="2759812" y="3068188"/>
            <a:ext cx="1308213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Brochures &amp; flyers</a:t>
            </a:r>
            <a:endParaRPr lang="en-US" sz="120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20383B82-7242-58E0-4C43-8BBB82B75F62}"/>
              </a:ext>
            </a:extLst>
          </p:cNvPr>
          <p:cNvSpPr/>
          <p:nvPr/>
        </p:nvSpPr>
        <p:spPr>
          <a:xfrm>
            <a:off x="4227683" y="2997430"/>
            <a:ext cx="1281736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5688F2B3-3091-CA7C-7B2E-8301FC8E81C9}"/>
              </a:ext>
            </a:extLst>
          </p:cNvPr>
          <p:cNvSpPr/>
          <p:nvPr/>
        </p:nvSpPr>
        <p:spPr>
          <a:xfrm>
            <a:off x="4374640" y="3068188"/>
            <a:ext cx="1038622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Event material</a:t>
            </a:r>
            <a:endParaRPr lang="en-US" sz="1200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960E60FD-7F43-4EDD-5FA4-CCDE15C93D02}"/>
              </a:ext>
            </a:extLst>
          </p:cNvPr>
          <p:cNvSpPr/>
          <p:nvPr/>
        </p:nvSpPr>
        <p:spPr>
          <a:xfrm>
            <a:off x="508001" y="3409273"/>
            <a:ext cx="1563687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5E1F51A7-62D5-7142-8D2D-225C75B09C38}"/>
              </a:ext>
            </a:extLst>
          </p:cNvPr>
          <p:cNvSpPr/>
          <p:nvPr/>
        </p:nvSpPr>
        <p:spPr>
          <a:xfrm>
            <a:off x="654958" y="3480030"/>
            <a:ext cx="1320573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fontScale="925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Trade show assets</a:t>
            </a:r>
            <a:endParaRPr lang="en-US" sz="120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EAE2E422-64B0-9C4D-0039-8D680BDA0DB1}"/>
              </a:ext>
            </a:extLst>
          </p:cNvPr>
          <p:cNvSpPr/>
          <p:nvPr/>
        </p:nvSpPr>
        <p:spPr>
          <a:xfrm>
            <a:off x="2135187" y="3409273"/>
            <a:ext cx="1900748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0A552633-6E71-0DD8-BD54-40815002EB60}"/>
              </a:ext>
            </a:extLst>
          </p:cNvPr>
          <p:cNvSpPr/>
          <p:nvPr/>
        </p:nvSpPr>
        <p:spPr>
          <a:xfrm>
            <a:off x="2282145" y="3480030"/>
            <a:ext cx="1663856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Product communication</a:t>
            </a:r>
            <a:endParaRPr lang="en-US" sz="12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C85DA1C1-F9E9-A5B4-81FA-5CD335B89B03}"/>
              </a:ext>
            </a:extLst>
          </p:cNvPr>
          <p:cNvSpPr/>
          <p:nvPr/>
        </p:nvSpPr>
        <p:spPr>
          <a:xfrm>
            <a:off x="4099436" y="3409273"/>
            <a:ext cx="1233601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D454627B-BA6B-0A32-F56F-512C46FB20A6}"/>
              </a:ext>
            </a:extLst>
          </p:cNvPr>
          <p:cNvSpPr/>
          <p:nvPr/>
        </p:nvSpPr>
        <p:spPr>
          <a:xfrm>
            <a:off x="4246393" y="3480030"/>
            <a:ext cx="990487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Presentations</a:t>
            </a:r>
            <a:endParaRPr lang="en-US" sz="12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72625058-777B-4BA4-58FB-C79C8CAA65CA}"/>
              </a:ext>
            </a:extLst>
          </p:cNvPr>
          <p:cNvSpPr/>
          <p:nvPr/>
        </p:nvSpPr>
        <p:spPr>
          <a:xfrm>
            <a:off x="508000" y="3821116"/>
            <a:ext cx="1339227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DB4F24AE-4099-437A-86EE-2CC4AAC652B3}"/>
              </a:ext>
            </a:extLst>
          </p:cNvPr>
          <p:cNvSpPr/>
          <p:nvPr/>
        </p:nvSpPr>
        <p:spPr>
          <a:xfrm>
            <a:off x="654957" y="3891873"/>
            <a:ext cx="1096112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Website assets</a:t>
            </a:r>
            <a:endParaRPr lang="en-US" sz="1200"/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38D7475A-8682-1B06-B207-0BBF364302EF}"/>
              </a:ext>
            </a:extLst>
          </p:cNvPr>
          <p:cNvSpPr/>
          <p:nvPr/>
        </p:nvSpPr>
        <p:spPr>
          <a:xfrm>
            <a:off x="1910727" y="3821116"/>
            <a:ext cx="1809410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C63F8EA5-4D91-97D7-0E49-D5194EA86B26}"/>
              </a:ext>
            </a:extLst>
          </p:cNvPr>
          <p:cNvSpPr/>
          <p:nvPr/>
        </p:nvSpPr>
        <p:spPr>
          <a:xfrm>
            <a:off x="2057684" y="3891873"/>
            <a:ext cx="1569778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Publications &amp; reports</a:t>
            </a:r>
            <a:endParaRPr lang="en-US" sz="1200"/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3103614C-0A89-B580-04AF-7267A5000E43}"/>
              </a:ext>
            </a:extLst>
          </p:cNvPr>
          <p:cNvSpPr/>
          <p:nvPr/>
        </p:nvSpPr>
        <p:spPr>
          <a:xfrm>
            <a:off x="6642100" y="2137346"/>
            <a:ext cx="2469273" cy="33745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r>
              <a:rPr lang="en-US" b="1" kern="0" spc="-36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Internal communication</a:t>
            </a:r>
            <a:endParaRPr lang="en-US">
              <a:latin typeface="+mj-lt"/>
            </a:endParaRPr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CB02E9D2-2628-E367-DAC3-60ED3FC637A7}"/>
              </a:ext>
            </a:extLst>
          </p:cNvPr>
          <p:cNvSpPr/>
          <p:nvPr/>
        </p:nvSpPr>
        <p:spPr>
          <a:xfrm>
            <a:off x="6248401" y="2579254"/>
            <a:ext cx="1596855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16627C3C-A42B-E722-6829-474C7254743C}"/>
              </a:ext>
            </a:extLst>
          </p:cNvPr>
          <p:cNvSpPr/>
          <p:nvPr/>
        </p:nvSpPr>
        <p:spPr>
          <a:xfrm>
            <a:off x="6395358" y="2650012"/>
            <a:ext cx="1353741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Internal campaigns</a:t>
            </a:r>
            <a:endParaRPr lang="en-US" sz="1200"/>
          </a:p>
        </p:txBody>
      </p:sp>
      <p:sp>
        <p:nvSpPr>
          <p:cNvPr id="42" name="Shape 33">
            <a:extLst>
              <a:ext uri="{FF2B5EF4-FFF2-40B4-BE49-F238E27FC236}">
                <a16:creationId xmlns:a16="http://schemas.microsoft.com/office/drawing/2014/main" id="{C9727392-A3AA-B676-345C-34DA6E892F05}"/>
              </a:ext>
            </a:extLst>
          </p:cNvPr>
          <p:cNvSpPr/>
          <p:nvPr/>
        </p:nvSpPr>
        <p:spPr>
          <a:xfrm>
            <a:off x="7908756" y="2579254"/>
            <a:ext cx="1346597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43" name="Text 34">
            <a:extLst>
              <a:ext uri="{FF2B5EF4-FFF2-40B4-BE49-F238E27FC236}">
                <a16:creationId xmlns:a16="http://schemas.microsoft.com/office/drawing/2014/main" id="{15D5938F-7C2E-548B-E115-82AC26A97448}"/>
              </a:ext>
            </a:extLst>
          </p:cNvPr>
          <p:cNvSpPr/>
          <p:nvPr/>
        </p:nvSpPr>
        <p:spPr>
          <a:xfrm>
            <a:off x="8055713" y="2650012"/>
            <a:ext cx="1103483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Office branding</a:t>
            </a:r>
            <a:endParaRPr lang="en-US" sz="1200"/>
          </a:p>
        </p:txBody>
      </p:sp>
      <p:sp>
        <p:nvSpPr>
          <p:cNvPr id="44" name="Shape 35">
            <a:extLst>
              <a:ext uri="{FF2B5EF4-FFF2-40B4-BE49-F238E27FC236}">
                <a16:creationId xmlns:a16="http://schemas.microsoft.com/office/drawing/2014/main" id="{B7C04F34-C82E-FD9D-D20D-33A1C527B553}"/>
              </a:ext>
            </a:extLst>
          </p:cNvPr>
          <p:cNvSpPr/>
          <p:nvPr/>
        </p:nvSpPr>
        <p:spPr>
          <a:xfrm>
            <a:off x="9318852" y="2579254"/>
            <a:ext cx="1001996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45" name="Text 36">
            <a:extLst>
              <a:ext uri="{FF2B5EF4-FFF2-40B4-BE49-F238E27FC236}">
                <a16:creationId xmlns:a16="http://schemas.microsoft.com/office/drawing/2014/main" id="{6EF5F5B4-0B93-1F9F-D3DA-C75E9599F120}"/>
              </a:ext>
            </a:extLst>
          </p:cNvPr>
          <p:cNvSpPr/>
          <p:nvPr/>
        </p:nvSpPr>
        <p:spPr>
          <a:xfrm>
            <a:off x="9465810" y="2650012"/>
            <a:ext cx="758882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Stationery</a:t>
            </a:r>
            <a:endParaRPr lang="en-US" sz="1200"/>
          </a:p>
        </p:txBody>
      </p:sp>
      <p:sp>
        <p:nvSpPr>
          <p:cNvPr id="46" name="Shape 37">
            <a:extLst>
              <a:ext uri="{FF2B5EF4-FFF2-40B4-BE49-F238E27FC236}">
                <a16:creationId xmlns:a16="http://schemas.microsoft.com/office/drawing/2014/main" id="{B18EF3B9-C716-DA50-5EE2-3477B8537EB0}"/>
              </a:ext>
            </a:extLst>
          </p:cNvPr>
          <p:cNvSpPr/>
          <p:nvPr/>
        </p:nvSpPr>
        <p:spPr>
          <a:xfrm>
            <a:off x="6248401" y="2991097"/>
            <a:ext cx="1700099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47" name="Text 38">
            <a:extLst>
              <a:ext uri="{FF2B5EF4-FFF2-40B4-BE49-F238E27FC236}">
                <a16:creationId xmlns:a16="http://schemas.microsoft.com/office/drawing/2014/main" id="{31B6E9C5-F075-7B6A-FF04-4B009E962997}"/>
              </a:ext>
            </a:extLst>
          </p:cNvPr>
          <p:cNvSpPr/>
          <p:nvPr/>
        </p:nvSpPr>
        <p:spPr>
          <a:xfrm>
            <a:off x="6395357" y="3061855"/>
            <a:ext cx="1457188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Corporate templates</a:t>
            </a:r>
            <a:endParaRPr lang="en-US" sz="1200"/>
          </a:p>
        </p:txBody>
      </p:sp>
      <p:sp>
        <p:nvSpPr>
          <p:cNvPr id="48" name="Shape 39">
            <a:extLst>
              <a:ext uri="{FF2B5EF4-FFF2-40B4-BE49-F238E27FC236}">
                <a16:creationId xmlns:a16="http://schemas.microsoft.com/office/drawing/2014/main" id="{7D6E0778-60FD-AE38-CF2E-CDAA89FC59FF}"/>
              </a:ext>
            </a:extLst>
          </p:cNvPr>
          <p:cNvSpPr/>
          <p:nvPr/>
        </p:nvSpPr>
        <p:spPr>
          <a:xfrm>
            <a:off x="8012000" y="2991097"/>
            <a:ext cx="1946502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AA921D97-AB6B-4B8A-FD8A-9EE384ABB4CA}"/>
              </a:ext>
            </a:extLst>
          </p:cNvPr>
          <p:cNvSpPr/>
          <p:nvPr/>
        </p:nvSpPr>
        <p:spPr>
          <a:xfrm>
            <a:off x="8158957" y="3061855"/>
            <a:ext cx="1710983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Corporate presentations</a:t>
            </a:r>
            <a:endParaRPr lang="en-US" sz="120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60718245-89B0-0E44-2131-69FF4CF1E826}"/>
              </a:ext>
            </a:extLst>
          </p:cNvPr>
          <p:cNvSpPr/>
          <p:nvPr/>
        </p:nvSpPr>
        <p:spPr>
          <a:xfrm>
            <a:off x="6248401" y="3402940"/>
            <a:ext cx="1759687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51" name="Text 42">
            <a:extLst>
              <a:ext uri="{FF2B5EF4-FFF2-40B4-BE49-F238E27FC236}">
                <a16:creationId xmlns:a16="http://schemas.microsoft.com/office/drawing/2014/main" id="{03BDD5CF-DF23-1A66-1478-ACB850E253A0}"/>
              </a:ext>
            </a:extLst>
          </p:cNvPr>
          <p:cNvSpPr/>
          <p:nvPr/>
        </p:nvSpPr>
        <p:spPr>
          <a:xfrm>
            <a:off x="6395358" y="3473697"/>
            <a:ext cx="1518563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HR / internal material</a:t>
            </a:r>
            <a:endParaRPr lang="en-US" sz="1200"/>
          </a:p>
        </p:txBody>
      </p:sp>
      <p:sp>
        <p:nvSpPr>
          <p:cNvPr id="52" name="Shape 43">
            <a:extLst>
              <a:ext uri="{FF2B5EF4-FFF2-40B4-BE49-F238E27FC236}">
                <a16:creationId xmlns:a16="http://schemas.microsoft.com/office/drawing/2014/main" id="{8A21C77B-DFD0-FCC0-8A82-01E5AAD89FF1}"/>
              </a:ext>
            </a:extLst>
          </p:cNvPr>
          <p:cNvSpPr/>
          <p:nvPr/>
        </p:nvSpPr>
        <p:spPr>
          <a:xfrm>
            <a:off x="8071588" y="3402940"/>
            <a:ext cx="1594133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53" name="Text 44">
            <a:extLst>
              <a:ext uri="{FF2B5EF4-FFF2-40B4-BE49-F238E27FC236}">
                <a16:creationId xmlns:a16="http://schemas.microsoft.com/office/drawing/2014/main" id="{310B85DD-AE71-7414-AA13-326301737E65}"/>
              </a:ext>
            </a:extLst>
          </p:cNvPr>
          <p:cNvSpPr/>
          <p:nvPr/>
        </p:nvSpPr>
        <p:spPr>
          <a:xfrm>
            <a:off x="8218545" y="3473697"/>
            <a:ext cx="1351019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Employer branding</a:t>
            </a:r>
            <a:endParaRPr lang="en-US" sz="1200"/>
          </a:p>
        </p:txBody>
      </p:sp>
      <p:sp>
        <p:nvSpPr>
          <p:cNvPr id="54" name="Shape 45">
            <a:extLst>
              <a:ext uri="{FF2B5EF4-FFF2-40B4-BE49-F238E27FC236}">
                <a16:creationId xmlns:a16="http://schemas.microsoft.com/office/drawing/2014/main" id="{B90DC86C-D756-ADE3-35E5-E4635395AA52}"/>
              </a:ext>
            </a:extLst>
          </p:cNvPr>
          <p:cNvSpPr/>
          <p:nvPr/>
        </p:nvSpPr>
        <p:spPr>
          <a:xfrm>
            <a:off x="9729221" y="3402940"/>
            <a:ext cx="850277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55" name="Text 46">
            <a:extLst>
              <a:ext uri="{FF2B5EF4-FFF2-40B4-BE49-F238E27FC236}">
                <a16:creationId xmlns:a16="http://schemas.microsoft.com/office/drawing/2014/main" id="{314D63BB-EF4E-19BF-C99E-2BE2EECF62AC}"/>
              </a:ext>
            </a:extLst>
          </p:cNvPr>
          <p:cNvSpPr/>
          <p:nvPr/>
        </p:nvSpPr>
        <p:spPr>
          <a:xfrm>
            <a:off x="9876178" y="3473697"/>
            <a:ext cx="607162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fontScale="925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Signage</a:t>
            </a:r>
            <a:endParaRPr lang="en-US" sz="120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1CFB7FC6-C7EB-D0C9-2238-AB6A5C9E7AE7}"/>
              </a:ext>
            </a:extLst>
          </p:cNvPr>
          <p:cNvSpPr/>
          <p:nvPr/>
        </p:nvSpPr>
        <p:spPr>
          <a:xfrm>
            <a:off x="6248401" y="3814783"/>
            <a:ext cx="1580753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57" name="Text 48">
            <a:extLst>
              <a:ext uri="{FF2B5EF4-FFF2-40B4-BE49-F238E27FC236}">
                <a16:creationId xmlns:a16="http://schemas.microsoft.com/office/drawing/2014/main" id="{5377FBC9-C4E6-A948-F9D2-BBB4A9D83B26}"/>
              </a:ext>
            </a:extLst>
          </p:cNvPr>
          <p:cNvSpPr/>
          <p:nvPr/>
        </p:nvSpPr>
        <p:spPr>
          <a:xfrm>
            <a:off x="6395357" y="3885540"/>
            <a:ext cx="1337639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Onboarding assets</a:t>
            </a:r>
            <a:endParaRPr lang="en-US" sz="1200"/>
          </a:p>
        </p:txBody>
      </p:sp>
      <p:grpSp>
        <p:nvGrpSpPr>
          <p:cNvPr id="87" name="Grupo 86">
            <a:extLst>
              <a:ext uri="{FF2B5EF4-FFF2-40B4-BE49-F238E27FC236}">
                <a16:creationId xmlns:a16="http://schemas.microsoft.com/office/drawing/2014/main" id="{B9F86B0D-8B5D-C6CC-E956-9347D95A1D1C}"/>
              </a:ext>
            </a:extLst>
          </p:cNvPr>
          <p:cNvGrpSpPr/>
          <p:nvPr/>
        </p:nvGrpSpPr>
        <p:grpSpPr>
          <a:xfrm>
            <a:off x="4467483" y="4807981"/>
            <a:ext cx="3257034" cy="393699"/>
            <a:chOff x="4164183" y="4762288"/>
            <a:chExt cx="3257034" cy="393699"/>
          </a:xfrm>
        </p:grpSpPr>
        <p:sp>
          <p:nvSpPr>
            <p:cNvPr id="58" name="Shape 5">
              <a:extLst>
                <a:ext uri="{FF2B5EF4-FFF2-40B4-BE49-F238E27FC236}">
                  <a16:creationId xmlns:a16="http://schemas.microsoft.com/office/drawing/2014/main" id="{7B545BB1-A8E0-3C8C-F0F9-440815FED3CA}"/>
                </a:ext>
              </a:extLst>
            </p:cNvPr>
            <p:cNvSpPr/>
            <p:nvPr/>
          </p:nvSpPr>
          <p:spPr>
            <a:xfrm>
              <a:off x="4164183" y="4762288"/>
              <a:ext cx="393699" cy="393699"/>
            </a:xfrm>
            <a:prstGeom prst="ellipse">
              <a:avLst/>
            </a:prstGeom>
            <a:solidFill>
              <a:schemeClr val="accent3"/>
            </a:solidFill>
            <a:ln/>
          </p:spPr>
          <p:txBody>
            <a:bodyPr/>
            <a:lstStyle/>
            <a:p>
              <a:endParaRPr lang="en-DK" sz="1200"/>
            </a:p>
          </p:txBody>
        </p:sp>
        <p:sp>
          <p:nvSpPr>
            <p:cNvPr id="60" name="Text 6">
              <a:extLst>
                <a:ext uri="{FF2B5EF4-FFF2-40B4-BE49-F238E27FC236}">
                  <a16:creationId xmlns:a16="http://schemas.microsoft.com/office/drawing/2014/main" id="{F2A492A7-C1BC-1434-DEDE-DEEDD622E63B}"/>
                </a:ext>
              </a:extLst>
            </p:cNvPr>
            <p:cNvSpPr/>
            <p:nvPr/>
          </p:nvSpPr>
          <p:spPr>
            <a:xfrm>
              <a:off x="4640092" y="4818530"/>
              <a:ext cx="2781125" cy="337457"/>
            </a:xfrm>
            <a:prstGeom prst="rect">
              <a:avLst/>
            </a:prstGeom>
            <a:noFill/>
            <a:ln/>
          </p:spPr>
          <p:txBody>
            <a:bodyPr wrap="square" lIns="16933" tIns="16933" rIns="16933" bIns="16933" rtlCol="0" anchor="t">
              <a:normAutofit/>
            </a:bodyPr>
            <a:lstStyle/>
            <a:p>
              <a:r>
                <a:rPr lang="en-US" b="1" kern="0" spc="-36" dirty="0">
                  <a:solidFill>
                    <a:srgbClr val="1F3E77"/>
                  </a:solidFill>
                  <a:latin typeface="+mj-lt"/>
                  <a:ea typeface="Nunito Sans" pitchFamily="34" charset="-122"/>
                  <a:cs typeface="Nunito Sans" pitchFamily="34" charset="-120"/>
                </a:rPr>
                <a:t>Management and services</a:t>
              </a:r>
              <a:endParaRPr lang="en-US" dirty="0">
                <a:latin typeface="+mj-lt"/>
              </a:endParaRPr>
            </a:p>
          </p:txBody>
        </p:sp>
        <p:pic>
          <p:nvPicPr>
            <p:cNvPr id="66" name="Graphic 65">
              <a:extLst>
                <a:ext uri="{FF2B5EF4-FFF2-40B4-BE49-F238E27FC236}">
                  <a16:creationId xmlns:a16="http://schemas.microsoft.com/office/drawing/2014/main" id="{99B6BF38-A578-A46E-13E7-EDE5FEBBC8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4252604" y="4867500"/>
              <a:ext cx="209331" cy="194155"/>
            </a:xfrm>
            <a:prstGeom prst="rect">
              <a:avLst/>
            </a:prstGeom>
          </p:spPr>
        </p:pic>
      </p:grpSp>
      <p:sp>
        <p:nvSpPr>
          <p:cNvPr id="67" name="Shape 5">
            <a:extLst>
              <a:ext uri="{FF2B5EF4-FFF2-40B4-BE49-F238E27FC236}">
                <a16:creationId xmlns:a16="http://schemas.microsoft.com/office/drawing/2014/main" id="{C895574A-2B1B-188F-2598-9CD7FF3E4B6F}"/>
              </a:ext>
            </a:extLst>
          </p:cNvPr>
          <p:cNvSpPr/>
          <p:nvPr/>
        </p:nvSpPr>
        <p:spPr>
          <a:xfrm>
            <a:off x="503276" y="2080309"/>
            <a:ext cx="393699" cy="393699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DK" sz="1200">
              <a:solidFill>
                <a:schemeClr val="tx2"/>
              </a:solidFill>
            </a:endParaRPr>
          </a:p>
        </p:txBody>
      </p:sp>
      <p:sp>
        <p:nvSpPr>
          <p:cNvPr id="68" name="Shape 5">
            <a:extLst>
              <a:ext uri="{FF2B5EF4-FFF2-40B4-BE49-F238E27FC236}">
                <a16:creationId xmlns:a16="http://schemas.microsoft.com/office/drawing/2014/main" id="{36AFB643-82F3-322B-04D0-F9773970F62D}"/>
              </a:ext>
            </a:extLst>
          </p:cNvPr>
          <p:cNvSpPr/>
          <p:nvPr/>
        </p:nvSpPr>
        <p:spPr>
          <a:xfrm>
            <a:off x="6198507" y="2080054"/>
            <a:ext cx="393699" cy="393699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DK" sz="1200">
              <a:solidFill>
                <a:schemeClr val="tx2"/>
              </a:solidFill>
            </a:endParaRPr>
          </a:p>
        </p:txBody>
      </p:sp>
      <p:sp>
        <p:nvSpPr>
          <p:cNvPr id="69" name="Shape 19">
            <a:extLst>
              <a:ext uri="{FF2B5EF4-FFF2-40B4-BE49-F238E27FC236}">
                <a16:creationId xmlns:a16="http://schemas.microsoft.com/office/drawing/2014/main" id="{85D0DFCE-BD8F-D4F7-5EA1-6300A900F6EC}"/>
              </a:ext>
            </a:extLst>
          </p:cNvPr>
          <p:cNvSpPr/>
          <p:nvPr/>
        </p:nvSpPr>
        <p:spPr>
          <a:xfrm>
            <a:off x="3776038" y="3816211"/>
            <a:ext cx="1563687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70" name="Text 20">
            <a:extLst>
              <a:ext uri="{FF2B5EF4-FFF2-40B4-BE49-F238E27FC236}">
                <a16:creationId xmlns:a16="http://schemas.microsoft.com/office/drawing/2014/main" id="{DFEAF365-7566-CA14-8B71-C8DF49707E96}"/>
              </a:ext>
            </a:extLst>
          </p:cNvPr>
          <p:cNvSpPr/>
          <p:nvPr/>
        </p:nvSpPr>
        <p:spPr>
          <a:xfrm>
            <a:off x="3922995" y="3886968"/>
            <a:ext cx="1320573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Legal documents</a:t>
            </a:r>
            <a:endParaRPr lang="en-US" sz="1200"/>
          </a:p>
        </p:txBody>
      </p:sp>
      <p:pic>
        <p:nvPicPr>
          <p:cNvPr id="72" name="Graphic 71">
            <a:extLst>
              <a:ext uri="{FF2B5EF4-FFF2-40B4-BE49-F238E27FC236}">
                <a16:creationId xmlns:a16="http://schemas.microsoft.com/office/drawing/2014/main" id="{4F2F1D1C-D2F6-BC38-F8CD-57B6BA3372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789" y="2168288"/>
            <a:ext cx="227381" cy="227381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3F469026-11D3-BF75-F616-D2E71F606E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7769" y="2165270"/>
            <a:ext cx="226164" cy="226164"/>
          </a:xfrm>
          <a:prstGeom prst="rect">
            <a:avLst/>
          </a:prstGeom>
        </p:spPr>
      </p:pic>
      <p:grpSp>
        <p:nvGrpSpPr>
          <p:cNvPr id="38" name="Grupo 37">
            <a:extLst>
              <a:ext uri="{FF2B5EF4-FFF2-40B4-BE49-F238E27FC236}">
                <a16:creationId xmlns:a16="http://schemas.microsoft.com/office/drawing/2014/main" id="{05066A9E-F222-3848-91E0-3680B01BB49F}"/>
              </a:ext>
            </a:extLst>
          </p:cNvPr>
          <p:cNvGrpSpPr/>
          <p:nvPr/>
        </p:nvGrpSpPr>
        <p:grpSpPr>
          <a:xfrm>
            <a:off x="2377991" y="5344144"/>
            <a:ext cx="7436019" cy="348343"/>
            <a:chOff x="2519816" y="5344144"/>
            <a:chExt cx="7436019" cy="348343"/>
          </a:xfrm>
        </p:grpSpPr>
        <p:sp>
          <p:nvSpPr>
            <p:cNvPr id="61" name="Shape 27">
              <a:extLst>
                <a:ext uri="{FF2B5EF4-FFF2-40B4-BE49-F238E27FC236}">
                  <a16:creationId xmlns:a16="http://schemas.microsoft.com/office/drawing/2014/main" id="{79BD42A5-2623-ADC3-7CAE-C1CC81C7BD28}"/>
                </a:ext>
              </a:extLst>
            </p:cNvPr>
            <p:cNvSpPr/>
            <p:nvPr/>
          </p:nvSpPr>
          <p:spPr>
            <a:xfrm>
              <a:off x="2519816" y="5344144"/>
              <a:ext cx="1414504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sz="1100" kern="0" spc="-4" dirty="0">
                  <a:solidFill>
                    <a:srgbClr val="1F3E77"/>
                  </a:solidFill>
                  <a:ea typeface="Nunito Sans" pitchFamily="34" charset="-122"/>
                  <a:cs typeface="Nunito Sans" pitchFamily="34" charset="-120"/>
                </a:rPr>
                <a:t>The Pond library</a:t>
              </a:r>
              <a:endParaRPr lang="en-US" sz="1100" dirty="0"/>
            </a:p>
          </p:txBody>
        </p:sp>
        <p:sp>
          <p:nvSpPr>
            <p:cNvPr id="63" name="Shape 25">
              <a:extLst>
                <a:ext uri="{FF2B5EF4-FFF2-40B4-BE49-F238E27FC236}">
                  <a16:creationId xmlns:a16="http://schemas.microsoft.com/office/drawing/2014/main" id="{C218B161-1531-4048-821B-BE9F0ABE4B24}"/>
                </a:ext>
              </a:extLst>
            </p:cNvPr>
            <p:cNvSpPr/>
            <p:nvPr/>
          </p:nvSpPr>
          <p:spPr>
            <a:xfrm>
              <a:off x="4039176" y="5344144"/>
              <a:ext cx="1339227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sz="1200" kern="0" spc="-4" dirty="0">
                  <a:solidFill>
                    <a:srgbClr val="1F3E77"/>
                  </a:solidFill>
                  <a:ea typeface="Nunito Sans" pitchFamily="34" charset="-122"/>
                  <a:cs typeface="Nunito Sans" pitchFamily="34" charset="-120"/>
                </a:rPr>
                <a:t>Business cards</a:t>
              </a:r>
              <a:endParaRPr lang="en-US" sz="1200" dirty="0"/>
            </a:p>
          </p:txBody>
        </p:sp>
        <p:sp>
          <p:nvSpPr>
            <p:cNvPr id="75" name="Shape 27">
              <a:extLst>
                <a:ext uri="{FF2B5EF4-FFF2-40B4-BE49-F238E27FC236}">
                  <a16:creationId xmlns:a16="http://schemas.microsoft.com/office/drawing/2014/main" id="{56157A0A-CA56-2AE2-4B31-8926BE528CD2}"/>
                </a:ext>
              </a:extLst>
            </p:cNvPr>
            <p:cNvSpPr/>
            <p:nvPr/>
          </p:nvSpPr>
          <p:spPr>
            <a:xfrm>
              <a:off x="5477975" y="5344144"/>
              <a:ext cx="2170854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tIns="0" bIns="0" anchor="ctr"/>
            <a:lstStyle/>
            <a:p>
              <a:pPr algn="ctr"/>
              <a:r>
                <a:rPr lang="en-US" sz="1100" kern="0" spc="-4" dirty="0">
                  <a:solidFill>
                    <a:srgbClr val="1F3E77"/>
                  </a:solidFill>
                  <a:ea typeface="Nunito Sans" pitchFamily="34" charset="-122"/>
                  <a:cs typeface="Nunito Sans" pitchFamily="34" charset="-120"/>
                </a:rPr>
                <a:t>Project management board</a:t>
              </a:r>
              <a:endParaRPr lang="en-DK" sz="1100" dirty="0"/>
            </a:p>
          </p:txBody>
        </p:sp>
        <p:sp>
          <p:nvSpPr>
            <p:cNvPr id="78" name="Shape 27">
              <a:extLst>
                <a:ext uri="{FF2B5EF4-FFF2-40B4-BE49-F238E27FC236}">
                  <a16:creationId xmlns:a16="http://schemas.microsoft.com/office/drawing/2014/main" id="{A6D0E4AE-0E49-36D3-3D20-BFB593849B01}"/>
                </a:ext>
              </a:extLst>
            </p:cNvPr>
            <p:cNvSpPr/>
            <p:nvPr/>
          </p:nvSpPr>
          <p:spPr>
            <a:xfrm>
              <a:off x="7753685" y="5344144"/>
              <a:ext cx="2202150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sz="1100" kern="0" spc="-4" dirty="0">
                  <a:solidFill>
                    <a:srgbClr val="1F3E77"/>
                  </a:solidFill>
                  <a:ea typeface="Nunito Sans" pitchFamily="34" charset="-122"/>
                  <a:cs typeface="Nunito Sans" pitchFamily="34" charset="-120"/>
                </a:rPr>
                <a:t>Internal Design Hub library</a:t>
              </a:r>
              <a:endParaRPr lang="en-DK" sz="1100" dirty="0"/>
            </a:p>
          </p:txBody>
        </p:sp>
      </p:grpSp>
      <p:sp>
        <p:nvSpPr>
          <p:cNvPr id="80" name="Shape 45">
            <a:extLst>
              <a:ext uri="{FF2B5EF4-FFF2-40B4-BE49-F238E27FC236}">
                <a16:creationId xmlns:a16="http://schemas.microsoft.com/office/drawing/2014/main" id="{0ED2E913-603D-235B-7222-505C29007602}"/>
              </a:ext>
            </a:extLst>
          </p:cNvPr>
          <p:cNvSpPr/>
          <p:nvPr/>
        </p:nvSpPr>
        <p:spPr>
          <a:xfrm>
            <a:off x="7897722" y="3808063"/>
            <a:ext cx="850277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81" name="Text 46">
            <a:extLst>
              <a:ext uri="{FF2B5EF4-FFF2-40B4-BE49-F238E27FC236}">
                <a16:creationId xmlns:a16="http://schemas.microsoft.com/office/drawing/2014/main" id="{515BB134-64E5-82C9-BC50-7ABA2713C8AF}"/>
              </a:ext>
            </a:extLst>
          </p:cNvPr>
          <p:cNvSpPr/>
          <p:nvPr/>
        </p:nvSpPr>
        <p:spPr>
          <a:xfrm>
            <a:off x="8044679" y="3878820"/>
            <a:ext cx="607162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</a:rPr>
              <a:t>Merch</a:t>
            </a:r>
            <a:endParaRPr lang="en-US" sz="1200"/>
          </a:p>
        </p:txBody>
      </p:sp>
      <p:grpSp>
        <p:nvGrpSpPr>
          <p:cNvPr id="59" name="Grupo 58">
            <a:extLst>
              <a:ext uri="{FF2B5EF4-FFF2-40B4-BE49-F238E27FC236}">
                <a16:creationId xmlns:a16="http://schemas.microsoft.com/office/drawing/2014/main" id="{2C6D0C5E-6DB8-A96B-6B3A-3E015ABA31BF}"/>
              </a:ext>
            </a:extLst>
          </p:cNvPr>
          <p:cNvGrpSpPr/>
          <p:nvPr/>
        </p:nvGrpSpPr>
        <p:grpSpPr>
          <a:xfrm>
            <a:off x="2400455" y="5794395"/>
            <a:ext cx="7391091" cy="348343"/>
            <a:chOff x="2681357" y="5794395"/>
            <a:chExt cx="7391091" cy="348343"/>
          </a:xfrm>
        </p:grpSpPr>
        <p:sp>
          <p:nvSpPr>
            <p:cNvPr id="2" name="Shape 27">
              <a:extLst>
                <a:ext uri="{FF2B5EF4-FFF2-40B4-BE49-F238E27FC236}">
                  <a16:creationId xmlns:a16="http://schemas.microsoft.com/office/drawing/2014/main" id="{A797201F-F092-F986-21EA-85126B737B3B}"/>
                </a:ext>
              </a:extLst>
            </p:cNvPr>
            <p:cNvSpPr/>
            <p:nvPr/>
          </p:nvSpPr>
          <p:spPr>
            <a:xfrm>
              <a:off x="2681357" y="5794395"/>
              <a:ext cx="1627699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sz="1100" dirty="0">
                  <a:solidFill>
                    <a:schemeClr val="tx2"/>
                  </a:solidFill>
                </a:rPr>
                <a:t>QR Code Generator</a:t>
              </a:r>
            </a:p>
          </p:txBody>
        </p:sp>
        <p:sp>
          <p:nvSpPr>
            <p:cNvPr id="6" name="Shape 27">
              <a:extLst>
                <a:ext uri="{FF2B5EF4-FFF2-40B4-BE49-F238E27FC236}">
                  <a16:creationId xmlns:a16="http://schemas.microsoft.com/office/drawing/2014/main" id="{32A1CED5-7893-547F-2AD0-DDE076CBF656}"/>
                </a:ext>
              </a:extLst>
            </p:cNvPr>
            <p:cNvSpPr/>
            <p:nvPr/>
          </p:nvSpPr>
          <p:spPr>
            <a:xfrm>
              <a:off x="4425932" y="5794395"/>
              <a:ext cx="1808126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anchor="ctr"/>
            <a:lstStyle/>
            <a:p>
              <a:r>
                <a:rPr lang="en-US" sz="1100" dirty="0">
                  <a:solidFill>
                    <a:schemeClr val="tx2"/>
                  </a:solidFill>
                </a:rPr>
                <a:t>Umbraco Content Library</a:t>
              </a:r>
              <a:endParaRPr lang="en-DK" dirty="0"/>
            </a:p>
          </p:txBody>
        </p:sp>
        <p:sp>
          <p:nvSpPr>
            <p:cNvPr id="8" name="Shape 27">
              <a:extLst>
                <a:ext uri="{FF2B5EF4-FFF2-40B4-BE49-F238E27FC236}">
                  <a16:creationId xmlns:a16="http://schemas.microsoft.com/office/drawing/2014/main" id="{61A48C25-7692-DD85-E8B4-15CCF335CCF1}"/>
                </a:ext>
              </a:extLst>
            </p:cNvPr>
            <p:cNvSpPr/>
            <p:nvPr/>
          </p:nvSpPr>
          <p:spPr>
            <a:xfrm>
              <a:off x="6344926" y="5794395"/>
              <a:ext cx="1414504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sz="1100" dirty="0">
                  <a:solidFill>
                    <a:schemeClr val="tx2"/>
                  </a:solidFill>
                </a:rPr>
                <a:t>Canva Templates</a:t>
              </a:r>
              <a:endParaRPr lang="en-DK" sz="2000" dirty="0"/>
            </a:p>
          </p:txBody>
        </p:sp>
        <p:sp>
          <p:nvSpPr>
            <p:cNvPr id="10" name="Shape 27">
              <a:extLst>
                <a:ext uri="{FF2B5EF4-FFF2-40B4-BE49-F238E27FC236}">
                  <a16:creationId xmlns:a16="http://schemas.microsoft.com/office/drawing/2014/main" id="{22FE4BA2-7DAF-8257-D50E-483090968526}"/>
                </a:ext>
              </a:extLst>
            </p:cNvPr>
            <p:cNvSpPr/>
            <p:nvPr/>
          </p:nvSpPr>
          <p:spPr>
            <a:xfrm>
              <a:off x="7870298" y="5794395"/>
              <a:ext cx="2202150" cy="3483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0886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en-US" sz="1100" dirty="0">
                  <a:solidFill>
                    <a:schemeClr val="tx2"/>
                  </a:solidFill>
                </a:rPr>
                <a:t>Stock Photography and Video</a:t>
              </a:r>
              <a:endParaRPr lang="en-DK" sz="1100" dirty="0"/>
            </a:p>
          </p:txBody>
        </p:sp>
      </p:grpSp>
      <p:sp>
        <p:nvSpPr>
          <p:cNvPr id="13" name="Shape 25">
            <a:extLst>
              <a:ext uri="{FF2B5EF4-FFF2-40B4-BE49-F238E27FC236}">
                <a16:creationId xmlns:a16="http://schemas.microsoft.com/office/drawing/2014/main" id="{C9706113-BA82-8F49-8085-281FBBC0B16E}"/>
              </a:ext>
            </a:extLst>
          </p:cNvPr>
          <p:cNvSpPr/>
          <p:nvPr/>
        </p:nvSpPr>
        <p:spPr>
          <a:xfrm>
            <a:off x="508001" y="4240216"/>
            <a:ext cx="1059486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D6B14B78-585F-4F8B-1D86-8193888B2C20}"/>
              </a:ext>
            </a:extLst>
          </p:cNvPr>
          <p:cNvSpPr/>
          <p:nvPr/>
        </p:nvSpPr>
        <p:spPr>
          <a:xfrm>
            <a:off x="654957" y="4310973"/>
            <a:ext cx="867153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Packaging</a:t>
            </a:r>
            <a:endParaRPr lang="en-US" sz="1200"/>
          </a:p>
        </p:txBody>
      </p:sp>
      <p:sp>
        <p:nvSpPr>
          <p:cNvPr id="65" name="Shape 19">
            <a:extLst>
              <a:ext uri="{FF2B5EF4-FFF2-40B4-BE49-F238E27FC236}">
                <a16:creationId xmlns:a16="http://schemas.microsoft.com/office/drawing/2014/main" id="{D296563D-0EB7-47FF-7AC8-3D2FAD83234A}"/>
              </a:ext>
            </a:extLst>
          </p:cNvPr>
          <p:cNvSpPr/>
          <p:nvPr/>
        </p:nvSpPr>
        <p:spPr>
          <a:xfrm>
            <a:off x="1630986" y="4237973"/>
            <a:ext cx="1563687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71" name="Text 20">
            <a:extLst>
              <a:ext uri="{FF2B5EF4-FFF2-40B4-BE49-F238E27FC236}">
                <a16:creationId xmlns:a16="http://schemas.microsoft.com/office/drawing/2014/main" id="{477CD155-8D8E-6EFC-7189-3AA65A556C71}"/>
              </a:ext>
            </a:extLst>
          </p:cNvPr>
          <p:cNvSpPr/>
          <p:nvPr/>
        </p:nvSpPr>
        <p:spPr>
          <a:xfrm>
            <a:off x="1777943" y="4308730"/>
            <a:ext cx="1320573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Learning Material</a:t>
            </a:r>
            <a:endParaRPr lang="en-US" sz="1200"/>
          </a:p>
        </p:txBody>
      </p:sp>
      <p:sp>
        <p:nvSpPr>
          <p:cNvPr id="73" name="Shape 19">
            <a:extLst>
              <a:ext uri="{FF2B5EF4-FFF2-40B4-BE49-F238E27FC236}">
                <a16:creationId xmlns:a16="http://schemas.microsoft.com/office/drawing/2014/main" id="{E140ED10-976B-32DC-4BD6-3A9CF84C8179}"/>
              </a:ext>
            </a:extLst>
          </p:cNvPr>
          <p:cNvSpPr/>
          <p:nvPr/>
        </p:nvSpPr>
        <p:spPr>
          <a:xfrm>
            <a:off x="4252991" y="4237973"/>
            <a:ext cx="911183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77" name="Text 20">
            <a:extLst>
              <a:ext uri="{FF2B5EF4-FFF2-40B4-BE49-F238E27FC236}">
                <a16:creationId xmlns:a16="http://schemas.microsoft.com/office/drawing/2014/main" id="{778F19AE-F3E0-DF8B-0968-38632DF77701}"/>
              </a:ext>
            </a:extLst>
          </p:cNvPr>
          <p:cNvSpPr/>
          <p:nvPr/>
        </p:nvSpPr>
        <p:spPr>
          <a:xfrm>
            <a:off x="4399949" y="4308730"/>
            <a:ext cx="694666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+ more</a:t>
            </a:r>
            <a:endParaRPr lang="en-US" sz="1200"/>
          </a:p>
        </p:txBody>
      </p:sp>
      <p:sp>
        <p:nvSpPr>
          <p:cNvPr id="82" name="Shape 45">
            <a:extLst>
              <a:ext uri="{FF2B5EF4-FFF2-40B4-BE49-F238E27FC236}">
                <a16:creationId xmlns:a16="http://schemas.microsoft.com/office/drawing/2014/main" id="{1AE1FB22-B5CF-A596-CD2A-1094DCDE1F3E}"/>
              </a:ext>
            </a:extLst>
          </p:cNvPr>
          <p:cNvSpPr/>
          <p:nvPr/>
        </p:nvSpPr>
        <p:spPr>
          <a:xfrm>
            <a:off x="8805946" y="3808063"/>
            <a:ext cx="850277" cy="3483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83" name="Text 46">
            <a:extLst>
              <a:ext uri="{FF2B5EF4-FFF2-40B4-BE49-F238E27FC236}">
                <a16:creationId xmlns:a16="http://schemas.microsoft.com/office/drawing/2014/main" id="{5195E7A0-85D4-0947-A5F3-19C9BD71A620}"/>
              </a:ext>
            </a:extLst>
          </p:cNvPr>
          <p:cNvSpPr/>
          <p:nvPr/>
        </p:nvSpPr>
        <p:spPr>
          <a:xfrm>
            <a:off x="8952903" y="3878820"/>
            <a:ext cx="607162" cy="2322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</a:rPr>
              <a:t>+ more</a:t>
            </a:r>
            <a:endParaRPr lang="en-US" sz="1200"/>
          </a:p>
        </p:txBody>
      </p:sp>
      <p:sp>
        <p:nvSpPr>
          <p:cNvPr id="84" name="Shape 19">
            <a:extLst>
              <a:ext uri="{FF2B5EF4-FFF2-40B4-BE49-F238E27FC236}">
                <a16:creationId xmlns:a16="http://schemas.microsoft.com/office/drawing/2014/main" id="{5A2E8CE0-25AE-A168-4B4E-A999E81B89B4}"/>
              </a:ext>
            </a:extLst>
          </p:cNvPr>
          <p:cNvSpPr/>
          <p:nvPr/>
        </p:nvSpPr>
        <p:spPr>
          <a:xfrm>
            <a:off x="3274454" y="4237973"/>
            <a:ext cx="911183" cy="348343"/>
          </a:xfrm>
          <a:prstGeom prst="roundRect">
            <a:avLst/>
          </a:prstGeom>
          <a:solidFill>
            <a:schemeClr val="accent3"/>
          </a:solidFill>
          <a:ln w="10886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85" name="Text 20">
            <a:extLst>
              <a:ext uri="{FF2B5EF4-FFF2-40B4-BE49-F238E27FC236}">
                <a16:creationId xmlns:a16="http://schemas.microsoft.com/office/drawing/2014/main" id="{4931725A-DAE8-B9C2-53E4-9BE6BDED7556}"/>
              </a:ext>
            </a:extLst>
          </p:cNvPr>
          <p:cNvSpPr/>
          <p:nvPr/>
        </p:nvSpPr>
        <p:spPr>
          <a:xfrm>
            <a:off x="3421412" y="4308730"/>
            <a:ext cx="694666" cy="23222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16933" tIns="16933" rIns="16933" bIns="16933" rtlCol="0" anchor="ctr">
            <a:normAutofit lnSpcReduction="10000"/>
          </a:bodyPr>
          <a:lstStyle/>
          <a:p>
            <a:r>
              <a:rPr lang="en-US" sz="1200" kern="0" spc="-4">
                <a:solidFill>
                  <a:srgbClr val="1F3E77"/>
                </a:solidFill>
                <a:ea typeface="Nunito Sans" pitchFamily="34" charset="-122"/>
                <a:cs typeface="Nunito Sans" pitchFamily="34" charset="-120"/>
              </a:rPr>
              <a:t>Merch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081876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AF7975-87B0-3694-92E2-3359F14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7</a:t>
            </a:fld>
            <a:endParaRPr lang="en-GB" noProof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13579BA-9F4B-4D03-9B60-7525C9E98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Ownership</a:t>
            </a: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2D284377-C6AD-BF34-3F29-D172568743AA}"/>
              </a:ext>
            </a:extLst>
          </p:cNvPr>
          <p:cNvSpPr/>
          <p:nvPr/>
        </p:nvSpPr>
        <p:spPr>
          <a:xfrm>
            <a:off x="508000" y="2667000"/>
            <a:ext cx="5511801" cy="16383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1FBDF788-081C-7CB9-3218-007A9F1F5BFB}"/>
              </a:ext>
            </a:extLst>
          </p:cNvPr>
          <p:cNvSpPr/>
          <p:nvPr/>
        </p:nvSpPr>
        <p:spPr>
          <a:xfrm>
            <a:off x="1426029" y="2924629"/>
            <a:ext cx="4054293" cy="2685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400" b="1" kern="0" spc="-28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Graphic Design</a:t>
            </a:r>
            <a:endParaRPr lang="en-US" sz="1400">
              <a:latin typeface="+mj-lt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A7C7F426-BE65-21A0-1174-C62BCE2C9733}"/>
              </a:ext>
            </a:extLst>
          </p:cNvPr>
          <p:cNvSpPr/>
          <p:nvPr/>
        </p:nvSpPr>
        <p:spPr>
          <a:xfrm>
            <a:off x="1426029" y="3231243"/>
            <a:ext cx="4316580" cy="100061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00" kern="0" spc="-4" dirty="0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Campaigns · marketing assets · layouts · digital &amp; print material </a:t>
            </a:r>
            <a:r>
              <a:rPr lang="en-US" sz="1100" kern="0" spc="-4" dirty="0">
                <a:solidFill>
                  <a:srgbClr val="3D5687"/>
                </a:solidFill>
                <a:ea typeface="Nunito Sans" pitchFamily="34" charset="-122"/>
                <a:cs typeface="Nunito Sans" pitchFamily="34" charset="-120"/>
              </a:rPr>
              <a:t> · packaging</a:t>
            </a:r>
            <a:r>
              <a:rPr lang="en-US" sz="1100" kern="0" spc="-4" dirty="0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 </a:t>
            </a:r>
            <a:endParaRPr lang="en-US" sz="1100" dirty="0">
              <a:latin typeface="+mj-lt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5968CF66-2A77-7FAA-F70E-1B5307AA102F}"/>
              </a:ext>
            </a:extLst>
          </p:cNvPr>
          <p:cNvSpPr/>
          <p:nvPr/>
        </p:nvSpPr>
        <p:spPr>
          <a:xfrm>
            <a:off x="6172201" y="2667000"/>
            <a:ext cx="5511801" cy="16383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DB03E88B-0316-8CFF-6C52-B31E07344DDF}"/>
              </a:ext>
            </a:extLst>
          </p:cNvPr>
          <p:cNvSpPr/>
          <p:nvPr/>
        </p:nvSpPr>
        <p:spPr>
          <a:xfrm>
            <a:off x="7090230" y="2924629"/>
            <a:ext cx="2815861" cy="2685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400" b="1" kern="0" spc="-28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Motion &amp; Video</a:t>
            </a:r>
            <a:endParaRPr lang="en-US" sz="1400">
              <a:latin typeface="+mj-lt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77E70527-5109-488F-E89C-208C4ADF2A69}"/>
              </a:ext>
            </a:extLst>
          </p:cNvPr>
          <p:cNvSpPr/>
          <p:nvPr/>
        </p:nvSpPr>
        <p:spPr>
          <a:xfrm>
            <a:off x="7090229" y="3231244"/>
            <a:ext cx="4363355" cy="92119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 kern="0" spc="-4" dirty="0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Animations · video editing · motion graphics </a:t>
            </a:r>
            <a:r>
              <a:rPr lang="en-US" sz="1200" kern="0" spc="-4" dirty="0">
                <a:solidFill>
                  <a:srgbClr val="3D5687"/>
                </a:solidFill>
                <a:ea typeface="Nunito Sans" pitchFamily="34" charset="-122"/>
                <a:cs typeface="Nunito Sans" pitchFamily="34" charset="-120"/>
              </a:rPr>
              <a:t>· storytelling</a:t>
            </a:r>
            <a:endParaRPr lang="en-US" sz="1200" dirty="0">
              <a:latin typeface="+mj-lt"/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18C92DF5-82D5-D55C-6E5D-AC832D2FA2C9}"/>
              </a:ext>
            </a:extLst>
          </p:cNvPr>
          <p:cNvSpPr/>
          <p:nvPr/>
        </p:nvSpPr>
        <p:spPr>
          <a:xfrm>
            <a:off x="508000" y="4457701"/>
            <a:ext cx="5511801" cy="16383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21E2F579-4E1C-34DC-1796-42F2229A11FA}"/>
              </a:ext>
            </a:extLst>
          </p:cNvPr>
          <p:cNvSpPr/>
          <p:nvPr/>
        </p:nvSpPr>
        <p:spPr>
          <a:xfrm>
            <a:off x="1426029" y="4715329"/>
            <a:ext cx="3353349" cy="2685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400" b="1" kern="0" spc="-28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Brand &amp; Creative Direction</a:t>
            </a:r>
            <a:endParaRPr lang="en-US" sz="1400">
              <a:latin typeface="+mj-lt"/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85FB8AB1-FA10-D045-C233-A3C16B6D6E9F}"/>
              </a:ext>
            </a:extLst>
          </p:cNvPr>
          <p:cNvSpPr/>
          <p:nvPr/>
        </p:nvSpPr>
        <p:spPr>
          <a:xfrm>
            <a:off x="1426029" y="5021943"/>
            <a:ext cx="4316580" cy="91061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 kern="0" spc="-4" dirty="0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Visual consistency · art direction · strategic guidance</a:t>
            </a:r>
            <a:endParaRPr lang="en-US" sz="1200" dirty="0">
              <a:latin typeface="+mj-lt"/>
            </a:endParaRPr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12774E4A-E491-710E-53F7-236939BA977E}"/>
              </a:ext>
            </a:extLst>
          </p:cNvPr>
          <p:cNvSpPr/>
          <p:nvPr/>
        </p:nvSpPr>
        <p:spPr>
          <a:xfrm>
            <a:off x="6172199" y="4457701"/>
            <a:ext cx="5511801" cy="16383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5443">
            <a:noFill/>
            <a:prstDash val="solid"/>
          </a:ln>
        </p:spPr>
        <p:txBody>
          <a:bodyPr/>
          <a:lstStyle/>
          <a:p>
            <a:endParaRPr lang="en-DK" sz="120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99418BD4-8CC8-F2E8-3C2A-1062DDD4CBFF}"/>
              </a:ext>
            </a:extLst>
          </p:cNvPr>
          <p:cNvSpPr/>
          <p:nvPr/>
        </p:nvSpPr>
        <p:spPr>
          <a:xfrm>
            <a:off x="7090230" y="4715329"/>
            <a:ext cx="4466227" cy="2685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400" b="1" kern="0" spc="-28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Production &amp; Coordination</a:t>
            </a:r>
            <a:endParaRPr lang="en-US" sz="1400">
              <a:latin typeface="+mj-lt"/>
            </a:endParaRPr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C7834FDE-A5BE-2B61-B376-1FF1D25BF66F}"/>
              </a:ext>
            </a:extLst>
          </p:cNvPr>
          <p:cNvSpPr/>
          <p:nvPr/>
        </p:nvSpPr>
        <p:spPr>
          <a:xfrm>
            <a:off x="7090230" y="5021942"/>
            <a:ext cx="4466227" cy="57377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00" kern="0" spc="-4" dirty="0">
                <a:solidFill>
                  <a:srgbClr val="3D568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Workflow management · printer/publisher coordination · file &amp; asset organization</a:t>
            </a:r>
            <a:endParaRPr lang="en-US" sz="1100" dirty="0">
              <a:latin typeface="+mj-lt"/>
            </a:endParaRPr>
          </a:p>
        </p:txBody>
      </p:sp>
      <p:pic>
        <p:nvPicPr>
          <p:cNvPr id="28" name="Graphic 27" descr="Images with solid fill">
            <a:extLst>
              <a:ext uri="{FF2B5EF4-FFF2-40B4-BE49-F238E27FC236}">
                <a16:creationId xmlns:a16="http://schemas.microsoft.com/office/drawing/2014/main" id="{3E3D933D-A43F-6D37-43E9-E9E4BEC44C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415" y="2907694"/>
            <a:ext cx="457200" cy="457200"/>
          </a:xfrm>
          <a:prstGeom prst="rect">
            <a:avLst/>
          </a:prstGeom>
        </p:spPr>
      </p:pic>
      <p:pic>
        <p:nvPicPr>
          <p:cNvPr id="30" name="Graphic 29" descr="Clapper board with solid fill">
            <a:extLst>
              <a:ext uri="{FF2B5EF4-FFF2-40B4-BE49-F238E27FC236}">
                <a16:creationId xmlns:a16="http://schemas.microsoft.com/office/drawing/2014/main" id="{8A914658-36B6-07F5-40C5-10F769080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5677" y="2914346"/>
            <a:ext cx="449985" cy="449985"/>
          </a:xfrm>
          <a:prstGeom prst="rect">
            <a:avLst/>
          </a:prstGeom>
        </p:spPr>
      </p:pic>
      <p:pic>
        <p:nvPicPr>
          <p:cNvPr id="32" name="Graphic 31" descr="Map compass with solid fill">
            <a:extLst>
              <a:ext uri="{FF2B5EF4-FFF2-40B4-BE49-F238E27FC236}">
                <a16:creationId xmlns:a16="http://schemas.microsoft.com/office/drawing/2014/main" id="{A9348CD9-268F-14B5-CAE8-C6B4C92471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415" y="4715329"/>
            <a:ext cx="486986" cy="486986"/>
          </a:xfrm>
          <a:prstGeom prst="rect">
            <a:avLst/>
          </a:prstGeom>
        </p:spPr>
      </p:pic>
      <p:pic>
        <p:nvPicPr>
          <p:cNvPr id="34" name="Graphic 33" descr="Filing Box Archive with solid fill">
            <a:extLst>
              <a:ext uri="{FF2B5EF4-FFF2-40B4-BE49-F238E27FC236}">
                <a16:creationId xmlns:a16="http://schemas.microsoft.com/office/drawing/2014/main" id="{C2AEF461-77BD-5145-AD80-1BF38C127E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9623" y="4715329"/>
            <a:ext cx="471078" cy="471078"/>
          </a:xfrm>
          <a:prstGeom prst="rect">
            <a:avLst/>
          </a:prstGeom>
        </p:spPr>
      </p:pic>
      <p:sp>
        <p:nvSpPr>
          <p:cNvPr id="35" name="Text 4">
            <a:extLst>
              <a:ext uri="{FF2B5EF4-FFF2-40B4-BE49-F238E27FC236}">
                <a16:creationId xmlns:a16="http://schemas.microsoft.com/office/drawing/2014/main" id="{AF185C4E-D179-4AB0-9CAA-86759A005B8C}"/>
              </a:ext>
            </a:extLst>
          </p:cNvPr>
          <p:cNvSpPr/>
          <p:nvPr/>
        </p:nvSpPr>
        <p:spPr>
          <a:xfrm>
            <a:off x="3987801" y="1784225"/>
            <a:ext cx="6386331" cy="5374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6000"/>
              </a:lnSpc>
            </a:pPr>
            <a:r>
              <a:rPr lang="en-US" sz="2800" b="1" kern="0" spc="-105">
                <a:solidFill>
                  <a:srgbClr val="0471AD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One team, </a:t>
            </a:r>
            <a:r>
              <a:rPr lang="en-US" sz="2800" b="1" kern="0" spc="-105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Multiple support</a:t>
            </a:r>
            <a:endParaRPr lang="en-US" sz="28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6905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C2A7B-E567-F3FB-3A51-1734832A5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5856DB9-A96D-232E-2399-A6388BFE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8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F7FA894-E008-C38D-8CC2-AA545CBEA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Beyond</a:t>
            </a:r>
            <a:r>
              <a:rPr lang="es-ES"/>
              <a:t> Daily </a:t>
            </a:r>
            <a:r>
              <a:rPr lang="es-ES" err="1"/>
              <a:t>Design</a:t>
            </a:r>
            <a:r>
              <a:rPr lang="es-ES"/>
              <a:t> </a:t>
            </a:r>
            <a:r>
              <a:rPr lang="es-ES" err="1"/>
              <a:t>Support</a:t>
            </a:r>
            <a:endParaRPr lang="es-ES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0BA0217-9058-7BDA-03BF-35ABE5F547D5}"/>
              </a:ext>
            </a:extLst>
          </p:cNvPr>
          <p:cNvSpPr/>
          <p:nvPr/>
        </p:nvSpPr>
        <p:spPr>
          <a:xfrm>
            <a:off x="468000" y="1448474"/>
            <a:ext cx="2727373" cy="4774301"/>
          </a:xfrm>
          <a:prstGeom prst="roundRect">
            <a:avLst>
              <a:gd name="adj" fmla="val 436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01</a:t>
            </a:r>
          </a:p>
          <a:p>
            <a:pPr algn="ctr"/>
            <a:r>
              <a:rPr lang="en-US" sz="2800" b="1"/>
              <a:t>Brand Management</a:t>
            </a:r>
          </a:p>
          <a:p>
            <a:pPr algn="ctr"/>
            <a:endParaRPr lang="en-US" b="1"/>
          </a:p>
          <a:p>
            <a:pPr algn="ctr"/>
            <a:r>
              <a:rPr lang="en-US"/>
              <a:t>Brand consistency / Brand evolution / </a:t>
            </a:r>
          </a:p>
          <a:p>
            <a:pPr algn="ctr"/>
            <a:r>
              <a:rPr lang="en-US"/>
              <a:t>Visual governance</a:t>
            </a:r>
          </a:p>
          <a:p>
            <a:pPr algn="ctr"/>
            <a:endParaRPr lang="en-US" b="1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E6938E75-1465-6D6A-57CA-23BC39D8AA34}"/>
              </a:ext>
            </a:extLst>
          </p:cNvPr>
          <p:cNvSpPr/>
          <p:nvPr/>
        </p:nvSpPr>
        <p:spPr>
          <a:xfrm>
            <a:off x="3308626" y="1448474"/>
            <a:ext cx="2727373" cy="4774301"/>
          </a:xfrm>
          <a:prstGeom prst="roundRect">
            <a:avLst>
              <a:gd name="adj" fmla="val 436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02</a:t>
            </a:r>
          </a:p>
          <a:p>
            <a:pPr algn="ctr"/>
            <a:r>
              <a:rPr lang="en-US" sz="2800" b="1"/>
              <a:t>Creative Development</a:t>
            </a:r>
          </a:p>
          <a:p>
            <a:pPr algn="ctr"/>
            <a:endParaRPr lang="en-US" b="1"/>
          </a:p>
          <a:p>
            <a:pPr algn="ctr"/>
            <a:r>
              <a:rPr lang="en-US"/>
              <a:t>Concepts and campaigns / Art direction / Visual storytelling</a:t>
            </a:r>
          </a:p>
          <a:p>
            <a:pPr algn="ctr"/>
            <a:endParaRPr lang="es-ES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71D0CAF8-FFCF-601B-D9C6-8EB0FC76E9DA}"/>
              </a:ext>
            </a:extLst>
          </p:cNvPr>
          <p:cNvSpPr/>
          <p:nvPr/>
        </p:nvSpPr>
        <p:spPr>
          <a:xfrm>
            <a:off x="6149252" y="1448474"/>
            <a:ext cx="2727373" cy="4774301"/>
          </a:xfrm>
          <a:prstGeom prst="roundRect">
            <a:avLst>
              <a:gd name="adj" fmla="val 436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03</a:t>
            </a:r>
          </a:p>
          <a:p>
            <a:pPr algn="ctr"/>
            <a:r>
              <a:rPr lang="en-US" sz="2800" b="1"/>
              <a:t>Production &amp; Adaptation</a:t>
            </a:r>
          </a:p>
          <a:p>
            <a:pPr algn="ctr"/>
            <a:endParaRPr lang="en-US" b="1"/>
          </a:p>
          <a:p>
            <a:pPr algn="ctr"/>
            <a:r>
              <a:rPr lang="es-ES"/>
              <a:t>Market </a:t>
            </a:r>
            <a:r>
              <a:rPr lang="es-ES" err="1"/>
              <a:t>Adaptation</a:t>
            </a:r>
            <a:r>
              <a:rPr lang="en-US"/>
              <a:t> / Resizing and roll-outs / Print &amp; digital production</a:t>
            </a:r>
          </a:p>
          <a:p>
            <a:pPr algn="ctr"/>
            <a:endParaRPr lang="es-ES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8E37BD4-275F-03AD-B66F-9632163374F6}"/>
              </a:ext>
            </a:extLst>
          </p:cNvPr>
          <p:cNvSpPr/>
          <p:nvPr/>
        </p:nvSpPr>
        <p:spPr>
          <a:xfrm>
            <a:off x="8989877" y="1448474"/>
            <a:ext cx="2727373" cy="4774301"/>
          </a:xfrm>
          <a:prstGeom prst="roundRect">
            <a:avLst>
              <a:gd name="adj" fmla="val 436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04</a:t>
            </a:r>
          </a:p>
          <a:p>
            <a:pPr algn="ctr"/>
            <a:r>
              <a:rPr lang="en-US" sz="2800" b="1"/>
              <a:t>Strategic Support</a:t>
            </a:r>
          </a:p>
          <a:p>
            <a:pPr algn="ctr"/>
            <a:endParaRPr lang="en-US" b="1"/>
          </a:p>
          <a:p>
            <a:pPr algn="ctr"/>
            <a:r>
              <a:rPr lang="en-US"/>
              <a:t>Cross-market coordination / Creative recommendations /</a:t>
            </a:r>
          </a:p>
          <a:p>
            <a:pPr algn="ctr"/>
            <a:r>
              <a:rPr lang="en-US"/>
              <a:t>Design consultation</a:t>
            </a:r>
          </a:p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6394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2">
            <a:extLst>
              <a:ext uri="{FF2B5EF4-FFF2-40B4-BE49-F238E27FC236}">
                <a16:creationId xmlns:a16="http://schemas.microsoft.com/office/drawing/2014/main" id="{C393012A-B562-6CB1-0B3E-4D624BDF8688}"/>
              </a:ext>
            </a:extLst>
          </p:cNvPr>
          <p:cNvPicPr>
            <a:picLocks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17">
            <a:extLst>
              <a:ext uri="{FF2B5EF4-FFF2-40B4-BE49-F238E27FC236}">
                <a16:creationId xmlns:a16="http://schemas.microsoft.com/office/drawing/2014/main" id="{9757B7BE-8820-F2EC-DD1C-948006EE2E20}"/>
              </a:ext>
            </a:extLst>
          </p:cNvPr>
          <p:cNvPicPr>
            <a:picLocks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747" y="-259278"/>
            <a:ext cx="13000399" cy="676003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006C6AC0-274F-4682-D785-7B5EFF7F54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22801" y="431999"/>
            <a:ext cx="6253740" cy="541846"/>
          </a:xfrm>
        </p:spPr>
        <p:txBody>
          <a:bodyPr>
            <a:normAutofit/>
          </a:bodyPr>
          <a:lstStyle/>
          <a:p>
            <a:pPr lvl="0" algn="r"/>
            <a:r>
              <a:rPr lang="es-ES" sz="3200"/>
              <a:t>Design Hub </a:t>
            </a:r>
            <a:r>
              <a:rPr lang="es-ES" sz="3200" err="1"/>
              <a:t>through</a:t>
            </a:r>
            <a:r>
              <a:rPr lang="es-ES" sz="3200"/>
              <a:t> </a:t>
            </a:r>
            <a:r>
              <a:rPr lang="es-ES" sz="3200" err="1"/>
              <a:t>the</a:t>
            </a:r>
            <a:r>
              <a:rPr lang="es-ES" sz="3200"/>
              <a:t> </a:t>
            </a:r>
            <a:r>
              <a:rPr lang="es-ES" sz="3200" err="1"/>
              <a:t>years</a:t>
            </a:r>
            <a:endParaRPr lang="en-DK" sz="3200"/>
          </a:p>
        </p:txBody>
      </p:sp>
      <p:pic>
        <p:nvPicPr>
          <p:cNvPr id="5" name="Graphic 19">
            <a:extLst>
              <a:ext uri="{FF2B5EF4-FFF2-40B4-BE49-F238E27FC236}">
                <a16:creationId xmlns:a16="http://schemas.microsoft.com/office/drawing/2014/main" id="{47DE1F2A-0970-DB8F-E0A3-ABAC733CF9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5836" y="394656"/>
            <a:ext cx="600075" cy="761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Box 20">
            <a:extLst>
              <a:ext uri="{FF2B5EF4-FFF2-40B4-BE49-F238E27FC236}">
                <a16:creationId xmlns:a16="http://schemas.microsoft.com/office/drawing/2014/main" id="{4FF00B6D-6D0C-91B1-48AC-AD5C68F2B7E9}"/>
              </a:ext>
            </a:extLst>
          </p:cNvPr>
          <p:cNvSpPr txBox="1"/>
          <p:nvPr/>
        </p:nvSpPr>
        <p:spPr>
          <a:xfrm>
            <a:off x="1714361" y="308400"/>
            <a:ext cx="1699833" cy="4414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>
                <a:solidFill>
                  <a:srgbClr val="1F3E77"/>
                </a:solidFill>
                <a:uFillTx/>
                <a:latin typeface="Arial"/>
                <a:ea typeface="DengXian"/>
              </a:rPr>
              <a:t>2010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Fragmented design and communication in the markets</a:t>
            </a:r>
            <a:endParaRPr lang="en-US" sz="700" spc="20">
              <a:solidFill>
                <a:schemeClr val="bg1">
                  <a:lumMod val="50000"/>
                </a:schemeClr>
              </a:solidFill>
              <a:latin typeface="Arial"/>
              <a:ea typeface="DengXian"/>
            </a:endParaRP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0DDB900C-9835-4224-A411-9EA7505E0906}"/>
              </a:ext>
            </a:extLst>
          </p:cNvPr>
          <p:cNvSpPr txBox="1"/>
          <p:nvPr/>
        </p:nvSpPr>
        <p:spPr>
          <a:xfrm>
            <a:off x="4753187" y="1175525"/>
            <a:ext cx="1156229" cy="54184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 dirty="0">
                <a:solidFill>
                  <a:srgbClr val="1F3E77"/>
                </a:solidFill>
                <a:uFillTx/>
                <a:latin typeface="Arial"/>
                <a:ea typeface="DengXian"/>
              </a:rPr>
              <a:t>2019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spc="20" dirty="0" err="1">
                <a:solidFill>
                  <a:schemeClr val="bg1">
                    <a:lumMod val="50000"/>
                  </a:schemeClr>
                </a:solidFill>
                <a:latin typeface="Arial"/>
                <a:ea typeface="DengXian"/>
              </a:rPr>
              <a:t>BioMar</a:t>
            </a:r>
            <a:r>
              <a:rPr lang="en-US" sz="700" spc="20" dirty="0">
                <a:solidFill>
                  <a:schemeClr val="bg1">
                    <a:lumMod val="50000"/>
                  </a:schemeClr>
                </a:solidFill>
                <a:latin typeface="Arial"/>
                <a:ea typeface="DengXian"/>
              </a:rPr>
              <a:t> rebranding.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700" spc="20" dirty="0">
              <a:solidFill>
                <a:schemeClr val="bg1">
                  <a:lumMod val="50000"/>
                </a:schemeClr>
              </a:solidFill>
              <a:latin typeface="Arial"/>
              <a:ea typeface="DengXian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spc="20" dirty="0">
                <a:solidFill>
                  <a:schemeClr val="bg1">
                    <a:lumMod val="50000"/>
                  </a:schemeClr>
                </a:solidFill>
                <a:latin typeface="Arial"/>
                <a:ea typeface="DengXian"/>
              </a:rPr>
              <a:t>New Brand Guidelines.</a:t>
            </a:r>
            <a:endParaRPr lang="en-US" sz="700" b="0" i="0" u="none" strike="noStrike" kern="1200" cap="none" spc="20" baseline="0" dirty="0">
              <a:solidFill>
                <a:schemeClr val="bg1">
                  <a:lumMod val="50000"/>
                </a:schemeClr>
              </a:solidFill>
              <a:uFillTx/>
              <a:latin typeface="Arial"/>
              <a:ea typeface="DengXian"/>
            </a:endParaRPr>
          </a:p>
        </p:txBody>
      </p:sp>
      <p:sp>
        <p:nvSpPr>
          <p:cNvPr id="15" name="TextBox 39">
            <a:extLst>
              <a:ext uri="{FF2B5EF4-FFF2-40B4-BE49-F238E27FC236}">
                <a16:creationId xmlns:a16="http://schemas.microsoft.com/office/drawing/2014/main" id="{77834861-9EA0-1F67-B9BD-C5A3BDDBAFE2}"/>
              </a:ext>
            </a:extLst>
          </p:cNvPr>
          <p:cNvSpPr txBox="1"/>
          <p:nvPr/>
        </p:nvSpPr>
        <p:spPr>
          <a:xfrm>
            <a:off x="9040106" y="973542"/>
            <a:ext cx="1427598" cy="54784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 dirty="0">
                <a:solidFill>
                  <a:srgbClr val="1F3E77"/>
                </a:solidFill>
                <a:uFillTx/>
                <a:latin typeface="Arial"/>
                <a:ea typeface="DengXian"/>
              </a:rPr>
              <a:t>2020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Incorporation of full-time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in-hous</a:t>
            </a:r>
            <a:r>
              <a:rPr lang="en-US" sz="700" spc="20" dirty="0">
                <a:solidFill>
                  <a:schemeClr val="bg1">
                    <a:lumMod val="50000"/>
                  </a:schemeClr>
                </a:solidFill>
                <a:latin typeface="Arial"/>
                <a:ea typeface="DengXian"/>
              </a:rPr>
              <a:t>e Designer for Global Marketing needs.</a:t>
            </a:r>
            <a:endParaRPr lang="en-US" sz="700" b="0" i="0" u="none" strike="noStrike" kern="1200" cap="none" spc="20" baseline="0" dirty="0">
              <a:solidFill>
                <a:schemeClr val="bg1">
                  <a:lumMod val="50000"/>
                </a:schemeClr>
              </a:solidFill>
              <a:uFillTx/>
              <a:latin typeface="Arial"/>
              <a:ea typeface="DengXian"/>
            </a:endParaRPr>
          </a:p>
        </p:txBody>
      </p:sp>
      <p:sp>
        <p:nvSpPr>
          <p:cNvPr id="18" name="TextBox 42">
            <a:extLst>
              <a:ext uri="{FF2B5EF4-FFF2-40B4-BE49-F238E27FC236}">
                <a16:creationId xmlns:a16="http://schemas.microsoft.com/office/drawing/2014/main" id="{80948A13-BAE7-5706-2ABA-5A35FE093D79}"/>
              </a:ext>
            </a:extLst>
          </p:cNvPr>
          <p:cNvSpPr txBox="1"/>
          <p:nvPr/>
        </p:nvSpPr>
        <p:spPr>
          <a:xfrm>
            <a:off x="7196137" y="2275283"/>
            <a:ext cx="2151354" cy="54184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 dirty="0">
                <a:solidFill>
                  <a:srgbClr val="1F3E77"/>
                </a:solidFill>
                <a:uFillTx/>
                <a:latin typeface="Arial"/>
                <a:ea typeface="DengXian"/>
              </a:rPr>
              <a:t>202</a:t>
            </a:r>
            <a:r>
              <a:rPr lang="en-US" sz="1050" b="1" spc="20" dirty="0">
                <a:solidFill>
                  <a:srgbClr val="1F3E77"/>
                </a:solidFill>
                <a:latin typeface="Arial"/>
                <a:ea typeface="DengXian"/>
              </a:rPr>
              <a:t>1</a:t>
            </a:r>
            <a:endParaRPr lang="en-US" sz="1050" b="1" i="0" u="none" strike="noStrike" kern="1200" cap="none" spc="20" baseline="0" dirty="0">
              <a:solidFill>
                <a:srgbClr val="1F3E77"/>
              </a:solidFill>
              <a:uFillTx/>
              <a:latin typeface="Arial"/>
              <a:ea typeface="DengXian"/>
            </a:endParaRP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spc="20" dirty="0">
                <a:solidFill>
                  <a:schemeClr val="bg1">
                    <a:lumMod val="50000"/>
                  </a:schemeClr>
                </a:solidFill>
                <a:latin typeface="Arial"/>
                <a:ea typeface="DengXian"/>
              </a:rPr>
              <a:t>Because of need of brand consistency through-out all markets, Design Hub starts working with local markets</a:t>
            </a:r>
            <a:endParaRPr lang="en-US" sz="700" b="0" i="0" u="none" strike="noStrike" kern="1200" cap="none" spc="20" baseline="0" dirty="0">
              <a:solidFill>
                <a:schemeClr val="bg1">
                  <a:lumMod val="50000"/>
                </a:schemeClr>
              </a:solidFill>
              <a:uFillTx/>
              <a:latin typeface="Arial"/>
              <a:ea typeface="DengXian"/>
            </a:endParaRPr>
          </a:p>
        </p:txBody>
      </p:sp>
      <p:sp>
        <p:nvSpPr>
          <p:cNvPr id="23" name="TextBox 48">
            <a:extLst>
              <a:ext uri="{FF2B5EF4-FFF2-40B4-BE49-F238E27FC236}">
                <a16:creationId xmlns:a16="http://schemas.microsoft.com/office/drawing/2014/main" id="{DC9EA888-1C89-BCAB-60F2-3EC788A640AD}"/>
              </a:ext>
            </a:extLst>
          </p:cNvPr>
          <p:cNvSpPr txBox="1"/>
          <p:nvPr/>
        </p:nvSpPr>
        <p:spPr>
          <a:xfrm>
            <a:off x="4371704" y="4581091"/>
            <a:ext cx="1497874" cy="92085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 dirty="0">
                <a:solidFill>
                  <a:srgbClr val="1F3E77"/>
                </a:solidFill>
                <a:uFillTx/>
                <a:latin typeface="Arial"/>
                <a:ea typeface="DengXian"/>
              </a:rPr>
              <a:t>2024</a:t>
            </a:r>
          </a:p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Incorporation of a multimedia designer to answer new needs for storytelling and format.</a:t>
            </a:r>
          </a:p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700" b="0" i="0" u="none" strike="noStrike" kern="1200" cap="none" spc="20" baseline="0" dirty="0">
              <a:solidFill>
                <a:schemeClr val="bg1">
                  <a:lumMod val="50000"/>
                </a:schemeClr>
              </a:solidFill>
              <a:uFillTx/>
              <a:latin typeface="Arial"/>
              <a:ea typeface="DengXian"/>
            </a:endParaRPr>
          </a:p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spc="20" dirty="0">
                <a:solidFill>
                  <a:schemeClr val="bg1">
                    <a:lumMod val="50000"/>
                  </a:schemeClr>
                </a:solidFill>
                <a:latin typeface="Arial"/>
                <a:ea typeface="DengXian"/>
              </a:rPr>
              <a:t>A total of 286 task completed by Design Hub.</a:t>
            </a:r>
            <a:endParaRPr lang="en-US" sz="700" b="0" i="0" u="none" strike="noStrike" kern="1200" cap="none" spc="20" baseline="0" dirty="0">
              <a:solidFill>
                <a:schemeClr val="bg1">
                  <a:lumMod val="50000"/>
                </a:schemeClr>
              </a:solidFill>
              <a:uFillTx/>
              <a:latin typeface="Arial"/>
              <a:ea typeface="DengXian"/>
            </a:endParaRPr>
          </a:p>
        </p:txBody>
      </p:sp>
      <p:sp>
        <p:nvSpPr>
          <p:cNvPr id="24" name="TextBox 49">
            <a:extLst>
              <a:ext uri="{FF2B5EF4-FFF2-40B4-BE49-F238E27FC236}">
                <a16:creationId xmlns:a16="http://schemas.microsoft.com/office/drawing/2014/main" id="{930C2C91-3E42-4B67-1FCE-A6A126E8D3E2}"/>
              </a:ext>
            </a:extLst>
          </p:cNvPr>
          <p:cNvSpPr txBox="1"/>
          <p:nvPr/>
        </p:nvSpPr>
        <p:spPr>
          <a:xfrm>
            <a:off x="3268486" y="3075596"/>
            <a:ext cx="1553594" cy="5418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 dirty="0">
                <a:solidFill>
                  <a:srgbClr val="1F3E77"/>
                </a:solidFill>
                <a:uFillTx/>
                <a:latin typeface="Arial"/>
                <a:ea typeface="DengXian"/>
              </a:rPr>
              <a:t>2023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Incorporation of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a second </a:t>
            </a:r>
            <a:r>
              <a:rPr lang="en-US" sz="700" spc="20" dirty="0">
                <a:solidFill>
                  <a:schemeClr val="bg1">
                    <a:lumMod val="50000"/>
                  </a:schemeClr>
                </a:solidFill>
                <a:latin typeface="Arial"/>
                <a:ea typeface="DengXian"/>
              </a:rPr>
              <a:t>in-house graphic </a:t>
            </a: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designer, as marketing needs are broader and more complex.</a:t>
            </a:r>
          </a:p>
        </p:txBody>
      </p:sp>
      <p:pic>
        <p:nvPicPr>
          <p:cNvPr id="31" name="Graphic 43">
            <a:extLst>
              <a:ext uri="{FF2B5EF4-FFF2-40B4-BE49-F238E27FC236}">
                <a16:creationId xmlns:a16="http://schemas.microsoft.com/office/drawing/2014/main" id="{210F3F63-18FB-AB8B-12AF-B9C6BF89BE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4">
            <a:off x="4322763" y="5732318"/>
            <a:ext cx="600075" cy="761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2" name="Graphic 60">
            <a:extLst>
              <a:ext uri="{FF2B5EF4-FFF2-40B4-BE49-F238E27FC236}">
                <a16:creationId xmlns:a16="http://schemas.microsoft.com/office/drawing/2014/main" id="{A2E13684-26A8-5813-D861-950A559E98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4">
            <a:off x="3275865" y="3956636"/>
            <a:ext cx="495303" cy="761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4" name="Graphic 67">
            <a:extLst>
              <a:ext uri="{FF2B5EF4-FFF2-40B4-BE49-F238E27FC236}">
                <a16:creationId xmlns:a16="http://schemas.microsoft.com/office/drawing/2014/main" id="{23CC73DD-BD46-2E62-03A1-448C6E2555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4">
            <a:off x="8958642" y="3070280"/>
            <a:ext cx="495303" cy="761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5" name="Graphic 69">
            <a:extLst>
              <a:ext uri="{FF2B5EF4-FFF2-40B4-BE49-F238E27FC236}">
                <a16:creationId xmlns:a16="http://schemas.microsoft.com/office/drawing/2014/main" id="{9B66BE08-F49E-78AE-BD0A-5BD3690636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44225"/>
          <a:stretch>
            <a:fillRect/>
          </a:stretch>
        </p:blipFill>
        <p:spPr>
          <a:xfrm rot="16200004">
            <a:off x="9020551" y="1668711"/>
            <a:ext cx="276258" cy="761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7" name="TextBox 57">
            <a:extLst>
              <a:ext uri="{FF2B5EF4-FFF2-40B4-BE49-F238E27FC236}">
                <a16:creationId xmlns:a16="http://schemas.microsoft.com/office/drawing/2014/main" id="{A9205CFB-840E-98D3-F2AC-2A59FA8F167E}"/>
              </a:ext>
            </a:extLst>
          </p:cNvPr>
          <p:cNvSpPr txBox="1"/>
          <p:nvPr/>
        </p:nvSpPr>
        <p:spPr>
          <a:xfrm>
            <a:off x="7450669" y="4162054"/>
            <a:ext cx="1387922" cy="112317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 dirty="0">
                <a:solidFill>
                  <a:srgbClr val="1F3E77"/>
                </a:solidFill>
                <a:uFillTx/>
                <a:latin typeface="Arial"/>
                <a:ea typeface="DengXian"/>
              </a:rPr>
              <a:t>2025</a:t>
            </a:r>
          </a:p>
          <a:p>
            <a:pPr lvl="0"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spc="20" dirty="0">
                <a:solidFill>
                  <a:schemeClr val="bg1">
                    <a:lumMod val="50000"/>
                  </a:schemeClr>
                </a:solidFill>
              </a:rPr>
              <a:t>A total of 489 task completed by Design Hub. +71% more than the previous year.</a:t>
            </a:r>
          </a:p>
          <a:p>
            <a:pPr lvl="0"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spc="2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lvl="0"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spc="20" dirty="0">
                <a:solidFill>
                  <a:schemeClr val="bg1">
                    <a:lumMod val="50000"/>
                  </a:schemeClr>
                </a:solidFill>
              </a:rPr>
              <a:t>Product Logos Rebrand. Launch of Product Brand Guidelines v1.</a:t>
            </a:r>
          </a:p>
        </p:txBody>
      </p:sp>
      <p:pic>
        <p:nvPicPr>
          <p:cNvPr id="38" name="Graphic 59">
            <a:extLst>
              <a:ext uri="{FF2B5EF4-FFF2-40B4-BE49-F238E27FC236}">
                <a16:creationId xmlns:a16="http://schemas.microsoft.com/office/drawing/2014/main" id="{F8F1C3B7-7615-6664-9CD7-774D3AF7AD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4">
            <a:off x="8083597" y="5568924"/>
            <a:ext cx="600075" cy="761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0" name="Freeform: Shape 99">
            <a:extLst>
              <a:ext uri="{FF2B5EF4-FFF2-40B4-BE49-F238E27FC236}">
                <a16:creationId xmlns:a16="http://schemas.microsoft.com/office/drawing/2014/main" id="{AC8252E8-57F6-C565-EAF6-3F4C55106680}"/>
              </a:ext>
            </a:extLst>
          </p:cNvPr>
          <p:cNvSpPr/>
          <p:nvPr/>
        </p:nvSpPr>
        <p:spPr>
          <a:xfrm>
            <a:off x="11256282" y="5937711"/>
            <a:ext cx="390531" cy="13274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657350"/>
              <a:gd name="f7" fmla="val 400050"/>
              <a:gd name="f8" fmla="val 831533"/>
              <a:gd name="f9" fmla="val 1290638"/>
              <a:gd name="f10" fmla="val 1663065"/>
              <a:gd name="f11" fmla="val 310515"/>
              <a:gd name="f12" fmla="val 200025"/>
              <a:gd name="f13" fmla="val 89535"/>
              <a:gd name="f14" fmla="val 372428"/>
              <a:gd name="f15" fmla="+- 0 0 -90"/>
              <a:gd name="f16" fmla="*/ f3 1 1657350"/>
              <a:gd name="f17" fmla="*/ f4 1 400050"/>
              <a:gd name="f18" fmla="val f5"/>
              <a:gd name="f19" fmla="val f6"/>
              <a:gd name="f20" fmla="val f7"/>
              <a:gd name="f21" fmla="*/ f15 f0 1"/>
              <a:gd name="f22" fmla="+- f20 0 f18"/>
              <a:gd name="f23" fmla="+- f19 0 f18"/>
              <a:gd name="f24" fmla="*/ f21 1 f2"/>
              <a:gd name="f25" fmla="*/ f23 1 1657350"/>
              <a:gd name="f26" fmla="*/ f22 1 400050"/>
              <a:gd name="f27" fmla="*/ 831533 f23 1"/>
              <a:gd name="f28" fmla="*/ 400050 f22 1"/>
              <a:gd name="f29" fmla="*/ 1663065 f23 1"/>
              <a:gd name="f30" fmla="*/ 200025 f22 1"/>
              <a:gd name="f31" fmla="*/ 0 f22 1"/>
              <a:gd name="f32" fmla="*/ 0 f23 1"/>
              <a:gd name="f33" fmla="+- f24 0 f1"/>
              <a:gd name="f34" fmla="*/ f27 1 1657350"/>
              <a:gd name="f35" fmla="*/ f28 1 400050"/>
              <a:gd name="f36" fmla="*/ f29 1 1657350"/>
              <a:gd name="f37" fmla="*/ f30 1 400050"/>
              <a:gd name="f38" fmla="*/ f31 1 400050"/>
              <a:gd name="f39" fmla="*/ f32 1 1657350"/>
              <a:gd name="f40" fmla="*/ f18 1 f25"/>
              <a:gd name="f41" fmla="*/ f19 1 f25"/>
              <a:gd name="f42" fmla="*/ f18 1 f26"/>
              <a:gd name="f43" fmla="*/ f20 1 f26"/>
              <a:gd name="f44" fmla="*/ f34 1 f25"/>
              <a:gd name="f45" fmla="*/ f35 1 f26"/>
              <a:gd name="f46" fmla="*/ f36 1 f25"/>
              <a:gd name="f47" fmla="*/ f37 1 f26"/>
              <a:gd name="f48" fmla="*/ f38 1 f26"/>
              <a:gd name="f49" fmla="*/ f39 1 f25"/>
              <a:gd name="f50" fmla="*/ f40 f16 1"/>
              <a:gd name="f51" fmla="*/ f41 f16 1"/>
              <a:gd name="f52" fmla="*/ f43 f17 1"/>
              <a:gd name="f53" fmla="*/ f42 f17 1"/>
              <a:gd name="f54" fmla="*/ f44 f16 1"/>
              <a:gd name="f55" fmla="*/ f45 f17 1"/>
              <a:gd name="f56" fmla="*/ f46 f16 1"/>
              <a:gd name="f57" fmla="*/ f47 f17 1"/>
              <a:gd name="f58" fmla="*/ f48 f17 1"/>
              <a:gd name="f59" fmla="*/ f49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54" y="f55"/>
              </a:cxn>
              <a:cxn ang="f33">
                <a:pos x="f56" y="f57"/>
              </a:cxn>
              <a:cxn ang="f33">
                <a:pos x="f54" y="f58"/>
              </a:cxn>
              <a:cxn ang="f33">
                <a:pos x="f59" y="f57"/>
              </a:cxn>
              <a:cxn ang="f33">
                <a:pos x="f54" y="f55"/>
              </a:cxn>
            </a:cxnLst>
            <a:rect l="f50" t="f53" r="f51" b="f52"/>
            <a:pathLst>
              <a:path w="1657350" h="400050">
                <a:moveTo>
                  <a:pt x="f8" y="f7"/>
                </a:moveTo>
                <a:cubicBezTo>
                  <a:pt x="f9" y="f7"/>
                  <a:pt x="f10" y="f11"/>
                  <a:pt x="f10" y="f12"/>
                </a:cubicBezTo>
                <a:cubicBezTo>
                  <a:pt x="f10" y="f13"/>
                  <a:pt x="f9" y="f5"/>
                  <a:pt x="f8" y="f5"/>
                </a:cubicBezTo>
                <a:cubicBezTo>
                  <a:pt x="f14" y="f5"/>
                  <a:pt x="f5" y="f13"/>
                  <a:pt x="f5" y="f12"/>
                </a:cubicBezTo>
                <a:cubicBezTo>
                  <a:pt x="f5" y="f11"/>
                  <a:pt x="f14" y="f7"/>
                  <a:pt x="f8" y="f7"/>
                </a:cubicBezTo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NZ" sz="1800" b="0" i="0" u="none" strike="noStrike" kern="1200" cap="none" spc="0" baseline="0">
              <a:solidFill>
                <a:srgbClr val="575756"/>
              </a:solidFill>
              <a:uFillTx/>
              <a:latin typeface="Arial"/>
              <a:ea typeface="DengXian"/>
            </a:endParaRPr>
          </a:p>
        </p:txBody>
      </p:sp>
      <p:sp>
        <p:nvSpPr>
          <p:cNvPr id="76" name="TextBox 122">
            <a:extLst>
              <a:ext uri="{FF2B5EF4-FFF2-40B4-BE49-F238E27FC236}">
                <a16:creationId xmlns:a16="http://schemas.microsoft.com/office/drawing/2014/main" id="{1F3D52EF-D177-C240-EF43-0CD3420B3E3E}"/>
              </a:ext>
            </a:extLst>
          </p:cNvPr>
          <p:cNvSpPr txBox="1"/>
          <p:nvPr/>
        </p:nvSpPr>
        <p:spPr>
          <a:xfrm>
            <a:off x="10202340" y="3900179"/>
            <a:ext cx="1348402" cy="12871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20" baseline="0" dirty="0">
                <a:solidFill>
                  <a:srgbClr val="1F3E77"/>
                </a:solidFill>
                <a:uFillTx/>
                <a:latin typeface="Arial"/>
                <a:ea typeface="DengXian"/>
              </a:rPr>
              <a:t>2026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Based on the product logo rebrand, new swoosh watermarks were created. First major </a:t>
            </a:r>
            <a:r>
              <a:rPr lang="en-US" sz="700" b="0" i="0" u="none" strike="noStrike" kern="1200" cap="none" spc="20" baseline="0" dirty="0" err="1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BioMar</a:t>
            </a: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 Brand Guidelines update</a:t>
            </a:r>
          </a:p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700" b="0" i="0" u="none" strike="noStrike" kern="1200" cap="none" spc="20" baseline="0" dirty="0">
                <a:solidFill>
                  <a:schemeClr val="bg1">
                    <a:lumMod val="50000"/>
                  </a:schemeClr>
                </a:solidFill>
                <a:uFillTx/>
                <a:latin typeface="Arial"/>
                <a:ea typeface="DengXian"/>
              </a:rPr>
              <a:t>IPO launch support. </a:t>
            </a:r>
          </a:p>
        </p:txBody>
      </p:sp>
      <p:pic>
        <p:nvPicPr>
          <p:cNvPr id="77" name="Graphic 125">
            <a:extLst>
              <a:ext uri="{FF2B5EF4-FFF2-40B4-BE49-F238E27FC236}">
                <a16:creationId xmlns:a16="http://schemas.microsoft.com/office/drawing/2014/main" id="{367A6410-6B74-ADB1-BB9D-F8FB085EA5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4">
            <a:off x="11116915" y="5385924"/>
            <a:ext cx="600075" cy="761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0" name="Picture 12">
            <a:extLst>
              <a:ext uri="{FF2B5EF4-FFF2-40B4-BE49-F238E27FC236}">
                <a16:creationId xmlns:a16="http://schemas.microsoft.com/office/drawing/2014/main" id="{CF317210-4A63-5E8D-1CE0-2A1B2CE39B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7068"/>
          <a:stretch>
            <a:fillRect/>
          </a:stretch>
        </p:blipFill>
        <p:spPr>
          <a:xfrm>
            <a:off x="11052316" y="357246"/>
            <a:ext cx="695675" cy="61629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1" name="Graphic 13">
            <a:extLst>
              <a:ext uri="{FF2B5EF4-FFF2-40B4-BE49-F238E27FC236}">
                <a16:creationId xmlns:a16="http://schemas.microsoft.com/office/drawing/2014/main" id="{82190035-E957-8121-41F6-FEA561D58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4">
            <a:off x="4612526" y="1969562"/>
            <a:ext cx="495303" cy="761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5" name="Freeform: Shape 176">
            <a:extLst>
              <a:ext uri="{FF2B5EF4-FFF2-40B4-BE49-F238E27FC236}">
                <a16:creationId xmlns:a16="http://schemas.microsoft.com/office/drawing/2014/main" id="{13D57376-3C2C-F88A-79EA-BAD11D33FFCB}"/>
              </a:ext>
            </a:extLst>
          </p:cNvPr>
          <p:cNvSpPr/>
          <p:nvPr/>
        </p:nvSpPr>
        <p:spPr>
          <a:xfrm>
            <a:off x="7294260" y="3231827"/>
            <a:ext cx="1761884" cy="18086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359209"/>
              <a:gd name="f7" fmla="val 180869"/>
              <a:gd name="f8" fmla="val 679605"/>
              <a:gd name="f9" fmla="val 180870"/>
              <a:gd name="f10" fmla="val 1054775"/>
              <a:gd name="f11" fmla="val 140577"/>
              <a:gd name="f12" fmla="val 90435"/>
              <a:gd name="f13" fmla="val 40293"/>
              <a:gd name="f14" fmla="val 304434"/>
              <a:gd name="f15" fmla="val 895"/>
              <a:gd name="f16" fmla="val 41188"/>
              <a:gd name="f17" fmla="val 91330"/>
              <a:gd name="f18" fmla="+- 0 0 -90"/>
              <a:gd name="f19" fmla="*/ f3 1 1359209"/>
              <a:gd name="f20" fmla="*/ f4 1 180869"/>
              <a:gd name="f21" fmla="val f5"/>
              <a:gd name="f22" fmla="val f6"/>
              <a:gd name="f23" fmla="val f7"/>
              <a:gd name="f24" fmla="*/ f18 f0 1"/>
              <a:gd name="f25" fmla="+- f23 0 f21"/>
              <a:gd name="f26" fmla="+- f22 0 f21"/>
              <a:gd name="f27" fmla="*/ f24 1 f2"/>
              <a:gd name="f28" fmla="*/ f26 1 1359209"/>
              <a:gd name="f29" fmla="*/ f25 1 180869"/>
              <a:gd name="f30" fmla="*/ 679605 f26 1"/>
              <a:gd name="f31" fmla="*/ 180870 f25 1"/>
              <a:gd name="f32" fmla="*/ 1359209 f26 1"/>
              <a:gd name="f33" fmla="*/ 90435 f25 1"/>
              <a:gd name="f34" fmla="*/ 0 f25 1"/>
              <a:gd name="f35" fmla="*/ 0 f26 1"/>
              <a:gd name="f36" fmla="*/ 91330 f25 1"/>
              <a:gd name="f37" fmla="+- f27 0 f1"/>
              <a:gd name="f38" fmla="*/ f30 1 1359209"/>
              <a:gd name="f39" fmla="*/ f31 1 180869"/>
              <a:gd name="f40" fmla="*/ f32 1 1359209"/>
              <a:gd name="f41" fmla="*/ f33 1 180869"/>
              <a:gd name="f42" fmla="*/ f34 1 180869"/>
              <a:gd name="f43" fmla="*/ f35 1 1359209"/>
              <a:gd name="f44" fmla="*/ f36 1 180869"/>
              <a:gd name="f45" fmla="*/ f21 1 f28"/>
              <a:gd name="f46" fmla="*/ f22 1 f28"/>
              <a:gd name="f47" fmla="*/ f21 1 f29"/>
              <a:gd name="f48" fmla="*/ f23 1 f29"/>
              <a:gd name="f49" fmla="*/ f38 1 f28"/>
              <a:gd name="f50" fmla="*/ f39 1 f29"/>
              <a:gd name="f51" fmla="*/ f40 1 f28"/>
              <a:gd name="f52" fmla="*/ f41 1 f29"/>
              <a:gd name="f53" fmla="*/ f42 1 f29"/>
              <a:gd name="f54" fmla="*/ f43 1 f28"/>
              <a:gd name="f55" fmla="*/ f44 1 f29"/>
              <a:gd name="f56" fmla="*/ f45 f19 1"/>
              <a:gd name="f57" fmla="*/ f46 f19 1"/>
              <a:gd name="f58" fmla="*/ f48 f20 1"/>
              <a:gd name="f59" fmla="*/ f47 f20 1"/>
              <a:gd name="f60" fmla="*/ f49 f19 1"/>
              <a:gd name="f61" fmla="*/ f50 f20 1"/>
              <a:gd name="f62" fmla="*/ f51 f19 1"/>
              <a:gd name="f63" fmla="*/ f52 f20 1"/>
              <a:gd name="f64" fmla="*/ f53 f20 1"/>
              <a:gd name="f65" fmla="*/ f54 f19 1"/>
              <a:gd name="f66" fmla="*/ f55 f2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7">
                <a:pos x="f60" y="f61"/>
              </a:cxn>
              <a:cxn ang="f37">
                <a:pos x="f62" y="f63"/>
              </a:cxn>
              <a:cxn ang="f37">
                <a:pos x="f60" y="f64"/>
              </a:cxn>
              <a:cxn ang="f37">
                <a:pos x="f65" y="f66"/>
              </a:cxn>
              <a:cxn ang="f37">
                <a:pos x="f60" y="f61"/>
              </a:cxn>
            </a:cxnLst>
            <a:rect l="f56" t="f59" r="f57" b="f58"/>
            <a:pathLst>
              <a:path w="1359209" h="180869">
                <a:moveTo>
                  <a:pt x="f8" y="f9"/>
                </a:moveTo>
                <a:cubicBezTo>
                  <a:pt x="f10" y="f9"/>
                  <a:pt x="f6" y="f11"/>
                  <a:pt x="f6" y="f12"/>
                </a:cubicBezTo>
                <a:cubicBezTo>
                  <a:pt x="f6" y="f13"/>
                  <a:pt x="f10" y="f5"/>
                  <a:pt x="f8" y="f5"/>
                </a:cubicBezTo>
                <a:cubicBezTo>
                  <a:pt x="f14" y="f15"/>
                  <a:pt x="f5" y="f16"/>
                  <a:pt x="f5" y="f17"/>
                </a:cubicBezTo>
                <a:cubicBezTo>
                  <a:pt x="f5" y="f11"/>
                  <a:pt x="f14" y="f9"/>
                  <a:pt x="f8" y="f9"/>
                </a:cubicBezTo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DK" sz="1800" b="0" i="0" u="none" strike="noStrike" kern="1200" cap="none" spc="0" baseline="0">
              <a:solidFill>
                <a:srgbClr val="575756"/>
              </a:solidFill>
              <a:uFillTx/>
              <a:latin typeface="Arial"/>
              <a:ea typeface="DengXian"/>
            </a:endParaRPr>
          </a:p>
        </p:txBody>
      </p:sp>
      <p:pic>
        <p:nvPicPr>
          <p:cNvPr id="39" name="Picture 38" descr="A black and white logo&#10;&#10;Description automatically generated">
            <a:extLst>
              <a:ext uri="{FF2B5EF4-FFF2-40B4-BE49-F238E27FC236}">
                <a16:creationId xmlns:a16="http://schemas.microsoft.com/office/drawing/2014/main" id="{0D1A3062-6686-D60E-E7CA-10D52C0D81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332" y="5285227"/>
            <a:ext cx="175357" cy="8058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A48CA-223B-DB8D-1E84-7A7162F34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DBD566-DCB3-1EB3-4B1B-34E76DD3A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16</a:t>
            </a:fld>
            <a:endParaRPr lang="en-GB" noProof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5DF3C96-3BD5-9F09-0644-69842B4B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Current </a:t>
            </a:r>
            <a:r>
              <a:rPr lang="es-ES" err="1"/>
              <a:t>Challenges</a:t>
            </a:r>
            <a:r>
              <a:rPr lang="es-ES"/>
              <a:t> &amp; </a:t>
            </a:r>
            <a:r>
              <a:rPr lang="es-ES" err="1"/>
              <a:t>Opportunities</a:t>
            </a:r>
            <a:endParaRPr lang="es-ES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125CDD65-A41D-5523-D170-CDB5863F1336}"/>
              </a:ext>
            </a:extLst>
          </p:cNvPr>
          <p:cNvSpPr/>
          <p:nvPr/>
        </p:nvSpPr>
        <p:spPr>
          <a:xfrm>
            <a:off x="508000" y="2602727"/>
            <a:ext cx="5181601" cy="3413511"/>
          </a:xfrm>
          <a:prstGeom prst="roundRect">
            <a:avLst>
              <a:gd name="adj" fmla="val 4979"/>
            </a:avLst>
          </a:prstGeom>
          <a:solidFill>
            <a:srgbClr val="0471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K" sz="120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FBF4185A-81F3-DD11-E741-6AEA7022652B}"/>
              </a:ext>
            </a:extLst>
          </p:cNvPr>
          <p:cNvSpPr/>
          <p:nvPr/>
        </p:nvSpPr>
        <p:spPr>
          <a:xfrm>
            <a:off x="765629" y="2860357"/>
            <a:ext cx="4806333" cy="23222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 b="1" kern="0" spc="240">
                <a:solidFill>
                  <a:srgbClr val="FFFFFF">
                    <a:alpha val="55000"/>
                  </a:srgbClr>
                </a:solidFill>
                <a:latin typeface="+mj-lt"/>
                <a:ea typeface="Nunito Sans" pitchFamily="34" charset="-122"/>
                <a:cs typeface="Nunito Sans" pitchFamily="34" charset="-120"/>
              </a:rPr>
              <a:t>TODAY – hub 2.0</a:t>
            </a:r>
            <a:endParaRPr lang="en-US" sz="1200">
              <a:latin typeface="+mj-lt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C59AF76-AEF7-6730-6A49-94B71A1EAF52}"/>
              </a:ext>
            </a:extLst>
          </p:cNvPr>
          <p:cNvSpPr/>
          <p:nvPr/>
        </p:nvSpPr>
        <p:spPr>
          <a:xfrm>
            <a:off x="765629" y="3117986"/>
            <a:ext cx="4806333" cy="38825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2100" b="1" kern="0" spc="-42">
                <a:solidFill>
                  <a:srgbClr val="FFFFFF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Current challenges</a:t>
            </a:r>
            <a:endParaRPr lang="en-US" sz="2100">
              <a:latin typeface="+mj-lt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14F43DFA-217B-B32C-4BF7-FD08840836AF}"/>
              </a:ext>
            </a:extLst>
          </p:cNvPr>
          <p:cNvSpPr/>
          <p:nvPr/>
        </p:nvSpPr>
        <p:spPr>
          <a:xfrm>
            <a:off x="765629" y="3658643"/>
            <a:ext cx="4666343" cy="370114"/>
          </a:xfrm>
          <a:prstGeom prst="roundRect">
            <a:avLst>
              <a:gd name="adj" fmla="val 20588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1091C48D-3B65-A55B-3A12-AB4B69D948EB}"/>
              </a:ext>
            </a:extLst>
          </p:cNvPr>
          <p:cNvSpPr/>
          <p:nvPr/>
        </p:nvSpPr>
        <p:spPr>
          <a:xfrm>
            <a:off x="879929" y="3747543"/>
            <a:ext cx="4577733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FFFFFF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Volume of requests is increasing</a:t>
            </a:r>
            <a:endParaRPr lang="en-US" sz="1100">
              <a:latin typeface="+mj-lt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7B6EEE0F-415C-8FD2-8788-EC96207B71CB}"/>
              </a:ext>
            </a:extLst>
          </p:cNvPr>
          <p:cNvSpPr/>
          <p:nvPr/>
        </p:nvSpPr>
        <p:spPr>
          <a:xfrm>
            <a:off x="765629" y="4117657"/>
            <a:ext cx="4666343" cy="370114"/>
          </a:xfrm>
          <a:prstGeom prst="roundRect">
            <a:avLst>
              <a:gd name="adj" fmla="val 20588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536339E1-16F8-3160-7B19-978133068893}"/>
              </a:ext>
            </a:extLst>
          </p:cNvPr>
          <p:cNvSpPr/>
          <p:nvPr/>
        </p:nvSpPr>
        <p:spPr>
          <a:xfrm>
            <a:off x="879929" y="4206557"/>
            <a:ext cx="4577733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FFFFFF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Global consistency vs local flexibility</a:t>
            </a:r>
            <a:endParaRPr lang="en-US" sz="1100">
              <a:latin typeface="+mj-lt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E1876368-920D-403B-BF03-3CADDBE423EB}"/>
              </a:ext>
            </a:extLst>
          </p:cNvPr>
          <p:cNvSpPr/>
          <p:nvPr/>
        </p:nvSpPr>
        <p:spPr>
          <a:xfrm>
            <a:off x="765629" y="4576672"/>
            <a:ext cx="4666343" cy="370114"/>
          </a:xfrm>
          <a:prstGeom prst="roundRect">
            <a:avLst>
              <a:gd name="adj" fmla="val 20588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3F0120C4-9BDF-E483-D69F-10CFB52260D3}"/>
              </a:ext>
            </a:extLst>
          </p:cNvPr>
          <p:cNvSpPr/>
          <p:nvPr/>
        </p:nvSpPr>
        <p:spPr>
          <a:xfrm>
            <a:off x="879929" y="4665572"/>
            <a:ext cx="4577733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FFFFFF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Scaling processes efficiently</a:t>
            </a:r>
            <a:endParaRPr lang="en-US" sz="1100">
              <a:latin typeface="+mj-lt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A82E04E0-E8E2-F229-D0B9-B86673639819}"/>
              </a:ext>
            </a:extLst>
          </p:cNvPr>
          <p:cNvSpPr/>
          <p:nvPr/>
        </p:nvSpPr>
        <p:spPr>
          <a:xfrm>
            <a:off x="765629" y="5035686"/>
            <a:ext cx="4666343" cy="370114"/>
          </a:xfrm>
          <a:prstGeom prst="roundRect">
            <a:avLst>
              <a:gd name="adj" fmla="val 20588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35DDFF66-E0E4-F9E8-B0A1-28D4083C1E5D}"/>
              </a:ext>
            </a:extLst>
          </p:cNvPr>
          <p:cNvSpPr/>
          <p:nvPr/>
        </p:nvSpPr>
        <p:spPr>
          <a:xfrm>
            <a:off x="879929" y="5124586"/>
            <a:ext cx="4577733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FFFFFF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Quality across channels, local </a:t>
            </a:r>
            <a:r>
              <a:rPr lang="en-US" sz="1100" kern="0" spc="-4" err="1">
                <a:solidFill>
                  <a:srgbClr val="FFFFFF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scalling</a:t>
            </a:r>
            <a:endParaRPr lang="en-US" sz="1100">
              <a:latin typeface="+mj-lt"/>
            </a:endParaRPr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266AEA67-6032-EED6-6E1F-160AF48DD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1" y="4191000"/>
            <a:ext cx="508000" cy="508000"/>
          </a:xfrm>
          <a:prstGeom prst="rect">
            <a:avLst/>
          </a:prstGeom>
        </p:spPr>
      </p:pic>
      <p:sp>
        <p:nvSpPr>
          <p:cNvPr id="22" name="Shape 16">
            <a:extLst>
              <a:ext uri="{FF2B5EF4-FFF2-40B4-BE49-F238E27FC236}">
                <a16:creationId xmlns:a16="http://schemas.microsoft.com/office/drawing/2014/main" id="{A0D5B252-3A72-B375-3ED2-4B060EA27AD8}"/>
              </a:ext>
            </a:extLst>
          </p:cNvPr>
          <p:cNvSpPr/>
          <p:nvPr/>
        </p:nvSpPr>
        <p:spPr>
          <a:xfrm>
            <a:off x="6502400" y="2602727"/>
            <a:ext cx="5181601" cy="3413511"/>
          </a:xfrm>
          <a:prstGeom prst="roundRect">
            <a:avLst>
              <a:gd name="adj" fmla="val 4991"/>
            </a:avLst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D15BFF70-0B76-2F98-96C9-45F1DA7D0BA3}"/>
              </a:ext>
            </a:extLst>
          </p:cNvPr>
          <p:cNvSpPr/>
          <p:nvPr/>
        </p:nvSpPr>
        <p:spPr>
          <a:xfrm>
            <a:off x="6756400" y="2856727"/>
            <a:ext cx="4813809" cy="23222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200" b="1" kern="0" spc="240">
                <a:solidFill>
                  <a:srgbClr val="1F3E77">
                    <a:alpha val="70000"/>
                  </a:srgbClr>
                </a:solidFill>
                <a:latin typeface="+mj-lt"/>
                <a:ea typeface="Nunito Sans" pitchFamily="34" charset="-122"/>
                <a:cs typeface="Nunito Sans" pitchFamily="34" charset="-120"/>
              </a:rPr>
              <a:t>Hub 3.0</a:t>
            </a:r>
            <a:endParaRPr lang="en-US" sz="1200">
              <a:latin typeface="+mj-lt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FAD5D9D1-4DE4-CAD7-D62D-23A5991D122F}"/>
              </a:ext>
            </a:extLst>
          </p:cNvPr>
          <p:cNvSpPr/>
          <p:nvPr/>
        </p:nvSpPr>
        <p:spPr>
          <a:xfrm>
            <a:off x="6756400" y="3114356"/>
            <a:ext cx="4813809" cy="38825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2100" b="1" kern="0" spc="-42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Opportunities</a:t>
            </a:r>
            <a:endParaRPr lang="en-US" sz="2100">
              <a:latin typeface="+mj-lt"/>
            </a:endParaRP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D5E0B9BA-6340-578F-9CD1-5227D45B5874}"/>
              </a:ext>
            </a:extLst>
          </p:cNvPr>
          <p:cNvSpPr/>
          <p:nvPr/>
        </p:nvSpPr>
        <p:spPr>
          <a:xfrm>
            <a:off x="6756400" y="3655013"/>
            <a:ext cx="4673601" cy="370114"/>
          </a:xfrm>
          <a:prstGeom prst="roundRect">
            <a:avLst>
              <a:gd name="adj" fmla="val 20588"/>
            </a:avLst>
          </a:prstGeom>
          <a:solidFill>
            <a:srgbClr val="1F3E77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ECD8D890-093D-317D-C862-BF6AE9601CA6}"/>
              </a:ext>
            </a:extLst>
          </p:cNvPr>
          <p:cNvSpPr/>
          <p:nvPr/>
        </p:nvSpPr>
        <p:spPr>
          <a:xfrm>
            <a:off x="6870700" y="3743913"/>
            <a:ext cx="4585209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Swift on necessities + Campaigns, storytelling and events</a:t>
            </a:r>
            <a:endParaRPr lang="en-US" sz="1100">
              <a:latin typeface="+mj-lt"/>
            </a:endParaRPr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61E698B3-E796-5164-A38A-B2EDE82C96DC}"/>
              </a:ext>
            </a:extLst>
          </p:cNvPr>
          <p:cNvSpPr/>
          <p:nvPr/>
        </p:nvSpPr>
        <p:spPr>
          <a:xfrm>
            <a:off x="6756400" y="4114027"/>
            <a:ext cx="4673601" cy="370114"/>
          </a:xfrm>
          <a:prstGeom prst="roundRect">
            <a:avLst>
              <a:gd name="adj" fmla="val 20588"/>
            </a:avLst>
          </a:prstGeom>
          <a:solidFill>
            <a:srgbClr val="1F3E77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E93DB49E-CE4B-6B77-FEF5-FF7B56284DCD}"/>
              </a:ext>
            </a:extLst>
          </p:cNvPr>
          <p:cNvSpPr/>
          <p:nvPr/>
        </p:nvSpPr>
        <p:spPr>
          <a:xfrm>
            <a:off x="6870700" y="4202927"/>
            <a:ext cx="4585209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Enhance collaboration, scale the hub resources</a:t>
            </a:r>
            <a:endParaRPr lang="en-US" sz="1100">
              <a:latin typeface="+mj-lt"/>
            </a:endParaRPr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D9D29B59-9A89-440C-0715-8C5C50F1CA20}"/>
              </a:ext>
            </a:extLst>
          </p:cNvPr>
          <p:cNvSpPr/>
          <p:nvPr/>
        </p:nvSpPr>
        <p:spPr>
          <a:xfrm>
            <a:off x="6756400" y="4573042"/>
            <a:ext cx="4673601" cy="370114"/>
          </a:xfrm>
          <a:prstGeom prst="roundRect">
            <a:avLst>
              <a:gd name="adj" fmla="val 20588"/>
            </a:avLst>
          </a:prstGeom>
          <a:solidFill>
            <a:srgbClr val="1F3E77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07349891-894D-E931-9471-A70A3AB2434D}"/>
              </a:ext>
            </a:extLst>
          </p:cNvPr>
          <p:cNvSpPr/>
          <p:nvPr/>
        </p:nvSpPr>
        <p:spPr>
          <a:xfrm>
            <a:off x="6870700" y="4661942"/>
            <a:ext cx="4585209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High-value vs low-value tasks. Commercial vs Internal balance</a:t>
            </a:r>
            <a:endParaRPr lang="en-US" sz="1100">
              <a:latin typeface="+mj-lt"/>
            </a:endParaRPr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731F8DD2-F733-3C9B-85F0-D3D128A6C982}"/>
              </a:ext>
            </a:extLst>
          </p:cNvPr>
          <p:cNvSpPr/>
          <p:nvPr/>
        </p:nvSpPr>
        <p:spPr>
          <a:xfrm>
            <a:off x="6756400" y="5032056"/>
            <a:ext cx="4673601" cy="370114"/>
          </a:xfrm>
          <a:prstGeom prst="roundRect">
            <a:avLst>
              <a:gd name="adj" fmla="val 20588"/>
            </a:avLst>
          </a:prstGeom>
          <a:solidFill>
            <a:srgbClr val="1F3E77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A85323C0-6A25-02CE-79C5-255F6CAA689F}"/>
              </a:ext>
            </a:extLst>
          </p:cNvPr>
          <p:cNvSpPr/>
          <p:nvPr/>
        </p:nvSpPr>
        <p:spPr>
          <a:xfrm>
            <a:off x="6870700" y="5120956"/>
            <a:ext cx="4585209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1F3E77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Automation, improved workflows and transparency</a:t>
            </a:r>
            <a:endParaRPr lang="en-US" sz="1100">
              <a:latin typeface="+mj-lt"/>
            </a:endParaRPr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F9138ED1-50B3-8C4F-6FAE-1C214BDE99C1}"/>
              </a:ext>
            </a:extLst>
          </p:cNvPr>
          <p:cNvSpPr/>
          <p:nvPr/>
        </p:nvSpPr>
        <p:spPr>
          <a:xfrm>
            <a:off x="2902834" y="1847362"/>
            <a:ext cx="6386331" cy="5374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>
              <a:lnSpc>
                <a:spcPct val="96000"/>
              </a:lnSpc>
            </a:pPr>
            <a:r>
              <a:rPr lang="en-US" sz="2800" b="1" kern="0" spc="-105">
                <a:solidFill>
                  <a:srgbClr val="1F3E77"/>
                </a:solidFill>
                <a:latin typeface="+mj-lt"/>
              </a:rPr>
              <a:t>Looking ahead</a:t>
            </a:r>
            <a:endParaRPr lang="en-US" sz="2800">
              <a:latin typeface="+mj-lt"/>
            </a:endParaRPr>
          </a:p>
        </p:txBody>
      </p:sp>
      <p:sp>
        <p:nvSpPr>
          <p:cNvPr id="2" name="Shape 14">
            <a:extLst>
              <a:ext uri="{FF2B5EF4-FFF2-40B4-BE49-F238E27FC236}">
                <a16:creationId xmlns:a16="http://schemas.microsoft.com/office/drawing/2014/main" id="{733C6578-8FB3-AD08-9DE6-EC7E35CA9EC4}"/>
              </a:ext>
            </a:extLst>
          </p:cNvPr>
          <p:cNvSpPr/>
          <p:nvPr/>
        </p:nvSpPr>
        <p:spPr>
          <a:xfrm>
            <a:off x="765629" y="5491071"/>
            <a:ext cx="4666343" cy="370114"/>
          </a:xfrm>
          <a:prstGeom prst="roundRect">
            <a:avLst>
              <a:gd name="adj" fmla="val 20588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DK" sz="1200"/>
          </a:p>
        </p:txBody>
      </p:sp>
      <p:sp>
        <p:nvSpPr>
          <p:cNvPr id="3" name="Text 15">
            <a:extLst>
              <a:ext uri="{FF2B5EF4-FFF2-40B4-BE49-F238E27FC236}">
                <a16:creationId xmlns:a16="http://schemas.microsoft.com/office/drawing/2014/main" id="{5CDB3834-D6C0-C590-7225-F152739E2E79}"/>
              </a:ext>
            </a:extLst>
          </p:cNvPr>
          <p:cNvSpPr/>
          <p:nvPr/>
        </p:nvSpPr>
        <p:spPr>
          <a:xfrm>
            <a:off x="879929" y="5579971"/>
            <a:ext cx="4577733" cy="2177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100" kern="0" spc="-4">
                <a:solidFill>
                  <a:srgbClr val="FFFFFF"/>
                </a:solidFill>
                <a:latin typeface="+mj-lt"/>
                <a:ea typeface="Nunito Sans" pitchFamily="34" charset="-122"/>
                <a:cs typeface="Nunito Sans" pitchFamily="34" charset="-120"/>
              </a:rPr>
              <a:t>Product ownership</a:t>
            </a:r>
            <a:endParaRPr lang="en-US" sz="11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654916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F039FB-4976-470F-B657-603FB156CF26}">
  <ds:schemaRefs>
    <ds:schemaRef ds:uri="06cb7051-c7c6-44c0-af61-9813c784cbe1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905EAA9-84D0-4033-9AC0-4AE6513386E8}"/>
</file>

<file path=customXml/itemProps3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141</TotalTime>
  <Words>1713</Words>
  <Application>Microsoft Office PowerPoint</Application>
  <PresentationFormat>Panorámica</PresentationFormat>
  <Paragraphs>343</Paragraphs>
  <Slides>17</Slides>
  <Notes>16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Nunito Sans</vt:lpstr>
      <vt:lpstr>BioMar</vt:lpstr>
      <vt:lpstr>think-cell Slide</vt:lpstr>
      <vt:lpstr>Design Hub: Who We Are, How We Work &amp; How We Support the Business</vt:lpstr>
      <vt:lpstr>What is the Design Hub?</vt:lpstr>
      <vt:lpstr>Who we are</vt:lpstr>
      <vt:lpstr>Marketing 2028 refined strategy house</vt:lpstr>
      <vt:lpstr>Strategic role of the Design Hub</vt:lpstr>
      <vt:lpstr>Our Areas of Responsibility and functions</vt:lpstr>
      <vt:lpstr>Ownership</vt:lpstr>
      <vt:lpstr>Beyond Daily Design Support</vt:lpstr>
      <vt:lpstr>Design Hub Process</vt:lpstr>
      <vt:lpstr>Different Workflows Depending on Scope</vt:lpstr>
      <vt:lpstr>Design Hub through the years</vt:lpstr>
      <vt:lpstr>Brand Guidelines</vt:lpstr>
      <vt:lpstr>Additional Guidelines</vt:lpstr>
      <vt:lpstr>Recent Logo Rebranding</vt:lpstr>
      <vt:lpstr>Ways of Working</vt:lpstr>
      <vt:lpstr>Current Challenges &amp; Opportunities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2026-05-13T13:47:47Z</dcterms:created>
  <dcterms:modified xsi:type="dcterms:W3CDTF">2026-07-03T16:54:09Z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