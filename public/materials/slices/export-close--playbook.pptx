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389" r:id="rId26"/>
    <p:sldId id="390" r:id="rId27"/>
    <p:sldId id="40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slide" Target="slides/slide22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7" Type="http://schemas.openxmlformats.org/officeDocument/2006/relationships/slide" Target="slides/slide23.xml"/><Relationship Id="rId35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2.png"/></Relationships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0926E3E9-D431-6CE3-F6F2-892F325E9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5483764" cy="4752000"/>
          </a:xfrm>
        </p:spPr>
        <p:txBody>
          <a:bodyPr/>
          <a:lstStyle/>
          <a:p>
            <a:r>
              <a:rPr lang="en-US" dirty="0"/>
              <a:t>PRINT: Usually print material will have bleed and/or crop-marks. Make sure ask what the supplier needs the document and to add them. 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8E30A84-5D2E-2FB2-C6A7-B9605C53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22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B383FB3-7A68-532D-12C2-1BF3B8E5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Exporting FINAL versions</a:t>
            </a:r>
            <a:endParaRPr lang="es-ES" dirty="0"/>
          </a:p>
        </p:txBody>
      </p:sp>
      <p:sp>
        <p:nvSpPr>
          <p:cNvPr id="6" name="Marcador de contenido 1">
            <a:extLst>
              <a:ext uri="{FF2B5EF4-FFF2-40B4-BE49-F238E27FC236}">
                <a16:creationId xmlns:a16="http://schemas.microsoft.com/office/drawing/2014/main" id="{02628A1C-670D-E7FE-129B-05C151BB9CC4}"/>
              </a:ext>
            </a:extLst>
          </p:cNvPr>
          <p:cNvSpPr txBox="1">
            <a:spLocks/>
          </p:cNvSpPr>
          <p:nvPr/>
        </p:nvSpPr>
        <p:spPr>
          <a:xfrm>
            <a:off x="6240238" y="1444855"/>
            <a:ext cx="5483764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DIGITAL: Digital material is usually exported as Interactive PDF. Ask the requester where this will be displayed or used, to choose if the view should be 1 or 2 pages </a:t>
            </a:r>
            <a:r>
              <a:rPr lang="en-US" dirty="0">
                <a:sym typeface="Wingdings" panose="05000000000000000000" pitchFamily="2" charset="2"/>
              </a:rPr>
              <a:t> or vertical or horizontal.</a:t>
            </a:r>
            <a:endParaRPr lang="es-ES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ED526C44-93AC-72C9-C29F-23A4F52C8A52}"/>
              </a:ext>
            </a:extLst>
          </p:cNvPr>
          <p:cNvGrpSpPr/>
          <p:nvPr/>
        </p:nvGrpSpPr>
        <p:grpSpPr>
          <a:xfrm>
            <a:off x="1495472" y="3354588"/>
            <a:ext cx="3293610" cy="3171122"/>
            <a:chOff x="1495472" y="3354588"/>
            <a:chExt cx="3293610" cy="3171122"/>
          </a:xfrm>
        </p:grpSpPr>
        <p:pic>
          <p:nvPicPr>
            <p:cNvPr id="5" name="Imagen 4" descr="How to export PDF with crop marks in Adobe InDesign - imagy">
              <a:extLst>
                <a:ext uri="{FF2B5EF4-FFF2-40B4-BE49-F238E27FC236}">
                  <a16:creationId xmlns:a16="http://schemas.microsoft.com/office/drawing/2014/main" id="{0AA0486D-AAAE-CFF5-C783-29EF5DA2E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535" t="13196" r="38471"/>
            <a:stretch>
              <a:fillRect/>
            </a:stretch>
          </p:blipFill>
          <p:spPr>
            <a:xfrm>
              <a:off x="1495472" y="3354588"/>
              <a:ext cx="3293610" cy="3171122"/>
            </a:xfrm>
            <a:prstGeom prst="rect">
              <a:avLst/>
            </a:prstGeom>
          </p:spPr>
        </p:pic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680435D7-5476-6B2F-90D3-F7FEAF09352D}"/>
                </a:ext>
              </a:extLst>
            </p:cNvPr>
            <p:cNvSpPr/>
            <p:nvPr/>
          </p:nvSpPr>
          <p:spPr>
            <a:xfrm>
              <a:off x="1516566" y="4006076"/>
              <a:ext cx="735980" cy="147753"/>
            </a:xfrm>
            <a:prstGeom prst="round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B82EA89E-D589-00DF-4FC3-F98523963BF2}"/>
                </a:ext>
              </a:extLst>
            </p:cNvPr>
            <p:cNvSpPr/>
            <p:nvPr/>
          </p:nvSpPr>
          <p:spPr>
            <a:xfrm>
              <a:off x="2386361" y="4176132"/>
              <a:ext cx="747132" cy="122663"/>
            </a:xfrm>
            <a:prstGeom prst="round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AC0E6A67-21D4-72E4-F2C4-6A48C5C07FAF}"/>
                </a:ext>
              </a:extLst>
            </p:cNvPr>
            <p:cNvSpPr/>
            <p:nvPr/>
          </p:nvSpPr>
          <p:spPr>
            <a:xfrm>
              <a:off x="2311090" y="4967870"/>
              <a:ext cx="1014761" cy="100359"/>
            </a:xfrm>
            <a:prstGeom prst="round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3902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759F-0B2A-3CAE-A2E6-85AA18D6F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7AB2AC86-6555-00CF-06A3-EEB1521686AC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</a:rPr>
              <a:t>Task manager</a:t>
            </a:r>
          </a:p>
          <a:p>
            <a:pPr marL="0" indent="0">
              <a:buNone/>
            </a:pPr>
            <a:r>
              <a:rPr lang="en-US" dirty="0"/>
              <a:t>Once the task has been completed, it needs to be moved to the Completed section of the year, and categorized in the market it was made for.</a:t>
            </a:r>
          </a:p>
          <a:p>
            <a:pPr marL="0" indent="0">
              <a:buNone/>
            </a:pPr>
            <a:r>
              <a:rPr lang="en-US" dirty="0"/>
              <a:t>In the case on the left, it is moved to “Completed 2026” and then categorized in “Vietnam”.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F57C408-C65F-1DF1-A55E-72775786BE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23</a:t>
            </a:fld>
            <a:endParaRPr lang="en-GB" noProof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F6DE26EE-3FE8-41FE-57BA-C88BF5B535C8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solidFill>
            <a:srgbClr val="292929"/>
          </a:solidFill>
        </p:spPr>
        <p:txBody>
          <a:bodyPr/>
          <a:lstStyle/>
          <a:p>
            <a:endParaRPr lang="es-ES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29724A4B-70B8-24FD-0A5D-C2924A02A739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ADED52A-E08D-6035-1731-BC1F3E89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Closing tasks</a:t>
            </a:r>
            <a:endParaRPr lang="es-ES" dirty="0"/>
          </a:p>
        </p:txBody>
      </p:sp>
      <p:pic>
        <p:nvPicPr>
          <p:cNvPr id="9" name="Grabación 2026-07-21 122516">
            <a:hlinkClick r:id="" action="ppaction://media"/>
            <a:extLst>
              <a:ext uri="{FF2B5EF4-FFF2-40B4-BE49-F238E27FC236}">
                <a16:creationId xmlns:a16="http://schemas.microsoft.com/office/drawing/2014/main" id="{19023CC5-7402-B109-FCBE-B1B6B963D7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0525" y="1395600"/>
            <a:ext cx="5433346" cy="446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1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F12EF-8654-6DCE-A28F-89629A775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86B0B30-44A6-5EBC-270D-BEBD91BAB67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24</a:t>
            </a:fld>
            <a:endParaRPr lang="en-GB" noProof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1A269E84-17CF-7A43-F617-DC18FC4872A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solidFill>
            <a:srgbClr val="292929"/>
          </a:solidFill>
        </p:spPr>
        <p:txBody>
          <a:bodyPr/>
          <a:lstStyle/>
          <a:p>
            <a:endParaRPr lang="es-ES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E554CC26-3998-4CC9-7DF3-AE625CB9E694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483F90A-D45B-5E3D-3AE5-EE88A8FF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Closing tasks</a:t>
            </a:r>
            <a:endParaRPr lang="es-ES" dirty="0"/>
          </a:p>
        </p:txBody>
      </p:sp>
      <p:sp>
        <p:nvSpPr>
          <p:cNvPr id="11" name="Marcador de contenido 1">
            <a:extLst>
              <a:ext uri="{FF2B5EF4-FFF2-40B4-BE49-F238E27FC236}">
                <a16:creationId xmlns:a16="http://schemas.microsoft.com/office/drawing/2014/main" id="{E104E6F0-B760-17F5-FC67-5D2C0D41278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</a:rPr>
              <a:t>Email Inbox</a:t>
            </a:r>
          </a:p>
          <a:p>
            <a:pPr marL="0" indent="0">
              <a:buNone/>
            </a:pPr>
            <a:r>
              <a:rPr lang="en-US" dirty="0"/>
              <a:t>Once the task has been completed, it needs to be marked with the “done” tag and moved to the folder of the market that requested it.</a:t>
            </a:r>
          </a:p>
        </p:txBody>
      </p:sp>
      <p:pic>
        <p:nvPicPr>
          <p:cNvPr id="12" name="Grabación 2026-07-21 142054">
            <a:hlinkClick r:id="" action="ppaction://media"/>
            <a:extLst>
              <a:ext uri="{FF2B5EF4-FFF2-40B4-BE49-F238E27FC236}">
                <a16:creationId xmlns:a16="http://schemas.microsoft.com/office/drawing/2014/main" id="{B0B30F02-7321-C270-A3BE-02DB5EBDA3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4879" y="0"/>
            <a:ext cx="4084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6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2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