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2147471938" r:id="rId19"/>
    <p:sldId id="2147471943" r:id="rId20"/>
    <p:sldId id="214747194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281BAB2-36C5-94AA-DB9E-1CD6CAA6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18DABD4-B4E8-0833-80E0-E2D93EBB5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Ways </a:t>
            </a:r>
            <a:r>
              <a:rPr lang="es-ES" dirty="0" err="1"/>
              <a:t>of</a:t>
            </a:r>
            <a:r>
              <a:rPr lang="es-ES" dirty="0"/>
              <a:t> Working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E44DE60-BF44-5FF6-7C54-0142AB69796B}"/>
              </a:ext>
            </a:extLst>
          </p:cNvPr>
          <p:cNvSpPr/>
          <p:nvPr/>
        </p:nvSpPr>
        <p:spPr>
          <a:xfrm>
            <a:off x="761999" y="2764329"/>
            <a:ext cx="499571" cy="499571"/>
          </a:xfrm>
          <a:prstGeom prst="roundRect">
            <a:avLst>
              <a:gd name="adj" fmla="val 259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177A4AF-FE98-992F-9BDB-5672BBC4BCE9}"/>
              </a:ext>
            </a:extLst>
          </p:cNvPr>
          <p:cNvSpPr/>
          <p:nvPr/>
        </p:nvSpPr>
        <p:spPr>
          <a:xfrm>
            <a:off x="1418168" y="2920094"/>
            <a:ext cx="765118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sz="1100" b="1" kern="0" spc="198">
                <a:solidFill>
                  <a:schemeClr val="bg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WEEKLY</a:t>
            </a:r>
            <a:endParaRPr 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BF7357C-1822-C2C6-6C27-C90B3028D0D7}"/>
              </a:ext>
            </a:extLst>
          </p:cNvPr>
          <p:cNvSpPr/>
          <p:nvPr/>
        </p:nvSpPr>
        <p:spPr>
          <a:xfrm>
            <a:off x="762001" y="3598332"/>
            <a:ext cx="3174303" cy="2653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Weekly meetings</a:t>
            </a:r>
            <a:endParaRPr lang="en-US" sz="2200">
              <a:latin typeface="+mj-lt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E984D5D-3005-6039-A899-C8E5931A43B1}"/>
              </a:ext>
            </a:extLst>
          </p:cNvPr>
          <p:cNvSpPr/>
          <p:nvPr/>
        </p:nvSpPr>
        <p:spPr>
          <a:xfrm>
            <a:off x="762000" y="4070655"/>
            <a:ext cx="3239328" cy="11454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Ongoing project alignment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Prioritization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Capacity overview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Cross-functional coordination</a:t>
            </a:r>
            <a:endParaRPr lang="en-US" sz="1200">
              <a:latin typeface="+mj-lt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75BE9AFA-1545-06FC-210D-B50285D7401A}"/>
              </a:ext>
            </a:extLst>
          </p:cNvPr>
          <p:cNvSpPr/>
          <p:nvPr/>
        </p:nvSpPr>
        <p:spPr>
          <a:xfrm>
            <a:off x="4555047" y="2764329"/>
            <a:ext cx="499571" cy="499571"/>
          </a:xfrm>
          <a:prstGeom prst="roundRect">
            <a:avLst>
              <a:gd name="adj" fmla="val 259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BCA5CEF-BAA9-8508-AAE4-CC57C035F9B5}"/>
              </a:ext>
            </a:extLst>
          </p:cNvPr>
          <p:cNvSpPr/>
          <p:nvPr/>
        </p:nvSpPr>
        <p:spPr>
          <a:xfrm>
            <a:off x="5211216" y="2920094"/>
            <a:ext cx="572464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sz="1100" b="1" kern="0" spc="198">
                <a:solidFill>
                  <a:schemeClr val="bg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DAILY</a:t>
            </a:r>
            <a:endParaRPr 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400F744-032A-F088-BB35-748F0B0087C2}"/>
              </a:ext>
            </a:extLst>
          </p:cNvPr>
          <p:cNvSpPr/>
          <p:nvPr/>
        </p:nvSpPr>
        <p:spPr>
          <a:xfrm>
            <a:off x="4555049" y="3598332"/>
            <a:ext cx="3174303" cy="2653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Daily collaboration</a:t>
            </a:r>
            <a:endParaRPr lang="en-US" sz="2200">
              <a:latin typeface="+mj-lt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E5000485-C623-9B64-D92C-5E72C4D11C33}"/>
              </a:ext>
            </a:extLst>
          </p:cNvPr>
          <p:cNvSpPr/>
          <p:nvPr/>
        </p:nvSpPr>
        <p:spPr>
          <a:xfrm>
            <a:off x="4555048" y="4107231"/>
            <a:ext cx="3239328" cy="84324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Feedback loops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Stakeholder communication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Iterative review process</a:t>
            </a:r>
            <a:endParaRPr lang="en-US" sz="1200">
              <a:latin typeface="+mj-lt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F8E7DC3-B399-90B6-C55F-FE6393DEF570}"/>
              </a:ext>
            </a:extLst>
          </p:cNvPr>
          <p:cNvSpPr/>
          <p:nvPr/>
        </p:nvSpPr>
        <p:spPr>
          <a:xfrm>
            <a:off x="8348095" y="2764329"/>
            <a:ext cx="499571" cy="499571"/>
          </a:xfrm>
          <a:prstGeom prst="roundRect">
            <a:avLst>
              <a:gd name="adj" fmla="val 259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F4CC0134-817E-7749-F0D5-2ECC61D03F7F}"/>
              </a:ext>
            </a:extLst>
          </p:cNvPr>
          <p:cNvSpPr/>
          <p:nvPr/>
        </p:nvSpPr>
        <p:spPr>
          <a:xfrm>
            <a:off x="9004264" y="2920094"/>
            <a:ext cx="113392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kern="0" spc="198">
                <a:solidFill>
                  <a:schemeClr val="bg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ALWAYS-ON</a:t>
            </a:r>
            <a:endParaRPr 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3C6EC60-54AC-35E2-9DEF-88DED413508F}"/>
              </a:ext>
            </a:extLst>
          </p:cNvPr>
          <p:cNvSpPr/>
          <p:nvPr/>
        </p:nvSpPr>
        <p:spPr>
          <a:xfrm>
            <a:off x="8348097" y="3598332"/>
            <a:ext cx="3174303" cy="2653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File &amp; asset management</a:t>
            </a:r>
            <a:endParaRPr lang="en-US" sz="2200">
              <a:latin typeface="+mj-lt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44A995B-417E-23DF-9045-3F8B872CEDC6}"/>
              </a:ext>
            </a:extLst>
          </p:cNvPr>
          <p:cNvSpPr/>
          <p:nvPr/>
        </p:nvSpPr>
        <p:spPr>
          <a:xfrm>
            <a:off x="8348096" y="4436415"/>
            <a:ext cx="3239328" cy="84324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Shared systems &amp; organization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Version control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Accessibility across teams</a:t>
            </a:r>
            <a:endParaRPr lang="en-US" sz="1200">
              <a:latin typeface="+mj-lt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25FDF139-CA0E-692E-04AA-07709FA14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054" y="2830483"/>
            <a:ext cx="363556" cy="36232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D08DED4-E26E-AAEB-1BF6-00A50CFCB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074" y="2859018"/>
            <a:ext cx="317885" cy="305254"/>
          </a:xfrm>
          <a:prstGeom prst="rect">
            <a:avLst/>
          </a:prstGeom>
        </p:spPr>
      </p:pic>
      <p:pic>
        <p:nvPicPr>
          <p:cNvPr id="31" name="Graphic 30" descr="Folder with solid fill">
            <a:extLst>
              <a:ext uri="{FF2B5EF4-FFF2-40B4-BE49-F238E27FC236}">
                <a16:creationId xmlns:a16="http://schemas.microsoft.com/office/drawing/2014/main" id="{44FBA302-4A9B-1FE1-58E1-B82A94F9A3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1960" y="2793221"/>
            <a:ext cx="440305" cy="4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17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48CA-223B-DB8D-1E84-7A7162F3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DBD566-DCB3-1EB3-4B1B-34E76DD3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16</a:t>
            </a:fld>
            <a:endParaRPr lang="en-GB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5DF3C96-3BD5-9F09-0644-69842B4B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Current </a:t>
            </a:r>
            <a:r>
              <a:rPr lang="es-ES" err="1"/>
              <a:t>Challenges</a:t>
            </a:r>
            <a:r>
              <a:rPr lang="es-ES"/>
              <a:t> &amp; </a:t>
            </a:r>
            <a:r>
              <a:rPr lang="es-ES" err="1"/>
              <a:t>Opportunities</a:t>
            </a:r>
            <a:endParaRPr lang="es-E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25CDD65-A41D-5523-D170-CDB5863F1336}"/>
              </a:ext>
            </a:extLst>
          </p:cNvPr>
          <p:cNvSpPr/>
          <p:nvPr/>
        </p:nvSpPr>
        <p:spPr>
          <a:xfrm>
            <a:off x="508000" y="2602727"/>
            <a:ext cx="5181601" cy="3413511"/>
          </a:xfrm>
          <a:prstGeom prst="roundRect">
            <a:avLst>
              <a:gd name="adj" fmla="val 4979"/>
            </a:avLst>
          </a:prstGeom>
          <a:solidFill>
            <a:srgbClr val="0471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K" sz="12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BF4185A-81F3-DD11-E741-6AEA7022652B}"/>
              </a:ext>
            </a:extLst>
          </p:cNvPr>
          <p:cNvSpPr/>
          <p:nvPr/>
        </p:nvSpPr>
        <p:spPr>
          <a:xfrm>
            <a:off x="765629" y="2860357"/>
            <a:ext cx="4806333" cy="23222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240">
                <a:solidFill>
                  <a:srgbClr val="FFFFFF">
                    <a:alpha val="55000"/>
                  </a:srgbClr>
                </a:solidFill>
                <a:latin typeface="+mj-lt"/>
                <a:ea typeface="Nunito Sans" pitchFamily="34" charset="-122"/>
                <a:cs typeface="Nunito Sans" pitchFamily="34" charset="-120"/>
              </a:rPr>
              <a:t>TODAY – hub 2.0</a:t>
            </a:r>
            <a:endParaRPr lang="en-US" sz="1200">
              <a:latin typeface="+mj-lt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C59AF76-AEF7-6730-6A49-94B71A1EAF52}"/>
              </a:ext>
            </a:extLst>
          </p:cNvPr>
          <p:cNvSpPr/>
          <p:nvPr/>
        </p:nvSpPr>
        <p:spPr>
          <a:xfrm>
            <a:off x="765629" y="3117986"/>
            <a:ext cx="4806333" cy="3882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2100" b="1" kern="0" spc="-42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Current challenges</a:t>
            </a:r>
            <a:endParaRPr lang="en-US" sz="2100">
              <a:latin typeface="+mj-lt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4F43DFA-217B-B32C-4BF7-FD08840836AF}"/>
              </a:ext>
            </a:extLst>
          </p:cNvPr>
          <p:cNvSpPr/>
          <p:nvPr/>
        </p:nvSpPr>
        <p:spPr>
          <a:xfrm>
            <a:off x="765629" y="3658643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091C48D-3B65-A55B-3A12-AB4B69D948EB}"/>
              </a:ext>
            </a:extLst>
          </p:cNvPr>
          <p:cNvSpPr/>
          <p:nvPr/>
        </p:nvSpPr>
        <p:spPr>
          <a:xfrm>
            <a:off x="879929" y="3747543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Volume of requests is increasing</a:t>
            </a:r>
            <a:endParaRPr lang="en-US" sz="1100">
              <a:latin typeface="+mj-lt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7B6EEE0F-415C-8FD2-8788-EC96207B71CB}"/>
              </a:ext>
            </a:extLst>
          </p:cNvPr>
          <p:cNvSpPr/>
          <p:nvPr/>
        </p:nvSpPr>
        <p:spPr>
          <a:xfrm>
            <a:off x="765629" y="4117657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36339E1-16F8-3160-7B19-978133068893}"/>
              </a:ext>
            </a:extLst>
          </p:cNvPr>
          <p:cNvSpPr/>
          <p:nvPr/>
        </p:nvSpPr>
        <p:spPr>
          <a:xfrm>
            <a:off x="879929" y="4206557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Global consistency vs local flexibility</a:t>
            </a:r>
            <a:endParaRPr lang="en-US" sz="1100">
              <a:latin typeface="+mj-lt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1876368-920D-403B-BF03-3CADDBE423EB}"/>
              </a:ext>
            </a:extLst>
          </p:cNvPr>
          <p:cNvSpPr/>
          <p:nvPr/>
        </p:nvSpPr>
        <p:spPr>
          <a:xfrm>
            <a:off x="765629" y="4576672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F0120C4-9BDF-E483-D69F-10CFB52260D3}"/>
              </a:ext>
            </a:extLst>
          </p:cNvPr>
          <p:cNvSpPr/>
          <p:nvPr/>
        </p:nvSpPr>
        <p:spPr>
          <a:xfrm>
            <a:off x="879929" y="4665572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Scaling processes efficiently</a:t>
            </a:r>
            <a:endParaRPr lang="en-US" sz="1100">
              <a:latin typeface="+mj-lt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A82E04E0-E8E2-F229-D0B9-B86673639819}"/>
              </a:ext>
            </a:extLst>
          </p:cNvPr>
          <p:cNvSpPr/>
          <p:nvPr/>
        </p:nvSpPr>
        <p:spPr>
          <a:xfrm>
            <a:off x="765629" y="5035686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5DDFF66-E0E4-F9E8-B0A1-28D4083C1E5D}"/>
              </a:ext>
            </a:extLst>
          </p:cNvPr>
          <p:cNvSpPr/>
          <p:nvPr/>
        </p:nvSpPr>
        <p:spPr>
          <a:xfrm>
            <a:off x="879929" y="5124586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Quality across channels, local </a:t>
            </a:r>
            <a:r>
              <a:rPr lang="en-US" sz="1100" kern="0" spc="-4" err="1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scalling</a:t>
            </a:r>
            <a:endParaRPr lang="en-US" sz="1100">
              <a:latin typeface="+mj-lt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266AEA67-6032-EED6-6E1F-160AF48DD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1" y="4191000"/>
            <a:ext cx="508000" cy="508000"/>
          </a:xfrm>
          <a:prstGeom prst="rect">
            <a:avLst/>
          </a:prstGeom>
        </p:spPr>
      </p:pic>
      <p:sp>
        <p:nvSpPr>
          <p:cNvPr id="22" name="Shape 16">
            <a:extLst>
              <a:ext uri="{FF2B5EF4-FFF2-40B4-BE49-F238E27FC236}">
                <a16:creationId xmlns:a16="http://schemas.microsoft.com/office/drawing/2014/main" id="{A0D5B252-3A72-B375-3ED2-4B060EA27AD8}"/>
              </a:ext>
            </a:extLst>
          </p:cNvPr>
          <p:cNvSpPr/>
          <p:nvPr/>
        </p:nvSpPr>
        <p:spPr>
          <a:xfrm>
            <a:off x="6502400" y="2602727"/>
            <a:ext cx="5181601" cy="3413511"/>
          </a:xfrm>
          <a:prstGeom prst="roundRect">
            <a:avLst>
              <a:gd name="adj" fmla="val 4991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15BFF70-0B76-2F98-96C9-45F1DA7D0BA3}"/>
              </a:ext>
            </a:extLst>
          </p:cNvPr>
          <p:cNvSpPr/>
          <p:nvPr/>
        </p:nvSpPr>
        <p:spPr>
          <a:xfrm>
            <a:off x="6756400" y="2856727"/>
            <a:ext cx="4813809" cy="23222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240">
                <a:solidFill>
                  <a:srgbClr val="1F3E77">
                    <a:alpha val="70000"/>
                  </a:srgbClr>
                </a:solidFill>
                <a:latin typeface="+mj-lt"/>
                <a:ea typeface="Nunito Sans" pitchFamily="34" charset="-122"/>
                <a:cs typeface="Nunito Sans" pitchFamily="34" charset="-120"/>
              </a:rPr>
              <a:t>Hub 3.0</a:t>
            </a:r>
            <a:endParaRPr lang="en-US" sz="1200">
              <a:latin typeface="+mj-lt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FAD5D9D1-4DE4-CAD7-D62D-23A5991D122F}"/>
              </a:ext>
            </a:extLst>
          </p:cNvPr>
          <p:cNvSpPr/>
          <p:nvPr/>
        </p:nvSpPr>
        <p:spPr>
          <a:xfrm>
            <a:off x="6756400" y="3114356"/>
            <a:ext cx="4813809" cy="3882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2100" b="1" kern="0" spc="-42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Opportunities</a:t>
            </a:r>
            <a:endParaRPr lang="en-US" sz="2100">
              <a:latin typeface="+mj-lt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5E0B9BA-6340-578F-9CD1-5227D45B5874}"/>
              </a:ext>
            </a:extLst>
          </p:cNvPr>
          <p:cNvSpPr/>
          <p:nvPr/>
        </p:nvSpPr>
        <p:spPr>
          <a:xfrm>
            <a:off x="6756400" y="3655013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CD8D890-093D-317D-C862-BF6AE9601CA6}"/>
              </a:ext>
            </a:extLst>
          </p:cNvPr>
          <p:cNvSpPr/>
          <p:nvPr/>
        </p:nvSpPr>
        <p:spPr>
          <a:xfrm>
            <a:off x="6870700" y="3743913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Swift on necessities + Campaigns, storytelling and events</a:t>
            </a:r>
            <a:endParaRPr lang="en-US" sz="1100">
              <a:latin typeface="+mj-lt"/>
            </a:endParaRPr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61E698B3-E796-5164-A38A-B2EDE82C96DC}"/>
              </a:ext>
            </a:extLst>
          </p:cNvPr>
          <p:cNvSpPr/>
          <p:nvPr/>
        </p:nvSpPr>
        <p:spPr>
          <a:xfrm>
            <a:off x="6756400" y="4114027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E93DB49E-CE4B-6B77-FEF5-FF7B56284DCD}"/>
              </a:ext>
            </a:extLst>
          </p:cNvPr>
          <p:cNvSpPr/>
          <p:nvPr/>
        </p:nvSpPr>
        <p:spPr>
          <a:xfrm>
            <a:off x="6870700" y="4202927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Enhance collaboration, scale the hub resources</a:t>
            </a:r>
            <a:endParaRPr lang="en-US" sz="1100">
              <a:latin typeface="+mj-lt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D9D29B59-9A89-440C-0715-8C5C50F1CA20}"/>
              </a:ext>
            </a:extLst>
          </p:cNvPr>
          <p:cNvSpPr/>
          <p:nvPr/>
        </p:nvSpPr>
        <p:spPr>
          <a:xfrm>
            <a:off x="6756400" y="4573042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7349891-894D-E931-9471-A70A3AB2434D}"/>
              </a:ext>
            </a:extLst>
          </p:cNvPr>
          <p:cNvSpPr/>
          <p:nvPr/>
        </p:nvSpPr>
        <p:spPr>
          <a:xfrm>
            <a:off x="6870700" y="4661942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High-value vs low-value tasks. Commercial vs Internal balance</a:t>
            </a:r>
            <a:endParaRPr lang="en-US" sz="1100">
              <a:latin typeface="+mj-lt"/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731F8DD2-F733-3C9B-85F0-D3D128A6C982}"/>
              </a:ext>
            </a:extLst>
          </p:cNvPr>
          <p:cNvSpPr/>
          <p:nvPr/>
        </p:nvSpPr>
        <p:spPr>
          <a:xfrm>
            <a:off x="6756400" y="5032056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85323C0-6A25-02CE-79C5-255F6CAA689F}"/>
              </a:ext>
            </a:extLst>
          </p:cNvPr>
          <p:cNvSpPr/>
          <p:nvPr/>
        </p:nvSpPr>
        <p:spPr>
          <a:xfrm>
            <a:off x="6870700" y="5120956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Automation, improved workflows and transparency</a:t>
            </a:r>
            <a:endParaRPr lang="en-US" sz="1100">
              <a:latin typeface="+mj-lt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F9138ED1-50B3-8C4F-6FAE-1C214BDE99C1}"/>
              </a:ext>
            </a:extLst>
          </p:cNvPr>
          <p:cNvSpPr/>
          <p:nvPr/>
        </p:nvSpPr>
        <p:spPr>
          <a:xfrm>
            <a:off x="2902834" y="1847362"/>
            <a:ext cx="6386331" cy="5374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2800" b="1" kern="0" spc="-105">
                <a:solidFill>
                  <a:srgbClr val="1F3E77"/>
                </a:solidFill>
                <a:latin typeface="+mj-lt"/>
              </a:rPr>
              <a:t>Looking ahead</a:t>
            </a:r>
            <a:endParaRPr lang="en-US" sz="2800">
              <a:latin typeface="+mj-lt"/>
            </a:endParaRPr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733C6578-8FB3-AD08-9DE6-EC7E35CA9EC4}"/>
              </a:ext>
            </a:extLst>
          </p:cNvPr>
          <p:cNvSpPr/>
          <p:nvPr/>
        </p:nvSpPr>
        <p:spPr>
          <a:xfrm>
            <a:off x="765629" y="5491071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5CDB3834-D6C0-C590-7225-F152739E2E79}"/>
              </a:ext>
            </a:extLst>
          </p:cNvPr>
          <p:cNvSpPr/>
          <p:nvPr/>
        </p:nvSpPr>
        <p:spPr>
          <a:xfrm>
            <a:off x="879929" y="5579971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Product ownership</a:t>
            </a:r>
            <a:endParaRPr lang="en-US" sz="11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5491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1EE690A-0047-0C70-472B-0BF9742A21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9376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