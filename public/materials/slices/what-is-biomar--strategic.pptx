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2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A5E8-7A99-A104-14A2-39D1B6A5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2359C8-4FAD-F4BE-ABAF-F4000E1D3F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2359C8-4FAD-F4BE-ABAF-F4000E1D3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0E1F7-E6D3-0B43-52A3-2BCFD6B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B7526-A0A0-9A91-389D-3424E11B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 vert="horz" lIns="0" tIns="36000" rIns="36000" bIns="36000" rtlCol="0" anchor="b" anchorCtr="0">
            <a:normAutofit/>
          </a:bodyPr>
          <a:lstStyle/>
          <a:p>
            <a:r>
              <a:rPr lang="en-GB" sz="3200"/>
              <a:t>Marketing 2028 refined strategy house</a:t>
            </a:r>
          </a:p>
        </p:txBody>
      </p:sp>
      <p:sp>
        <p:nvSpPr>
          <p:cNvPr id="9" name="Pladsholder til slidenummer 2">
            <a:extLst>
              <a:ext uri="{FF2B5EF4-FFF2-40B4-BE49-F238E27FC236}">
                <a16:creationId xmlns:a16="http://schemas.microsoft.com/office/drawing/2014/main" id="{B0ABBB3D-A840-C2C6-8840-E845CB637FDF}"/>
              </a:ext>
            </a:extLst>
          </p:cNvPr>
          <p:cNvSpPr txBox="1">
            <a:spLocks/>
          </p:cNvSpPr>
          <p:nvPr/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defPPr>
              <a:defRPr lang="en-US"/>
            </a:defPPr>
            <a:lvl1pPr algn="r">
              <a:defRPr sz="1200" b="1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F6B9C1-1745-48B0-A8CA-B72E4783115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Isosceles Triangle 3">
            <a:extLst>
              <a:ext uri="{FF2B5EF4-FFF2-40B4-BE49-F238E27FC236}">
                <a16:creationId xmlns:a16="http://schemas.microsoft.com/office/drawing/2014/main" id="{F18ECA2F-1AF9-910D-3BFB-F6A043445DF5}"/>
              </a:ext>
            </a:extLst>
          </p:cNvPr>
          <p:cNvSpPr/>
          <p:nvPr/>
        </p:nvSpPr>
        <p:spPr>
          <a:xfrm>
            <a:off x="452210" y="1351734"/>
            <a:ext cx="11232000" cy="1404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36000" rtlCol="0" anchor="b"/>
          <a:lstStyle/>
          <a:p>
            <a:pPr algn="ctr"/>
            <a:r>
              <a:rPr lang="en-US" b="1" i="1" spc="5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2028 Refined Above &amp; Beyond</a:t>
            </a:r>
            <a:endParaRPr lang="en-US" sz="1600" b="1" i="1" spc="5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i="1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  <a:p>
            <a:pPr algn="ctr"/>
            <a:r>
              <a:rPr lang="en-US" sz="900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 our value propositions, products and services to meet market needs and deliver on the promise of fed aquaculture in the global food system inline with our strategy and purpose.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8D233EE-92E4-DBD6-DF97-0393108B139F}"/>
              </a:ext>
            </a:extLst>
          </p:cNvPr>
          <p:cNvSpPr txBox="1">
            <a:spLocks/>
          </p:cNvSpPr>
          <p:nvPr/>
        </p:nvSpPr>
        <p:spPr>
          <a:xfrm>
            <a:off x="481513" y="6010835"/>
            <a:ext cx="11195973" cy="329554"/>
          </a:xfrm>
          <a:prstGeom prst="roundRect">
            <a:avLst>
              <a:gd name="adj" fmla="val 6083"/>
            </a:avLst>
          </a:prstGeom>
          <a:solidFill>
            <a:schemeClr val="accent3"/>
          </a:solidFill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 b="1" i="1">
                <a:solidFill>
                  <a:schemeClr val="accent1"/>
                </a:solidFill>
                <a:latin typeface="Arial"/>
                <a:ea typeface="DengXian"/>
                <a:cs typeface="Nirmala UI" panose="020B0502040204020203" pitchFamily="34" charset="0"/>
              </a:rPr>
              <a:t>W</a:t>
            </a:r>
            <a:r>
              <a:rPr kumimoji="0" lang="en-GB" sz="1100" b="1" i="1" u="none" strike="noStrike" kern="120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DengXian"/>
                <a:cs typeface="Nirmala UI" panose="020B0502040204020203" pitchFamily="34" charset="0"/>
              </a:rPr>
              <a:t>e are innovators dedicated to an efficient and sustainable aquaculture </a:t>
            </a:r>
            <a:endParaRPr kumimoji="0" lang="en-GB" sz="1100" b="1" i="1" u="none" strike="noStrike" kern="120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DengXian"/>
              <a:cs typeface="+mj-cs"/>
            </a:endParaRPr>
          </a:p>
        </p:txBody>
      </p:sp>
      <p:pic>
        <p:nvPicPr>
          <p:cNvPr id="62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E3F3F225-82AA-1053-DC16-7E8DEF3EB95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5827632" y="1264989"/>
            <a:ext cx="468000" cy="435804"/>
          </a:xfrm>
          <a:prstGeom prst="ellipse">
            <a:avLst/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2BBC5EE-F9A0-AD9F-6665-6CCE432BB912}"/>
              </a:ext>
            </a:extLst>
          </p:cNvPr>
          <p:cNvSpPr txBox="1"/>
          <p:nvPr/>
        </p:nvSpPr>
        <p:spPr>
          <a:xfrm>
            <a:off x="459472" y="2820247"/>
            <a:ext cx="573592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Functional services/Operations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583DE651-EBE3-1BF3-CEEA-7C8FE3EEDC68}"/>
              </a:ext>
            </a:extLst>
          </p:cNvPr>
          <p:cNvSpPr txBox="1"/>
          <p:nvPr/>
        </p:nvSpPr>
        <p:spPr>
          <a:xfrm>
            <a:off x="6288150" y="2820247"/>
            <a:ext cx="539606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New initiatives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40D466B1-1F1C-A200-67B2-2AEBD3482E4F}"/>
              </a:ext>
            </a:extLst>
          </p:cNvPr>
          <p:cNvSpPr txBox="1"/>
          <p:nvPr/>
        </p:nvSpPr>
        <p:spPr>
          <a:xfrm>
            <a:off x="461276" y="3308170"/>
            <a:ext cx="1548000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</a:t>
            </a:r>
            <a:r>
              <a:rPr lang="en-US" sz="900" b="0" err="1">
                <a:solidFill>
                  <a:schemeClr val="tx2"/>
                </a:solidFill>
              </a:rPr>
              <a:t>centralised</a:t>
            </a:r>
            <a:r>
              <a:rPr lang="en-US" sz="900" b="0">
                <a:solidFill>
                  <a:schemeClr val="tx2"/>
                </a:solidFill>
              </a:rPr>
              <a:t> design and advertising agency providing shared services across the </a:t>
            </a:r>
            <a:r>
              <a:rPr lang="en-US" sz="900" b="0" err="1">
                <a:solidFill>
                  <a:schemeClr val="tx2"/>
                </a:solidFill>
              </a:rPr>
              <a:t>BioMar</a:t>
            </a:r>
            <a:r>
              <a:rPr lang="en-US" sz="900" b="0">
                <a:solidFill>
                  <a:schemeClr val="tx2"/>
                </a:solidFill>
              </a:rPr>
              <a:t> world. Offering services to our markets, 14 hours every weekday. The Design Hub does more then 1000 tasks annually ranging in complexity from a few hours to several months.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and execution of brand and product guidelines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Visual design creation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10DD56-CDDB-D15F-9DB2-C2BECD0F719D}"/>
              </a:ext>
            </a:extLst>
          </p:cNvPr>
          <p:cNvSpPr txBox="1"/>
          <p:nvPr/>
        </p:nvSpPr>
        <p:spPr>
          <a:xfrm>
            <a:off x="461276" y="3065274"/>
            <a:ext cx="154800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Design Hub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4567FFD9-FA06-F8D3-AD64-06BE6B59B35C}"/>
              </a:ext>
            </a:extLst>
          </p:cNvPr>
          <p:cNvSpPr txBox="1"/>
          <p:nvPr/>
        </p:nvSpPr>
        <p:spPr>
          <a:xfrm>
            <a:off x="2055659" y="3308170"/>
            <a:ext cx="15016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centralised digital marketing agency provides a global platform of digital tools and services for direct interaction with our customers, aligned with commercial and marketing teams across the BioMar world.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of the marketing and commercial digital strategy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Daily management and development of tools including </a:t>
            </a:r>
            <a:r>
              <a:rPr lang="en-US" sz="900" err="1">
                <a:solidFill>
                  <a:schemeClr val="tx2"/>
                </a:solidFill>
              </a:rPr>
              <a:t>brandsite</a:t>
            </a:r>
            <a:r>
              <a:rPr lang="en-US" sz="900">
                <a:solidFill>
                  <a:schemeClr val="tx2"/>
                </a:solidFill>
              </a:rPr>
              <a:t>, customer portal, marketing automation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4F6F51D8-05F1-859B-167B-919EB0CC5619}"/>
              </a:ext>
            </a:extLst>
          </p:cNvPr>
          <p:cNvSpPr txBox="1"/>
          <p:nvPr/>
        </p:nvSpPr>
        <p:spPr>
          <a:xfrm>
            <a:off x="2055659" y="3065274"/>
            <a:ext cx="1501622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Digital Hub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AB0678FF-86C7-48DA-88C7-B6D72E556F37}"/>
              </a:ext>
            </a:extLst>
          </p:cNvPr>
          <p:cNvSpPr txBox="1"/>
          <p:nvPr/>
        </p:nvSpPr>
        <p:spPr>
          <a:xfrm>
            <a:off x="3610339" y="3303306"/>
            <a:ext cx="129301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>
                <a:solidFill>
                  <a:schemeClr val="accent1"/>
                </a:solidFill>
                <a:cs typeface="Arial"/>
              </a:rPr>
              <a:t>Umbrella product and services strategy to ensure a One BioMar approach with species segment alignment and while addressing local adaptation needs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One product segment approach to product marketing management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Creation of all product and service concepts, value propositions and campaigns </a:t>
            </a:r>
            <a:endParaRPr lang="en-GB" sz="900" b="0">
              <a:solidFill>
                <a:schemeClr val="accent1"/>
              </a:solidFill>
              <a:cs typeface="Arial"/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2BD6EABE-9388-CE15-DF18-7D28610F2B8D}"/>
              </a:ext>
            </a:extLst>
          </p:cNvPr>
          <p:cNvSpPr txBox="1"/>
          <p:nvPr/>
        </p:nvSpPr>
        <p:spPr>
          <a:xfrm>
            <a:off x="3610339" y="3060410"/>
            <a:ext cx="1293019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Products</a:t>
            </a:r>
          </a:p>
        </p:txBody>
      </p:sp>
      <p:sp>
        <p:nvSpPr>
          <p:cNvPr id="83" name="TextBox 5">
            <a:extLst>
              <a:ext uri="{FF2B5EF4-FFF2-40B4-BE49-F238E27FC236}">
                <a16:creationId xmlns:a16="http://schemas.microsoft.com/office/drawing/2014/main" id="{5C102279-9850-D573-5DD8-A35305F02931}"/>
              </a:ext>
            </a:extLst>
          </p:cNvPr>
          <p:cNvSpPr txBox="1"/>
          <p:nvPr/>
        </p:nvSpPr>
        <p:spPr>
          <a:xfrm>
            <a:off x="9191361" y="3303306"/>
            <a:ext cx="1176238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Identify strategic opportunities in the digital realm to enhance the customer journey and experience with BioMar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digital situation analysis and key opportunities   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4" name="TextBox 5">
            <a:extLst>
              <a:ext uri="{FF2B5EF4-FFF2-40B4-BE49-F238E27FC236}">
                <a16:creationId xmlns:a16="http://schemas.microsoft.com/office/drawing/2014/main" id="{E7881986-5EEF-2A6F-4ABE-8DA6B17350EC}"/>
              </a:ext>
            </a:extLst>
          </p:cNvPr>
          <p:cNvSpPr txBox="1"/>
          <p:nvPr/>
        </p:nvSpPr>
        <p:spPr>
          <a:xfrm>
            <a:off x="9191359" y="3060410"/>
            <a:ext cx="1176239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Customer Journey</a:t>
            </a: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EA3EB157-D140-B921-5C27-B138595B7213}"/>
              </a:ext>
            </a:extLst>
          </p:cNvPr>
          <p:cNvSpPr txBox="1"/>
          <p:nvPr/>
        </p:nvSpPr>
        <p:spPr>
          <a:xfrm>
            <a:off x="7775867" y="3303306"/>
            <a:ext cx="136527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Use One BioMar marketing theory and tools to meet business and commercial needs.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Budget &amp; Reporting process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Marketing &amp; Product process and structure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Key strategic partnerships to leverage our position and enable a market pull.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Chefs Initiative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commercial partnerships      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9AE4332C-5A30-4A33-99B2-D243BE963E8B}"/>
              </a:ext>
            </a:extLst>
          </p:cNvPr>
          <p:cNvSpPr txBox="1"/>
          <p:nvPr/>
        </p:nvSpPr>
        <p:spPr>
          <a:xfrm>
            <a:off x="7775867" y="3060410"/>
            <a:ext cx="136528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Strategic Marketing</a:t>
            </a:r>
          </a:p>
        </p:txBody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9F249329-046A-B021-4F1B-19A028419B29}"/>
              </a:ext>
            </a:extLst>
          </p:cNvPr>
          <p:cNvSpPr txBox="1"/>
          <p:nvPr/>
        </p:nvSpPr>
        <p:spPr>
          <a:xfrm>
            <a:off x="10417810" y="3308170"/>
            <a:ext cx="1259676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Marketing strategy for our new target segment of investors: Creating the value position for BioMar in the Feed Category setting our pathway towards IPO.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Investor Category Creation marketing strategy (2026+)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ACC7DA7E-71D0-8ABB-83EB-FF6C92E93643}"/>
              </a:ext>
            </a:extLst>
          </p:cNvPr>
          <p:cNvSpPr txBox="1"/>
          <p:nvPr/>
        </p:nvSpPr>
        <p:spPr>
          <a:xfrm>
            <a:off x="10417810" y="3065274"/>
            <a:ext cx="126640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Investor Category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0317F93-F148-8035-861F-F2C5160D1EB8}"/>
              </a:ext>
            </a:extLst>
          </p:cNvPr>
          <p:cNvSpPr txBox="1"/>
          <p:nvPr/>
        </p:nvSpPr>
        <p:spPr>
          <a:xfrm>
            <a:off x="4953570" y="3308170"/>
            <a:ext cx="12418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brand positioning´, management and execution across the </a:t>
            </a: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world aligned to our strategy and purpose.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Marketing strategy, value propositions and campaigns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Stakeholder relations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Risk management communications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Content creation and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F630167-506D-9776-B023-F386408751FB}"/>
              </a:ext>
            </a:extLst>
          </p:cNvPr>
          <p:cNvSpPr txBox="1"/>
          <p:nvPr/>
        </p:nvSpPr>
        <p:spPr>
          <a:xfrm>
            <a:off x="4953570" y="3065274"/>
            <a:ext cx="1241821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BioMar Brand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72347EE-8FF9-D493-940D-9E7C2A9C61E9}"/>
              </a:ext>
            </a:extLst>
          </p:cNvPr>
          <p:cNvSpPr txBox="1"/>
          <p:nvPr/>
        </p:nvSpPr>
        <p:spPr>
          <a:xfrm>
            <a:off x="6288152" y="3308170"/>
            <a:ext cx="143750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Data-driven decision making: to deliver the right information/solution at the right time to address our customers.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chemeClr val="tx2"/>
                </a:solidFill>
              </a:rPr>
              <a:t>Needbased</a:t>
            </a:r>
            <a:r>
              <a:rPr lang="en-US" sz="900">
                <a:solidFill>
                  <a:schemeClr val="tx2"/>
                </a:solidFill>
              </a:rPr>
              <a:t> Customer Segmentation</a:t>
            </a:r>
            <a:r>
              <a:rPr lang="en-US" sz="900" b="0">
                <a:solidFill>
                  <a:schemeClr val="tx2"/>
                </a:solidFill>
              </a:rPr>
              <a:t>: a </a:t>
            </a:r>
            <a:r>
              <a:rPr lang="en-US" sz="900" b="0" err="1">
                <a:solidFill>
                  <a:schemeClr val="tx2"/>
                </a:solidFill>
              </a:rPr>
              <a:t>ComEx</a:t>
            </a:r>
            <a:r>
              <a:rPr lang="en-US" sz="900" b="0">
                <a:solidFill>
                  <a:schemeClr val="tx2"/>
                </a:solidFill>
              </a:rPr>
              <a:t> project follow-up in which we identify customer drives that align with our strategy.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Product Segmentation:</a:t>
            </a:r>
            <a:r>
              <a:rPr lang="en-US" sz="900" b="0">
                <a:solidFill>
                  <a:schemeClr val="tx2"/>
                </a:solidFill>
              </a:rPr>
              <a:t> segmenting our sales data to enable product lifecycle management and product sales </a:t>
            </a:r>
            <a:r>
              <a:rPr lang="en-US" sz="900" b="0" err="1">
                <a:solidFill>
                  <a:schemeClr val="tx2"/>
                </a:solidFill>
              </a:rPr>
              <a:t>behaviour</a:t>
            </a:r>
            <a:r>
              <a:rPr lang="en-US" sz="900" b="0">
                <a:solidFill>
                  <a:schemeClr val="tx2"/>
                </a:solidFill>
              </a:rPr>
              <a:t>.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DCBEDB9-BA83-5DFA-6347-9BF6B9B879CD}"/>
              </a:ext>
            </a:extLst>
          </p:cNvPr>
          <p:cNvSpPr txBox="1"/>
          <p:nvPr/>
        </p:nvSpPr>
        <p:spPr>
          <a:xfrm>
            <a:off x="6288150" y="3065274"/>
            <a:ext cx="1437503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Market Intelligence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00AC93-6471-EF71-937E-423B15FE9BAA}"/>
              </a:ext>
            </a:extLst>
          </p:cNvPr>
          <p:cNvSpPr/>
          <p:nvPr/>
        </p:nvSpPr>
        <p:spPr>
          <a:xfrm>
            <a:off x="368108" y="2990088"/>
            <a:ext cx="1744519" cy="3052751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678182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