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379" r:id="rId11"/>
    <p:sldId id="264" r:id="rId12"/>
    <p:sldId id="395" r:id="rId13"/>
    <p:sldId id="381" r:id="rId25"/>
    <p:sldId id="380" r:id="rId26"/>
    <p:sldId id="39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9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27" Type="http://schemas.openxmlformats.org/officeDocument/2006/relationships/slide" Target="slides/slide23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25" Type="http://schemas.openxmlformats.org/officeDocument/2006/relationships/slide" Target="slides/slide21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close-up of a leaf&#10;&#10;Description automatically generated">
            <a:extLst>
              <a:ext uri="{FF2B5EF4-FFF2-40B4-BE49-F238E27FC236}">
                <a16:creationId xmlns:a16="http://schemas.microsoft.com/office/drawing/2014/main" id="{5B2622F6-B31B-E261-C434-D15ADB2313A2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2" r="28932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159D8-EDD2-83AE-03C6-72AA2F6B4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499" y="3706434"/>
            <a:ext cx="7320745" cy="2629972"/>
          </a:xfrm>
        </p:spPr>
        <p:txBody>
          <a:bodyPr/>
          <a:lstStyle/>
          <a:p>
            <a:r>
              <a:rPr lang="en-US" b="1" i="1">
                <a:solidFill>
                  <a:schemeClr val="accent6"/>
                </a:solidFill>
              </a:rPr>
              <a:t>ASAP is not a deadline. </a:t>
            </a:r>
            <a:br>
              <a:rPr lang="en-US" b="1" i="1">
                <a:solidFill>
                  <a:schemeClr val="accent6"/>
                </a:solidFill>
              </a:rPr>
            </a:br>
            <a:endParaRPr lang="en-US" b="1" i="1">
              <a:solidFill>
                <a:schemeClr val="accent6"/>
              </a:solidFill>
            </a:endParaRPr>
          </a:p>
          <a:p>
            <a:r>
              <a:rPr lang="en-US">
                <a:solidFill>
                  <a:schemeClr val="tx2"/>
                </a:solidFill>
              </a:rPr>
              <a:t>First Draft Date</a:t>
            </a:r>
          </a:p>
          <a:p>
            <a:r>
              <a:rPr lang="en-US">
                <a:solidFill>
                  <a:schemeClr val="tx2"/>
                </a:solidFill>
              </a:rPr>
              <a:t>Final Due Date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40C852-7840-C3BB-56B0-654F60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Deadlines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41EEA-2129-D44E-ED4B-D360918E421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6CDBC-E0B1-CC36-BD00-88BB4E8D4B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  <p:pic>
        <p:nvPicPr>
          <p:cNvPr id="10" name="Graphic 9" descr="Hourglass Finished with solid fill">
            <a:extLst>
              <a:ext uri="{FF2B5EF4-FFF2-40B4-BE49-F238E27FC236}">
                <a16:creationId xmlns:a16="http://schemas.microsoft.com/office/drawing/2014/main" id="{CAF63083-DE8D-C5EF-E2B9-A0CC7E4C1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5604" y="2711873"/>
            <a:ext cx="1434253" cy="143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3CA853-426C-C608-BF6B-78186890F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we set our priority </a:t>
            </a:r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0EC1C2-1175-DF21-CA50-10E0234BF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Value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2B51B-4A60-A833-5FFA-90BC850F9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F5B67-7CD6-48C4-A3BF-B4660533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521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B9D0FF-4481-107A-B8ED-EB3DEF1E64CF}"/>
              </a:ext>
            </a:extLst>
          </p:cNvPr>
          <p:cNvSpPr/>
          <p:nvPr/>
        </p:nvSpPr>
        <p:spPr>
          <a:xfrm>
            <a:off x="468000" y="3783184"/>
            <a:ext cx="11247832" cy="313957"/>
          </a:xfrm>
          <a:prstGeom prst="rect">
            <a:avLst/>
          </a:prstGeom>
          <a:gradFill flip="none" rotWithShape="1">
            <a:gsLst>
              <a:gs pos="6000">
                <a:schemeClr val="accent2"/>
              </a:gs>
              <a:gs pos="10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604954-E1B4-085F-A457-B1453760B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799413-ABFC-BDF9-BBFF-4C92EF9B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9</a:t>
            </a:fld>
            <a:endParaRPr lang="en-GB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BB1F9E-7D8A-F295-8618-C57F1C5D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Business Value Priority Levels</a:t>
            </a:r>
            <a:endParaRPr lang="en-D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080EA5-3383-5C72-6211-90F559911D48}"/>
              </a:ext>
            </a:extLst>
          </p:cNvPr>
          <p:cNvSpPr/>
          <p:nvPr/>
        </p:nvSpPr>
        <p:spPr>
          <a:xfrm>
            <a:off x="468000" y="3566357"/>
            <a:ext cx="53954" cy="7476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980964-B884-DBE0-FE06-80A1C006339E}"/>
              </a:ext>
            </a:extLst>
          </p:cNvPr>
          <p:cNvSpPr/>
          <p:nvPr/>
        </p:nvSpPr>
        <p:spPr>
          <a:xfrm>
            <a:off x="11664494" y="3566357"/>
            <a:ext cx="53954" cy="7476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0B8ED-CC99-046D-9337-7DBD791BF8FC}"/>
              </a:ext>
            </a:extLst>
          </p:cNvPr>
          <p:cNvSpPr txBox="1"/>
          <p:nvPr/>
        </p:nvSpPr>
        <p:spPr>
          <a:xfrm>
            <a:off x="521953" y="3798881"/>
            <a:ext cx="1283299" cy="282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b="1">
                <a:solidFill>
                  <a:schemeClr val="accent2"/>
                </a:solidFill>
              </a:rPr>
              <a:t>Low Priority</a:t>
            </a:r>
            <a:endParaRPr lang="en-DK" sz="1200" b="1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F2D0FA-86F0-E684-ACEA-584CF48C2896}"/>
              </a:ext>
            </a:extLst>
          </p:cNvPr>
          <p:cNvSpPr txBox="1"/>
          <p:nvPr/>
        </p:nvSpPr>
        <p:spPr>
          <a:xfrm>
            <a:off x="10384130" y="3798881"/>
            <a:ext cx="1283299" cy="282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200" b="1">
                <a:solidFill>
                  <a:schemeClr val="accent4"/>
                </a:solidFill>
              </a:rPr>
              <a:t>High Priority</a:t>
            </a:r>
            <a:endParaRPr lang="en-DK" sz="1200" b="1">
              <a:solidFill>
                <a:schemeClr val="accent4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B3CDBE3-CB32-2DFD-A1D0-227F05A10E51}"/>
              </a:ext>
            </a:extLst>
          </p:cNvPr>
          <p:cNvGrpSpPr/>
          <p:nvPr/>
        </p:nvGrpSpPr>
        <p:grpSpPr>
          <a:xfrm>
            <a:off x="491870" y="1628650"/>
            <a:ext cx="11223965" cy="2056421"/>
            <a:chOff x="491870" y="1628650"/>
            <a:chExt cx="11223965" cy="205642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76CDFF4-4920-467E-D16A-21BF9E4E5D79}"/>
                </a:ext>
              </a:extLst>
            </p:cNvPr>
            <p:cNvGrpSpPr/>
            <p:nvPr/>
          </p:nvGrpSpPr>
          <p:grpSpPr>
            <a:xfrm>
              <a:off x="491870" y="1628650"/>
              <a:ext cx="11223965" cy="1546240"/>
              <a:chOff x="491870" y="4654411"/>
              <a:chExt cx="11223965" cy="1546240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06FA5034-964C-BB81-A2CA-387DA5FC9D0E}"/>
                  </a:ext>
                </a:extLst>
              </p:cNvPr>
              <p:cNvSpPr/>
              <p:nvPr/>
            </p:nvSpPr>
            <p:spPr>
              <a:xfrm>
                <a:off x="9940666" y="4886523"/>
                <a:ext cx="1614584" cy="465497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Customer Requests</a:t>
                </a:r>
                <a:endParaRPr lang="en-US" sz="105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736E504-5CF3-97A0-58D1-EDAD0DA0751C}"/>
                  </a:ext>
                </a:extLst>
              </p:cNvPr>
              <p:cNvSpPr/>
              <p:nvPr/>
            </p:nvSpPr>
            <p:spPr>
              <a:xfrm>
                <a:off x="8592703" y="5498690"/>
                <a:ext cx="1852440" cy="465497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Stakeholder/Shareholder request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073522C7-7E89-6B85-4B4F-78582AC70D51}"/>
                  </a:ext>
                </a:extLst>
              </p:cNvPr>
              <p:cNvSpPr/>
              <p:nvPr/>
            </p:nvSpPr>
            <p:spPr>
              <a:xfrm>
                <a:off x="7720809" y="4886523"/>
                <a:ext cx="1323935" cy="465497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Communications </a:t>
                </a:r>
              </a:p>
              <a:p>
                <a:pPr algn="ctr"/>
                <a:r>
                  <a:rPr lang="en-US" sz="80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(GSR etc.)</a:t>
                </a:r>
                <a:endParaRPr lang="en-US" sz="105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EDB0266F-F450-2A0D-AD68-7B781604E165}"/>
                  </a:ext>
                </a:extLst>
              </p:cNvPr>
              <p:cNvSpPr/>
              <p:nvPr/>
            </p:nvSpPr>
            <p:spPr>
              <a:xfrm>
                <a:off x="6704018" y="5498690"/>
                <a:ext cx="1134885" cy="465497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Events + sponsorships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96098FB5-31D0-4CC8-220E-129F69951BE5}"/>
                  </a:ext>
                </a:extLst>
              </p:cNvPr>
              <p:cNvSpPr/>
              <p:nvPr/>
            </p:nvSpPr>
            <p:spPr>
              <a:xfrm>
                <a:off x="5337157" y="4886523"/>
                <a:ext cx="1366861" cy="465497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Campaigns + New Products</a:t>
                </a: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C231EED3-B844-98C4-AFFB-9FA789DE576F}"/>
                  </a:ext>
                </a:extLst>
              </p:cNvPr>
              <p:cNvSpPr/>
              <p:nvPr/>
            </p:nvSpPr>
            <p:spPr>
              <a:xfrm>
                <a:off x="3580763" y="4886523"/>
                <a:ext cx="981339" cy="465497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Marketing Materials </a:t>
                </a: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43CAD8A4-1DB0-A20D-423E-490DFB9DFCC9}"/>
                  </a:ext>
                </a:extLst>
              </p:cNvPr>
              <p:cNvSpPr/>
              <p:nvPr/>
            </p:nvSpPr>
            <p:spPr>
              <a:xfrm>
                <a:off x="4562102" y="5498690"/>
                <a:ext cx="754422" cy="465497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SoMe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16F30AC9-E822-9DF0-3732-3689A86BDD9D}"/>
                  </a:ext>
                </a:extLst>
              </p:cNvPr>
              <p:cNvSpPr/>
              <p:nvPr/>
            </p:nvSpPr>
            <p:spPr>
              <a:xfrm>
                <a:off x="2764082" y="5498690"/>
                <a:ext cx="750387" cy="465497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Merch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146994CD-0D71-C911-1447-BCA728C1F7DB}"/>
                  </a:ext>
                </a:extLst>
              </p:cNvPr>
              <p:cNvSpPr/>
              <p:nvPr/>
            </p:nvSpPr>
            <p:spPr>
              <a:xfrm>
                <a:off x="1243748" y="4886523"/>
                <a:ext cx="1441092" cy="465497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New Projects + Initiatives + Logos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B92B8F32-CC20-F046-21E2-9376602D0E43}"/>
                  </a:ext>
                </a:extLst>
              </p:cNvPr>
              <p:cNvGrpSpPr/>
              <p:nvPr/>
            </p:nvGrpSpPr>
            <p:grpSpPr>
              <a:xfrm rot="16200000">
                <a:off x="5330733" y="-184452"/>
                <a:ext cx="1546240" cy="11223965"/>
                <a:chOff x="487984" y="2484905"/>
                <a:chExt cx="2529581" cy="3683420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C9E971F-3F82-EA8D-8DD9-4274153F1FB3}"/>
                    </a:ext>
                  </a:extLst>
                </p:cNvPr>
                <p:cNvSpPr/>
                <p:nvPr/>
              </p:nvSpPr>
              <p:spPr>
                <a:xfrm>
                  <a:off x="493973" y="2627107"/>
                  <a:ext cx="2523592" cy="3541218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48" name="Rectangle: Top Corners Rounded 47">
                  <a:extLst>
                    <a:ext uri="{FF2B5EF4-FFF2-40B4-BE49-F238E27FC236}">
                      <a16:creationId xmlns:a16="http://schemas.microsoft.com/office/drawing/2014/main" id="{AE04B200-B249-9E9F-1F17-413AFABCBC86}"/>
                    </a:ext>
                  </a:extLst>
                </p:cNvPr>
                <p:cNvSpPr/>
                <p:nvPr/>
              </p:nvSpPr>
              <p:spPr>
                <a:xfrm>
                  <a:off x="487984" y="2484905"/>
                  <a:ext cx="2529581" cy="143817"/>
                </a:xfrm>
                <a:prstGeom prst="round2SameRect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274320" tIns="274320" rIns="274320" bIns="274320" rtlCol="0" anchor="ctr" anchorCtr="0"/>
                <a:lstStyle/>
                <a:p>
                  <a:pPr algn="ctr"/>
                  <a:r>
                    <a:rPr lang="en-GB" sz="1400" b="1" spc="50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a:rPr>
                    <a:t>External</a:t>
                  </a:r>
                </a:p>
              </p:txBody>
            </p:sp>
          </p:grp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33E7659-52D5-F8BA-EAAB-DE7CF1A83DAF}"/>
                </a:ext>
              </a:extLst>
            </p:cNvPr>
            <p:cNvCxnSpPr>
              <a:cxnSpLocks/>
              <a:stCxn id="41" idx="2"/>
            </p:cNvCxnSpPr>
            <p:nvPr/>
          </p:nvCxnSpPr>
          <p:spPr>
            <a:xfrm>
              <a:off x="1964294" y="2326259"/>
              <a:ext cx="0" cy="135881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7D02F7D-7681-88FE-D992-43DEA5F3ABAE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>
              <a:off x="3139276" y="2938426"/>
              <a:ext cx="2357" cy="746645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35B9004-E557-55F5-CC1A-96EBDA95FF80}"/>
                </a:ext>
              </a:extLst>
            </p:cNvPr>
            <p:cNvCxnSpPr>
              <a:cxnSpLocks/>
            </p:cNvCxnSpPr>
            <p:nvPr/>
          </p:nvCxnSpPr>
          <p:spPr>
            <a:xfrm>
              <a:off x="4952378" y="2938426"/>
              <a:ext cx="2357" cy="746645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59AC0F5-D81B-5082-470D-788875B7DB8B}"/>
                </a:ext>
              </a:extLst>
            </p:cNvPr>
            <p:cNvCxnSpPr>
              <a:cxnSpLocks/>
            </p:cNvCxnSpPr>
            <p:nvPr/>
          </p:nvCxnSpPr>
          <p:spPr>
            <a:xfrm>
              <a:off x="4079580" y="2326259"/>
              <a:ext cx="0" cy="135881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EBB47D7-AF1B-1543-2BA9-FFA2F42E2DD8}"/>
                </a:ext>
              </a:extLst>
            </p:cNvPr>
            <p:cNvCxnSpPr>
              <a:cxnSpLocks/>
            </p:cNvCxnSpPr>
            <p:nvPr/>
          </p:nvCxnSpPr>
          <p:spPr>
            <a:xfrm>
              <a:off x="7274830" y="2938426"/>
              <a:ext cx="2357" cy="746645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C6753A2-9D6B-BAB6-E2F7-8BC79E6AC185}"/>
                </a:ext>
              </a:extLst>
            </p:cNvPr>
            <p:cNvCxnSpPr>
              <a:cxnSpLocks/>
            </p:cNvCxnSpPr>
            <p:nvPr/>
          </p:nvCxnSpPr>
          <p:spPr>
            <a:xfrm>
              <a:off x="6037887" y="2326259"/>
              <a:ext cx="0" cy="135881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8670449-3FED-82C3-805D-F34BE6807841}"/>
                </a:ext>
              </a:extLst>
            </p:cNvPr>
            <p:cNvCxnSpPr>
              <a:cxnSpLocks/>
            </p:cNvCxnSpPr>
            <p:nvPr/>
          </p:nvCxnSpPr>
          <p:spPr>
            <a:xfrm>
              <a:off x="8235587" y="2326259"/>
              <a:ext cx="0" cy="135881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4644904-1440-8ABE-8024-9309EF4A4420}"/>
                </a:ext>
              </a:extLst>
            </p:cNvPr>
            <p:cNvCxnSpPr>
              <a:cxnSpLocks/>
            </p:cNvCxnSpPr>
            <p:nvPr/>
          </p:nvCxnSpPr>
          <p:spPr>
            <a:xfrm>
              <a:off x="9543170" y="2938426"/>
              <a:ext cx="2357" cy="746645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CF9511D-B84D-A969-E252-B838D69D4A10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338" y="2326259"/>
              <a:ext cx="0" cy="135881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9D3391-36C1-FF9C-6108-924EEFE44695}"/>
              </a:ext>
            </a:extLst>
          </p:cNvPr>
          <p:cNvGrpSpPr/>
          <p:nvPr/>
        </p:nvGrpSpPr>
        <p:grpSpPr>
          <a:xfrm>
            <a:off x="491868" y="4223750"/>
            <a:ext cx="11223965" cy="1750513"/>
            <a:chOff x="491868" y="4223750"/>
            <a:chExt cx="11223965" cy="175051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8D9837-8813-6C83-778B-DB0BCA24410D}"/>
                </a:ext>
              </a:extLst>
            </p:cNvPr>
            <p:cNvGrpSpPr/>
            <p:nvPr/>
          </p:nvGrpSpPr>
          <p:grpSpPr>
            <a:xfrm>
              <a:off x="491868" y="4650749"/>
              <a:ext cx="11223965" cy="1323514"/>
              <a:chOff x="491868" y="1828799"/>
              <a:chExt cx="11223965" cy="1323514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6A4ECB33-3837-F81B-CB64-4299D3A17F4A}"/>
                  </a:ext>
                </a:extLst>
              </p:cNvPr>
              <p:cNvSpPr/>
              <p:nvPr/>
            </p:nvSpPr>
            <p:spPr>
              <a:xfrm>
                <a:off x="9388611" y="2258997"/>
                <a:ext cx="1991038" cy="465497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1"/>
                    </a:solidFill>
                  </a:rPr>
                  <a:t>Internal Marketing Material </a:t>
                </a:r>
                <a:r>
                  <a:rPr lang="en-US" sz="800">
                    <a:solidFill>
                      <a:schemeClr val="accent1"/>
                    </a:solidFill>
                  </a:rPr>
                  <a:t>(Policies + Corporate PPT, Etc.)</a:t>
                </a:r>
                <a:endParaRPr lang="en-US" sz="105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02DC5169-AB17-6643-E2E6-53DD086C3635}"/>
                  </a:ext>
                </a:extLst>
              </p:cNvPr>
              <p:cNvSpPr/>
              <p:nvPr/>
            </p:nvSpPr>
            <p:spPr>
              <a:xfrm>
                <a:off x="7758478" y="2258997"/>
                <a:ext cx="1366861" cy="465497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1"/>
                    </a:solidFill>
                  </a:rPr>
                  <a:t>Assets requests</a:t>
                </a: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1657C14D-570E-2C76-A1C8-C3F23C4ECF8B}"/>
                  </a:ext>
                </a:extLst>
              </p:cNvPr>
              <p:cNvSpPr/>
              <p:nvPr/>
            </p:nvSpPr>
            <p:spPr>
              <a:xfrm>
                <a:off x="6171269" y="2258997"/>
                <a:ext cx="1323935" cy="465497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1"/>
                    </a:solidFill>
                  </a:rPr>
                  <a:t>Communication </a:t>
                </a:r>
              </a:p>
              <a:p>
                <a:pPr algn="ctr"/>
                <a:r>
                  <a:rPr lang="en-US" sz="800">
                    <a:solidFill>
                      <a:schemeClr val="accent1"/>
                    </a:solidFill>
                  </a:rPr>
                  <a:t>(HTML etc.)</a:t>
                </a:r>
                <a:endParaRPr lang="en-US" sz="105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43448E49-5B64-5D03-46B6-66AA1923DA77}"/>
                  </a:ext>
                </a:extLst>
              </p:cNvPr>
              <p:cNvSpPr/>
              <p:nvPr/>
            </p:nvSpPr>
            <p:spPr>
              <a:xfrm>
                <a:off x="4541134" y="2258997"/>
                <a:ext cx="1366861" cy="465497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1"/>
                    </a:solidFill>
                  </a:rPr>
                  <a:t>Office/Warehouse Design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199F0D97-6E06-5D5B-2959-145D67CBBB6D}"/>
                  </a:ext>
                </a:extLst>
              </p:cNvPr>
              <p:cNvSpPr/>
              <p:nvPr/>
            </p:nvSpPr>
            <p:spPr>
              <a:xfrm>
                <a:off x="2910999" y="2258997"/>
                <a:ext cx="1366861" cy="465497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1"/>
                    </a:solidFill>
                  </a:rPr>
                  <a:t>Merchandise</a:t>
                </a: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9F3F0F43-80F5-B2B1-E381-7A69E1195473}"/>
                  </a:ext>
                </a:extLst>
              </p:cNvPr>
              <p:cNvSpPr/>
              <p:nvPr/>
            </p:nvSpPr>
            <p:spPr>
              <a:xfrm>
                <a:off x="1280864" y="2258997"/>
                <a:ext cx="1366861" cy="465497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>
                    <a:solidFill>
                      <a:schemeClr val="accent1"/>
                    </a:solidFill>
                  </a:rPr>
                  <a:t>Brand/Product Guidelines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5A7F3515-7203-89A4-A7AD-DFAEA6DAD067}"/>
                  </a:ext>
                </a:extLst>
              </p:cNvPr>
              <p:cNvGrpSpPr/>
              <p:nvPr/>
            </p:nvGrpSpPr>
            <p:grpSpPr>
              <a:xfrm rot="16200000">
                <a:off x="5442094" y="-3121427"/>
                <a:ext cx="1323514" cy="11223965"/>
                <a:chOff x="487984" y="2484905"/>
                <a:chExt cx="2529581" cy="3683420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DE17FCD-5FF0-0D12-6476-841A6C2682EF}"/>
                    </a:ext>
                  </a:extLst>
                </p:cNvPr>
                <p:cNvSpPr/>
                <p:nvPr/>
              </p:nvSpPr>
              <p:spPr>
                <a:xfrm>
                  <a:off x="493971" y="2627107"/>
                  <a:ext cx="2523591" cy="3541218"/>
                </a:xfrm>
                <a:prstGeom prst="rect">
                  <a:avLst/>
                </a:prstGeom>
                <a:noFill/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43" name="Rectangle: Top Corners Rounded 42">
                  <a:extLst>
                    <a:ext uri="{FF2B5EF4-FFF2-40B4-BE49-F238E27FC236}">
                      <a16:creationId xmlns:a16="http://schemas.microsoft.com/office/drawing/2014/main" id="{A0CF7567-4036-1CDD-6B77-B97AB2037521}"/>
                    </a:ext>
                  </a:extLst>
                </p:cNvPr>
                <p:cNvSpPr/>
                <p:nvPr/>
              </p:nvSpPr>
              <p:spPr>
                <a:xfrm>
                  <a:off x="487984" y="2484905"/>
                  <a:ext cx="2529581" cy="143817"/>
                </a:xfrm>
                <a:prstGeom prst="round2SameRect">
                  <a:avLst/>
                </a:prstGeom>
                <a:solidFill>
                  <a:schemeClr val="accent4"/>
                </a:solidFill>
                <a:ln>
                  <a:solidFill>
                    <a:schemeClr val="accent4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274320" tIns="274320" rIns="274320" bIns="274320" rtlCol="0" anchor="ctr" anchorCtr="0"/>
                <a:lstStyle/>
                <a:p>
                  <a:pPr algn="ctr"/>
                  <a:r>
                    <a:rPr lang="en-GB" sz="1400" b="1" spc="50">
                      <a:solidFill>
                        <a:schemeClr val="accent1"/>
                      </a:solidFill>
                    </a:rPr>
                    <a:t>Internal</a:t>
                  </a:r>
                </a:p>
              </p:txBody>
            </p:sp>
          </p:grp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72616E7-227B-2098-71D2-B685B7B853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3203" y="4223750"/>
              <a:ext cx="0" cy="857197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3EDA057-C3B1-554D-4178-B15B40D86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6702" y="4223750"/>
              <a:ext cx="0" cy="857197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8434F0A-4ABE-9B7D-9F60-875781103D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3026" y="4223750"/>
              <a:ext cx="0" cy="857197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D8A7F59-F633-0B1A-4863-2CC27B5E4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6525" y="4223750"/>
              <a:ext cx="0" cy="857197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957998C-B074-FF16-7AE9-1308CAE763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49345" y="4223750"/>
              <a:ext cx="0" cy="857197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D47714D-C9E8-D17E-05C2-FD71A8F5FD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2812" y="4223750"/>
              <a:ext cx="0" cy="857197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6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F4BD6-36D8-1C1B-BD05-D7293C591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+ rounds of review</a:t>
            </a:r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D42387-D222-A364-EF86-756E192B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Turn around times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38A35-1050-5743-A881-3A928808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6E6AB-DE4E-FD20-1470-9FA0C630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06755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D36DDF6-0E0D-2D34-6FBB-4E444F4ACB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590083"/>
              </p:ext>
            </p:extLst>
          </p:nvPr>
        </p:nvGraphicFramePr>
        <p:xfrm>
          <a:off x="468313" y="1444625"/>
          <a:ext cx="11236320" cy="276360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72720">
                  <a:extLst>
                    <a:ext uri="{9D8B030D-6E8A-4147-A177-3AD203B41FA5}">
                      <a16:colId xmlns:a16="http://schemas.microsoft.com/office/drawing/2014/main" val="1969140817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372609791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3056798110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763711306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4169544461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2867824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Small Tasks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Project - Small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Project - Large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Logo Creation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New Product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New Concepts</a:t>
                      </a:r>
                      <a:endParaRPr lang="en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307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1-4 days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3-7 days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2-3 weeks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2-3 months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3-6 months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6-12 months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172977"/>
                  </a:ext>
                </a:extLst>
              </a:tr>
              <a:tr h="878923"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78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Updating documents – small notes, minor design changes</a:t>
                      </a:r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Brochures from existing material</a:t>
                      </a:r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Brochure from scratch</a:t>
                      </a:r>
                    </a:p>
                    <a:p>
                      <a:pPr algn="ctr"/>
                      <a:endParaRPr lang="en-GB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Short Videos (</a:t>
                      </a:r>
                      <a:r>
                        <a:rPr lang="en-US" sz="13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&gt;1min)</a:t>
                      </a:r>
                      <a:endParaRPr lang="en-GB" sz="13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Logo creation from scratch or redesign with trademarking process </a:t>
                      </a:r>
                    </a:p>
                    <a:p>
                      <a:pPr algn="ctr"/>
                      <a:endParaRPr lang="en-GB" sz="5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GB" sz="13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Long videos (1-5 min) </a:t>
                      </a:r>
                      <a:endParaRPr lang="en-DK" sz="13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New product within an existing brand concept</a:t>
                      </a:r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New brand or product concept</a:t>
                      </a:r>
                    </a:p>
                    <a:p>
                      <a:pPr algn="ctr"/>
                      <a:endParaRPr lang="en-GB" sz="8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Series of videos</a:t>
                      </a:r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01919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7FCE0-5161-BA3F-D3BC-457705BEA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6967-B379-E664-2ACA-DDBECB37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22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903838-59B7-0227-B23B-4669D960C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Turn around times</a:t>
            </a:r>
            <a:endParaRPr lang="en-D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9FFA5A-9344-324F-1D85-BBE48AA3635E}"/>
              </a:ext>
            </a:extLst>
          </p:cNvPr>
          <p:cNvSpPr txBox="1"/>
          <p:nvPr/>
        </p:nvSpPr>
        <p:spPr>
          <a:xfrm>
            <a:off x="468000" y="4184816"/>
            <a:ext cx="11236633" cy="10166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GB" sz="1100">
                <a:solidFill>
                  <a:schemeClr val="bg1">
                    <a:lumMod val="50000"/>
                  </a:schemeClr>
                </a:solidFill>
              </a:rPr>
              <a:t>The sooner you submit your project the sooner we can add to the calendar and give you a more accurate timeframe. </a:t>
            </a:r>
          </a:p>
          <a:p>
            <a:pPr algn="l"/>
            <a:endParaRPr lang="en-GB" sz="110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en-GB" sz="1100">
                <a:solidFill>
                  <a:schemeClr val="bg1">
                    <a:lumMod val="50000"/>
                  </a:schemeClr>
                </a:solidFill>
              </a:rPr>
              <a:t>First come, first served. (Although prioritisation considerations taken into account)</a:t>
            </a:r>
          </a:p>
          <a:p>
            <a:pPr algn="l"/>
            <a:endParaRPr lang="en-GB" sz="110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en-GB" sz="1100">
                <a:solidFill>
                  <a:schemeClr val="bg1">
                    <a:lumMod val="50000"/>
                  </a:schemeClr>
                </a:solidFill>
              </a:rPr>
              <a:t>All times are subject to change depending on workload, schedules and waiting times. </a:t>
            </a:r>
            <a:endParaRPr lang="en-DK" sz="11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A6C1AE-C7C9-FBD5-0EC9-E1D060183689}"/>
              </a:ext>
            </a:extLst>
          </p:cNvPr>
          <p:cNvSpPr/>
          <p:nvPr/>
        </p:nvSpPr>
        <p:spPr>
          <a:xfrm>
            <a:off x="576470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0-2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CC0182-9172-C59E-F309-FDBA05F4D959}"/>
              </a:ext>
            </a:extLst>
          </p:cNvPr>
          <p:cNvSpPr/>
          <p:nvPr/>
        </p:nvSpPr>
        <p:spPr>
          <a:xfrm>
            <a:off x="2463784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1-3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966CA6-A6AD-5D55-49C5-2C63507233B9}"/>
              </a:ext>
            </a:extLst>
          </p:cNvPr>
          <p:cNvSpPr/>
          <p:nvPr/>
        </p:nvSpPr>
        <p:spPr>
          <a:xfrm>
            <a:off x="4351098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1-3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CD45916-E3F9-115C-8AF7-2FB161E63BB8}"/>
              </a:ext>
            </a:extLst>
          </p:cNvPr>
          <p:cNvSpPr/>
          <p:nvPr/>
        </p:nvSpPr>
        <p:spPr>
          <a:xfrm>
            <a:off x="6238411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3-5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6FAB0CA-1C74-A2AF-331D-E6F4A4631458}"/>
              </a:ext>
            </a:extLst>
          </p:cNvPr>
          <p:cNvSpPr/>
          <p:nvPr/>
        </p:nvSpPr>
        <p:spPr>
          <a:xfrm>
            <a:off x="8125725" y="2346782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2-5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BA8BA3B-C89C-9B0A-0563-E7129E98B081}"/>
              </a:ext>
            </a:extLst>
          </p:cNvPr>
          <p:cNvSpPr/>
          <p:nvPr/>
        </p:nvSpPr>
        <p:spPr>
          <a:xfrm>
            <a:off x="10013039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2-5</a:t>
            </a:r>
            <a:endParaRPr lang="en-DK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999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5E0D2-E8D3-B7DE-9CD4-C76D53E6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43749-852F-C5B3-FB2D-4E37B676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23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167028-345B-46B4-55B4-7B46CD32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Yearly Calendar</a:t>
            </a:r>
            <a:endParaRPr lang="en-DK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CA963D7-A713-DB2C-2502-9C36BDEA893D}"/>
              </a:ext>
            </a:extLst>
          </p:cNvPr>
          <p:cNvGrpSpPr/>
          <p:nvPr/>
        </p:nvGrpSpPr>
        <p:grpSpPr>
          <a:xfrm>
            <a:off x="468001" y="3367842"/>
            <a:ext cx="11249249" cy="545232"/>
            <a:chOff x="468001" y="3367842"/>
            <a:chExt cx="11249249" cy="5452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81BF68-F4FB-06E1-EDE0-82857ED6B94A}"/>
                </a:ext>
              </a:extLst>
            </p:cNvPr>
            <p:cNvSpPr/>
            <p:nvPr/>
          </p:nvSpPr>
          <p:spPr>
            <a:xfrm>
              <a:off x="468001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JAN</a:t>
              </a:r>
              <a:endParaRPr lang="en-DK" b="1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000D47-983B-F527-A1C6-F9F5AEC3681F}"/>
                </a:ext>
              </a:extLst>
            </p:cNvPr>
            <p:cNvSpPr/>
            <p:nvPr/>
          </p:nvSpPr>
          <p:spPr>
            <a:xfrm>
              <a:off x="1406170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FEB</a:t>
              </a:r>
              <a:endParaRPr lang="en-DK" b="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EF4DCF-8067-D930-9E9B-DF28DFC70DB4}"/>
                </a:ext>
              </a:extLst>
            </p:cNvPr>
            <p:cNvSpPr/>
            <p:nvPr/>
          </p:nvSpPr>
          <p:spPr>
            <a:xfrm>
              <a:off x="2344339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MAR</a:t>
              </a:r>
              <a:endParaRPr lang="en-DK" b="1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98D62D-51AF-D8C2-15C9-6F41EE2B768D}"/>
                </a:ext>
              </a:extLst>
            </p:cNvPr>
            <p:cNvSpPr/>
            <p:nvPr/>
          </p:nvSpPr>
          <p:spPr>
            <a:xfrm>
              <a:off x="3282508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APR</a:t>
              </a:r>
              <a:endParaRPr lang="en-DK" b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5512BB-E36D-F965-DB61-62F16B99EE8A}"/>
                </a:ext>
              </a:extLst>
            </p:cNvPr>
            <p:cNvSpPr/>
            <p:nvPr/>
          </p:nvSpPr>
          <p:spPr>
            <a:xfrm>
              <a:off x="4220677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MAY</a:t>
              </a:r>
              <a:endParaRPr lang="en-DK" b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43D1FA-5852-F81F-7093-B95E153F7A55}"/>
                </a:ext>
              </a:extLst>
            </p:cNvPr>
            <p:cNvSpPr/>
            <p:nvPr/>
          </p:nvSpPr>
          <p:spPr>
            <a:xfrm>
              <a:off x="5158846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JUN</a:t>
              </a:r>
              <a:endParaRPr lang="en-DK" b="1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C7F5BEF-B2DF-B288-DAE9-FEB918362E5B}"/>
                </a:ext>
              </a:extLst>
            </p:cNvPr>
            <p:cNvSpPr/>
            <p:nvPr/>
          </p:nvSpPr>
          <p:spPr>
            <a:xfrm>
              <a:off x="6097015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JUL</a:t>
              </a:r>
              <a:endParaRPr lang="en-DK" b="1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D4A4EF-18A8-4359-C8C7-4EDA3FFE50E3}"/>
                </a:ext>
              </a:extLst>
            </p:cNvPr>
            <p:cNvSpPr/>
            <p:nvPr/>
          </p:nvSpPr>
          <p:spPr>
            <a:xfrm>
              <a:off x="7035184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AUG</a:t>
              </a:r>
              <a:endParaRPr lang="en-DK" b="1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7812AF3-D955-84F0-2833-8484EBFA9444}"/>
                </a:ext>
              </a:extLst>
            </p:cNvPr>
            <p:cNvSpPr/>
            <p:nvPr/>
          </p:nvSpPr>
          <p:spPr>
            <a:xfrm>
              <a:off x="7973353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SEP</a:t>
              </a:r>
              <a:endParaRPr lang="en-DK" b="1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A1BE16-3DA3-AD4B-18ED-566A9C0FD3DD}"/>
                </a:ext>
              </a:extLst>
            </p:cNvPr>
            <p:cNvSpPr/>
            <p:nvPr/>
          </p:nvSpPr>
          <p:spPr>
            <a:xfrm>
              <a:off x="8911522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OCT</a:t>
              </a:r>
              <a:endParaRPr lang="en-DK" b="1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57EF5B8-9DC1-4789-5ACF-CFB78F869278}"/>
                </a:ext>
              </a:extLst>
            </p:cNvPr>
            <p:cNvSpPr/>
            <p:nvPr/>
          </p:nvSpPr>
          <p:spPr>
            <a:xfrm>
              <a:off x="9849691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NOV</a:t>
              </a:r>
              <a:endParaRPr lang="en-DK" b="1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DFD6FFB-4A8B-FC49-969C-9CD2EB2DC97D}"/>
                </a:ext>
              </a:extLst>
            </p:cNvPr>
            <p:cNvSpPr/>
            <p:nvPr/>
          </p:nvSpPr>
          <p:spPr>
            <a:xfrm>
              <a:off x="10787855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DEC</a:t>
              </a:r>
              <a:endParaRPr lang="en-DK" b="1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A59B33-EEC3-071A-9946-A9BB20827ED3}"/>
              </a:ext>
            </a:extLst>
          </p:cNvPr>
          <p:cNvSpPr/>
          <p:nvPr/>
        </p:nvSpPr>
        <p:spPr>
          <a:xfrm>
            <a:off x="5150072" y="2903914"/>
            <a:ext cx="2823281" cy="3491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Calendars</a:t>
            </a:r>
            <a:endParaRPr lang="en-DK"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D97960-7A62-A486-C786-9CE6BDE69B69}"/>
              </a:ext>
            </a:extLst>
          </p:cNvPr>
          <p:cNvSpPr/>
          <p:nvPr/>
        </p:nvSpPr>
        <p:spPr>
          <a:xfrm>
            <a:off x="461851" y="4045529"/>
            <a:ext cx="3306585" cy="3491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Sustainability Booklet</a:t>
            </a:r>
            <a:endParaRPr lang="en-DK" sz="1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46D230-DDD8-AE33-B5F6-D21051FDEFB6}"/>
              </a:ext>
            </a:extLst>
          </p:cNvPr>
          <p:cNvSpPr/>
          <p:nvPr/>
        </p:nvSpPr>
        <p:spPr>
          <a:xfrm>
            <a:off x="8902748" y="4045529"/>
            <a:ext cx="1867559" cy="3491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Christmas Artwork</a:t>
            </a:r>
            <a:endParaRPr lang="en-DK" sz="1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56362F-A65A-173B-A10E-F355912B1B91}"/>
              </a:ext>
            </a:extLst>
          </p:cNvPr>
          <p:cNvSpPr/>
          <p:nvPr/>
        </p:nvSpPr>
        <p:spPr>
          <a:xfrm>
            <a:off x="11202669" y="4541175"/>
            <a:ext cx="514581" cy="3491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Xmas </a:t>
            </a:r>
            <a:endParaRPr lang="en-DK" sz="1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0453C4-290C-0725-9CE2-C588EB1491A8}"/>
              </a:ext>
            </a:extLst>
          </p:cNvPr>
          <p:cNvSpPr/>
          <p:nvPr/>
        </p:nvSpPr>
        <p:spPr>
          <a:xfrm>
            <a:off x="3280478" y="4541175"/>
            <a:ext cx="606946" cy="3491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Easter </a:t>
            </a:r>
            <a:endParaRPr lang="en-DK" sz="1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771FE7-4C83-08C9-DE49-EF7375BE59C3}"/>
              </a:ext>
            </a:extLst>
          </p:cNvPr>
          <p:cNvSpPr/>
          <p:nvPr/>
        </p:nvSpPr>
        <p:spPr>
          <a:xfrm>
            <a:off x="6352554" y="4541175"/>
            <a:ext cx="929395" cy="3491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Summer </a:t>
            </a:r>
            <a:endParaRPr lang="en-DK" sz="10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67FCE9-90C8-2FA6-A94E-52B01D5CC9A2}"/>
              </a:ext>
            </a:extLst>
          </p:cNvPr>
          <p:cNvSpPr/>
          <p:nvPr/>
        </p:nvSpPr>
        <p:spPr>
          <a:xfrm>
            <a:off x="1049076" y="4541175"/>
            <a:ext cx="696639" cy="3491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Summer </a:t>
            </a:r>
            <a:endParaRPr lang="en-DK" sz="1000"/>
          </a:p>
        </p:txBody>
      </p:sp>
    </p:spTree>
    <p:extLst>
      <p:ext uri="{BB962C8B-B14F-4D97-AF65-F5344CB8AC3E}">
        <p14:creationId xmlns:p14="http://schemas.microsoft.com/office/powerpoint/2010/main" val="20956543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