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56" r:id="rId5"/>
    <p:sldId id="2147471927" r:id="rId6"/>
    <p:sldId id="2147471930" r:id="rId7"/>
    <p:sldId id="2147471925" r:id="rId8"/>
    <p:sldId id="257" r:id="rId9"/>
    <p:sldId id="2147471942" r:id="rId10"/>
    <p:sldId id="2147471933" r:id="rId11"/>
    <p:sldId id="2147471939" r:id="rId12"/>
    <p:sldId id="406" r:id="rId13"/>
    <p:sldId id="2147471940" r:id="rId14"/>
    <p:sldId id="141168962" r:id="rId15"/>
    <p:sldId id="2147471934" r:id="rId16"/>
    <p:sldId id="2147471941" r:id="rId17"/>
    <p:sldId id="2147471937" r:id="rId18"/>
    <p:sldId id="2147471938" r:id="rId19"/>
    <p:sldId id="2147471943" r:id="rId20"/>
    <p:sldId id="214747194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hyperlink" Target="mailto:design@biomar.com" TargetMode="Externa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C3C0CD7C-0951-D4F9-AF83-69ECCA028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anchor="b">
            <a:normAutofit/>
          </a:bodyPr>
          <a:lstStyle/>
          <a:p>
            <a:r>
              <a:rPr lang="es-ES" sz="4100" err="1"/>
              <a:t>Design</a:t>
            </a:r>
            <a:r>
              <a:rPr lang="es-ES" sz="4100"/>
              <a:t> Hub: </a:t>
            </a:r>
            <a:r>
              <a:rPr lang="en-US" sz="4100"/>
              <a:t>Who We Are, How We Work &amp; How We Support the Business</a:t>
            </a:r>
            <a:endParaRPr lang="en-GB" sz="4100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76EEC49A-A807-232E-ADB9-17F85203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40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96823D9-E1F0-2B87-47F5-7154B7B92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F853834-C81A-BA46-FBA8-0503B1D7A74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A Centralized Creative &amp; Brand Support Function</a:t>
            </a:r>
          </a:p>
          <a:p>
            <a:r>
              <a:rPr lang="en-US"/>
              <a:t>Supports both global and local communication needs</a:t>
            </a:r>
          </a:p>
          <a:p>
            <a:r>
              <a:rPr lang="en-US"/>
              <a:t>Ensures brand consistency across markets and channels</a:t>
            </a:r>
          </a:p>
          <a:p>
            <a:r>
              <a:rPr lang="en-US"/>
              <a:t>Provides strategic and operational design support</a:t>
            </a:r>
          </a:p>
          <a:p>
            <a:r>
              <a:rPr lang="en-US"/>
              <a:t>Cross-functional collaboration with marketing, sustainability, corporate, product and technical teams, as well as external partners</a:t>
            </a:r>
          </a:p>
          <a:p>
            <a:r>
              <a:rPr lang="en-US"/>
              <a:t>Combines creative execution, brand governance and technical technology-based knowledge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E7A77D-9E3C-271D-DF3E-910E54F83F4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981F80C-B6D5-B035-CF1B-0925E1E85AB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544A888-3159-2195-490A-0B7EF304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What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Design</a:t>
            </a:r>
            <a:r>
              <a:rPr lang="es-ES"/>
              <a:t> Hub?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61DB4B71-9849-3309-5BB0-4F4A8F43A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848530"/>
              </p:ext>
            </p:extLst>
          </p:nvPr>
        </p:nvGraphicFramePr>
        <p:xfrm>
          <a:off x="453200" y="1101886"/>
          <a:ext cx="5236006" cy="465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069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2E6567F-91A0-8FA3-6DAF-AA364A6FF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7892" y="3453738"/>
            <a:ext cx="5592000" cy="29722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000"/>
              <a:t>2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Video &amp; digital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</a:t>
            </a:r>
            <a:r>
              <a:rPr lang="es-ES" sz="2000" err="1"/>
              <a:t>storytelling</a:t>
            </a:r>
            <a:r>
              <a:rPr lang="es-ES" sz="2000"/>
              <a:t> and concept </a:t>
            </a:r>
            <a:r>
              <a:rPr lang="es-ES" sz="2000" err="1"/>
              <a:t>creation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2FC9F8-E443-8641-9AA7-1B8DF0FB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2D1997D0-F40E-F383-6D03-365401CD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Who </a:t>
            </a:r>
            <a:r>
              <a:rPr lang="es-ES" err="1"/>
              <a:t>we</a:t>
            </a:r>
            <a:r>
              <a:rPr lang="es-ES"/>
              <a:t> are</a:t>
            </a:r>
          </a:p>
        </p:txBody>
      </p:sp>
      <p:pic>
        <p:nvPicPr>
          <p:cNvPr id="2" name="Imagen 1" descr="Profile image">
            <a:extLst>
              <a:ext uri="{FF2B5EF4-FFF2-40B4-BE49-F238E27FC236}">
                <a16:creationId xmlns:a16="http://schemas.microsoft.com/office/drawing/2014/main" id="{78607702-04F8-FA1E-0164-4F5CC4338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8" y="1618478"/>
            <a:ext cx="1620614" cy="1620614"/>
          </a:xfrm>
          <a:prstGeom prst="ellipse">
            <a:avLst/>
          </a:prstGeom>
        </p:spPr>
      </p:pic>
      <p:sp>
        <p:nvSpPr>
          <p:cNvPr id="4" name="Marcador de contenido 7">
            <a:extLst>
              <a:ext uri="{FF2B5EF4-FFF2-40B4-BE49-F238E27FC236}">
                <a16:creationId xmlns:a16="http://schemas.microsoft.com/office/drawing/2014/main" id="{9D755087-990D-2169-8C97-176D182CBE67}"/>
              </a:ext>
            </a:extLst>
          </p:cNvPr>
          <p:cNvSpPr txBox="1">
            <a:spLocks/>
          </p:cNvSpPr>
          <p:nvPr/>
        </p:nvSpPr>
        <p:spPr>
          <a:xfrm>
            <a:off x="2520549" y="1440000"/>
            <a:ext cx="3575451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Isidora Silva Ch.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err="1">
                <a:solidFill>
                  <a:schemeClr val="bg2"/>
                </a:solidFill>
              </a:rPr>
              <a:t>Graphic</a:t>
            </a:r>
            <a:r>
              <a:rPr lang="es-ES" sz="2000">
                <a:solidFill>
                  <a:schemeClr val="bg2"/>
                </a:solidFill>
              </a:rPr>
              <a:t>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6" name="Marcador de contenido 7">
            <a:extLst>
              <a:ext uri="{FF2B5EF4-FFF2-40B4-BE49-F238E27FC236}">
                <a16:creationId xmlns:a16="http://schemas.microsoft.com/office/drawing/2014/main" id="{AC4751E1-C454-40F0-7D3D-BFD5F7CD15AB}"/>
              </a:ext>
            </a:extLst>
          </p:cNvPr>
          <p:cNvSpPr txBox="1">
            <a:spLocks/>
          </p:cNvSpPr>
          <p:nvPr/>
        </p:nvSpPr>
        <p:spPr>
          <a:xfrm>
            <a:off x="8264505" y="1440000"/>
            <a:ext cx="3723279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Andres Bernadou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>
                <a:solidFill>
                  <a:schemeClr val="bg2"/>
                </a:solidFill>
              </a:rPr>
              <a:t>Multimedia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10" name="Marcador de contenido 7">
            <a:extLst>
              <a:ext uri="{FF2B5EF4-FFF2-40B4-BE49-F238E27FC236}">
                <a16:creationId xmlns:a16="http://schemas.microsoft.com/office/drawing/2014/main" id="{F89C0B20-EE84-9F0B-A16C-15681FC4F88B}"/>
              </a:ext>
            </a:extLst>
          </p:cNvPr>
          <p:cNvSpPr txBox="1">
            <a:spLocks/>
          </p:cNvSpPr>
          <p:nvPr/>
        </p:nvSpPr>
        <p:spPr>
          <a:xfrm>
            <a:off x="656400" y="3581400"/>
            <a:ext cx="5592000" cy="2972262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2000"/>
              <a:t>3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Graphic</a:t>
            </a:r>
            <a:r>
              <a:rPr lang="es-ES" sz="2000"/>
              <a:t> &amp; </a:t>
            </a:r>
            <a:r>
              <a:rPr lang="es-ES" sz="2000" err="1"/>
              <a:t>Print</a:t>
            </a:r>
            <a:r>
              <a:rPr lang="es-ES" sz="2000"/>
              <a:t>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Brand </a:t>
            </a:r>
            <a:r>
              <a:rPr lang="es-ES" sz="2000" err="1"/>
              <a:t>Consistency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pic>
        <p:nvPicPr>
          <p:cNvPr id="15" name="Imagen 1">
            <a:extLst>
              <a:ext uri="{FF2B5EF4-FFF2-40B4-BE49-F238E27FC236}">
                <a16:creationId xmlns:a16="http://schemas.microsoft.com/office/drawing/2014/main" id="{C8238E99-A4C0-5651-63FB-433796BDC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" t="843" r="22053" b="43846"/>
          <a:stretch>
            <a:fillRect/>
          </a:stretch>
        </p:blipFill>
        <p:spPr>
          <a:xfrm>
            <a:off x="6497892" y="1679014"/>
            <a:ext cx="1547462" cy="15474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857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A5E8-7A99-A104-14A2-39D1B6A5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2359C8-4FAD-F4BE-ABAF-F4000E1D3F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2359C8-4FAD-F4BE-ABAF-F4000E1D3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0E1F7-E6D3-0B43-52A3-2BCFD6B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B7526-A0A0-9A91-389D-3424E11B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 vert="horz" lIns="0" tIns="36000" rIns="36000" bIns="36000" rtlCol="0" anchor="b" anchorCtr="0">
            <a:normAutofit/>
          </a:bodyPr>
          <a:lstStyle/>
          <a:p>
            <a:r>
              <a:rPr lang="en-GB" sz="3200"/>
              <a:t>Marketing 2028 refined strategy house</a:t>
            </a:r>
          </a:p>
        </p:txBody>
      </p:sp>
      <p:sp>
        <p:nvSpPr>
          <p:cNvPr id="9" name="Pladsholder til slidenummer 2">
            <a:extLst>
              <a:ext uri="{FF2B5EF4-FFF2-40B4-BE49-F238E27FC236}">
                <a16:creationId xmlns:a16="http://schemas.microsoft.com/office/drawing/2014/main" id="{B0ABBB3D-A840-C2C6-8840-E845CB637FDF}"/>
              </a:ext>
            </a:extLst>
          </p:cNvPr>
          <p:cNvSpPr txBox="1">
            <a:spLocks/>
          </p:cNvSpPr>
          <p:nvPr/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defPPr>
              <a:defRPr lang="en-US"/>
            </a:defPPr>
            <a:lvl1pPr algn="r">
              <a:defRPr sz="1200" b="1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F6B9C1-1745-48B0-A8CA-B72E4783115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Isosceles Triangle 3">
            <a:extLst>
              <a:ext uri="{FF2B5EF4-FFF2-40B4-BE49-F238E27FC236}">
                <a16:creationId xmlns:a16="http://schemas.microsoft.com/office/drawing/2014/main" id="{F18ECA2F-1AF9-910D-3BFB-F6A043445DF5}"/>
              </a:ext>
            </a:extLst>
          </p:cNvPr>
          <p:cNvSpPr/>
          <p:nvPr/>
        </p:nvSpPr>
        <p:spPr>
          <a:xfrm>
            <a:off x="452210" y="1351734"/>
            <a:ext cx="11232000" cy="1404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36000" rtlCol="0" anchor="b"/>
          <a:lstStyle/>
          <a:p>
            <a:pPr algn="ctr"/>
            <a:r>
              <a:rPr lang="en-US" b="1" i="1" spc="5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2028 Refined Above &amp; Beyond</a:t>
            </a:r>
            <a:endParaRPr lang="en-US" sz="1600" b="1" i="1" spc="5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i="1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  <a:p>
            <a:pPr algn="ctr"/>
            <a:r>
              <a:rPr lang="en-US" sz="900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 our value propositions, products and services to meet market needs and deliver on the promise of fed aquaculture in the global food system inline with our strategy and purpose.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8D233EE-92E4-DBD6-DF97-0393108B139F}"/>
              </a:ext>
            </a:extLst>
          </p:cNvPr>
          <p:cNvSpPr txBox="1">
            <a:spLocks/>
          </p:cNvSpPr>
          <p:nvPr/>
        </p:nvSpPr>
        <p:spPr>
          <a:xfrm>
            <a:off x="481513" y="6010835"/>
            <a:ext cx="11195973" cy="329554"/>
          </a:xfrm>
          <a:prstGeom prst="roundRect">
            <a:avLst>
              <a:gd name="adj" fmla="val 6083"/>
            </a:avLst>
          </a:prstGeom>
          <a:solidFill>
            <a:schemeClr val="accent3"/>
          </a:solidFill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 b="1" i="1">
                <a:solidFill>
                  <a:schemeClr val="accent1"/>
                </a:solidFill>
                <a:latin typeface="Arial"/>
                <a:ea typeface="DengXian"/>
                <a:cs typeface="Nirmala UI" panose="020B0502040204020203" pitchFamily="34" charset="0"/>
              </a:rPr>
              <a:t>W</a:t>
            </a:r>
            <a:r>
              <a:rPr kumimoji="0" lang="en-GB" sz="1100" b="1" i="1" u="none" strike="noStrike" kern="120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DengXian"/>
                <a:cs typeface="Nirmala UI" panose="020B0502040204020203" pitchFamily="34" charset="0"/>
              </a:rPr>
              <a:t>e are innovators dedicated to an efficient and sustainable aquaculture </a:t>
            </a:r>
            <a:endParaRPr kumimoji="0" lang="en-GB" sz="1100" b="1" i="1" u="none" strike="noStrike" kern="120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DengXian"/>
              <a:cs typeface="+mj-cs"/>
            </a:endParaRPr>
          </a:p>
        </p:txBody>
      </p:sp>
      <p:pic>
        <p:nvPicPr>
          <p:cNvPr id="62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E3F3F225-82AA-1053-DC16-7E8DEF3EB95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5827632" y="1264989"/>
            <a:ext cx="468000" cy="435804"/>
          </a:xfrm>
          <a:prstGeom prst="ellipse">
            <a:avLst/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2BBC5EE-F9A0-AD9F-6665-6CCE432BB912}"/>
              </a:ext>
            </a:extLst>
          </p:cNvPr>
          <p:cNvSpPr txBox="1"/>
          <p:nvPr/>
        </p:nvSpPr>
        <p:spPr>
          <a:xfrm>
            <a:off x="459472" y="2820247"/>
            <a:ext cx="573592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Functional services/Operations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583DE651-EBE3-1BF3-CEEA-7C8FE3EEDC68}"/>
              </a:ext>
            </a:extLst>
          </p:cNvPr>
          <p:cNvSpPr txBox="1"/>
          <p:nvPr/>
        </p:nvSpPr>
        <p:spPr>
          <a:xfrm>
            <a:off x="6288150" y="2820247"/>
            <a:ext cx="539606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New initiatives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40D466B1-1F1C-A200-67B2-2AEBD3482E4F}"/>
              </a:ext>
            </a:extLst>
          </p:cNvPr>
          <p:cNvSpPr txBox="1"/>
          <p:nvPr/>
        </p:nvSpPr>
        <p:spPr>
          <a:xfrm>
            <a:off x="461276" y="3308170"/>
            <a:ext cx="1548000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</a:t>
            </a:r>
            <a:r>
              <a:rPr lang="en-US" sz="900" b="0" err="1">
                <a:solidFill>
                  <a:schemeClr val="tx2"/>
                </a:solidFill>
              </a:rPr>
              <a:t>centralised</a:t>
            </a:r>
            <a:r>
              <a:rPr lang="en-US" sz="900" b="0">
                <a:solidFill>
                  <a:schemeClr val="tx2"/>
                </a:solidFill>
              </a:rPr>
              <a:t> design and advertising agency providing shared services across the </a:t>
            </a:r>
            <a:r>
              <a:rPr lang="en-US" sz="900" b="0" err="1">
                <a:solidFill>
                  <a:schemeClr val="tx2"/>
                </a:solidFill>
              </a:rPr>
              <a:t>BioMar</a:t>
            </a:r>
            <a:r>
              <a:rPr lang="en-US" sz="900" b="0">
                <a:solidFill>
                  <a:schemeClr val="tx2"/>
                </a:solidFill>
              </a:rPr>
              <a:t> world. Offering services to our markets, 14 hours every weekday. The Design Hub does more then 1000 tasks annually ranging in complexity from a few hours to several months.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and execution of brand and product guidelines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Visual design creation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10DD56-CDDB-D15F-9DB2-C2BECD0F719D}"/>
              </a:ext>
            </a:extLst>
          </p:cNvPr>
          <p:cNvSpPr txBox="1"/>
          <p:nvPr/>
        </p:nvSpPr>
        <p:spPr>
          <a:xfrm>
            <a:off x="461276" y="3065274"/>
            <a:ext cx="154800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Design Hub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4567FFD9-FA06-F8D3-AD64-06BE6B59B35C}"/>
              </a:ext>
            </a:extLst>
          </p:cNvPr>
          <p:cNvSpPr txBox="1"/>
          <p:nvPr/>
        </p:nvSpPr>
        <p:spPr>
          <a:xfrm>
            <a:off x="2055659" y="3308170"/>
            <a:ext cx="15016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centralised digital marketing agency provides a global platform of digital tools and services for direct interaction with our customers, aligned with commercial and marketing teams across the BioMar world.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of the marketing and commercial digital strategy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Daily management and development of tools including </a:t>
            </a:r>
            <a:r>
              <a:rPr lang="en-US" sz="900" err="1">
                <a:solidFill>
                  <a:schemeClr val="tx2"/>
                </a:solidFill>
              </a:rPr>
              <a:t>brandsite</a:t>
            </a:r>
            <a:r>
              <a:rPr lang="en-US" sz="900">
                <a:solidFill>
                  <a:schemeClr val="tx2"/>
                </a:solidFill>
              </a:rPr>
              <a:t>, customer portal, marketing automation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4F6F51D8-05F1-859B-167B-919EB0CC5619}"/>
              </a:ext>
            </a:extLst>
          </p:cNvPr>
          <p:cNvSpPr txBox="1"/>
          <p:nvPr/>
        </p:nvSpPr>
        <p:spPr>
          <a:xfrm>
            <a:off x="2055659" y="3065274"/>
            <a:ext cx="1501622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Digital Hub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AB0678FF-86C7-48DA-88C7-B6D72E556F37}"/>
              </a:ext>
            </a:extLst>
          </p:cNvPr>
          <p:cNvSpPr txBox="1"/>
          <p:nvPr/>
        </p:nvSpPr>
        <p:spPr>
          <a:xfrm>
            <a:off x="3610339" y="3303306"/>
            <a:ext cx="129301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>
                <a:solidFill>
                  <a:schemeClr val="accent1"/>
                </a:solidFill>
                <a:cs typeface="Arial"/>
              </a:rPr>
              <a:t>Umbrella product and services strategy to ensure a One BioMar approach with species segment alignment and while addressing local adaptation needs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One product segment approach to product marketing management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Creation of all product and service concepts, value propositions and campaigns </a:t>
            </a:r>
            <a:endParaRPr lang="en-GB" sz="900" b="0">
              <a:solidFill>
                <a:schemeClr val="accent1"/>
              </a:solidFill>
              <a:cs typeface="Arial"/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2BD6EABE-9388-CE15-DF18-7D28610F2B8D}"/>
              </a:ext>
            </a:extLst>
          </p:cNvPr>
          <p:cNvSpPr txBox="1"/>
          <p:nvPr/>
        </p:nvSpPr>
        <p:spPr>
          <a:xfrm>
            <a:off x="3610339" y="3060410"/>
            <a:ext cx="1293019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Products</a:t>
            </a:r>
          </a:p>
        </p:txBody>
      </p:sp>
      <p:sp>
        <p:nvSpPr>
          <p:cNvPr id="83" name="TextBox 5">
            <a:extLst>
              <a:ext uri="{FF2B5EF4-FFF2-40B4-BE49-F238E27FC236}">
                <a16:creationId xmlns:a16="http://schemas.microsoft.com/office/drawing/2014/main" id="{5C102279-9850-D573-5DD8-A35305F02931}"/>
              </a:ext>
            </a:extLst>
          </p:cNvPr>
          <p:cNvSpPr txBox="1"/>
          <p:nvPr/>
        </p:nvSpPr>
        <p:spPr>
          <a:xfrm>
            <a:off x="9191361" y="3303306"/>
            <a:ext cx="1176238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Identify strategic opportunities in the digital realm to enhance the customer journey and experience with BioMar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digital situation analysis and key opportunities   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4" name="TextBox 5">
            <a:extLst>
              <a:ext uri="{FF2B5EF4-FFF2-40B4-BE49-F238E27FC236}">
                <a16:creationId xmlns:a16="http://schemas.microsoft.com/office/drawing/2014/main" id="{E7881986-5EEF-2A6F-4ABE-8DA6B17350EC}"/>
              </a:ext>
            </a:extLst>
          </p:cNvPr>
          <p:cNvSpPr txBox="1"/>
          <p:nvPr/>
        </p:nvSpPr>
        <p:spPr>
          <a:xfrm>
            <a:off x="9191359" y="3060410"/>
            <a:ext cx="1176239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Customer Journey</a:t>
            </a: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EA3EB157-D140-B921-5C27-B138595B7213}"/>
              </a:ext>
            </a:extLst>
          </p:cNvPr>
          <p:cNvSpPr txBox="1"/>
          <p:nvPr/>
        </p:nvSpPr>
        <p:spPr>
          <a:xfrm>
            <a:off x="7775867" y="3303306"/>
            <a:ext cx="136527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Use One BioMar marketing theory and tools to meet business and commercial needs.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Budget &amp; Reporting process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Marketing &amp; Product process and structure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Key strategic partnerships to leverage our position and enable a market pull.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Chefs Initiative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commercial partnerships      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9AE4332C-5A30-4A33-99B2-D243BE963E8B}"/>
              </a:ext>
            </a:extLst>
          </p:cNvPr>
          <p:cNvSpPr txBox="1"/>
          <p:nvPr/>
        </p:nvSpPr>
        <p:spPr>
          <a:xfrm>
            <a:off x="7775867" y="3060410"/>
            <a:ext cx="136528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Strategic Marketing</a:t>
            </a:r>
          </a:p>
        </p:txBody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9F249329-046A-B021-4F1B-19A028419B29}"/>
              </a:ext>
            </a:extLst>
          </p:cNvPr>
          <p:cNvSpPr txBox="1"/>
          <p:nvPr/>
        </p:nvSpPr>
        <p:spPr>
          <a:xfrm>
            <a:off x="10417810" y="3308170"/>
            <a:ext cx="1259676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Marketing strategy for our new target segment of investors: Creating the value position for BioMar in the Feed Category setting our pathway towards IPO.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Investor Category Creation marketing strategy (2026+)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ACC7DA7E-71D0-8ABB-83EB-FF6C92E93643}"/>
              </a:ext>
            </a:extLst>
          </p:cNvPr>
          <p:cNvSpPr txBox="1"/>
          <p:nvPr/>
        </p:nvSpPr>
        <p:spPr>
          <a:xfrm>
            <a:off x="10417810" y="3065274"/>
            <a:ext cx="126640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Investor Category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0317F93-F148-8035-861F-F2C5160D1EB8}"/>
              </a:ext>
            </a:extLst>
          </p:cNvPr>
          <p:cNvSpPr txBox="1"/>
          <p:nvPr/>
        </p:nvSpPr>
        <p:spPr>
          <a:xfrm>
            <a:off x="4953570" y="3308170"/>
            <a:ext cx="12418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brand positioning´, management and execution across the </a:t>
            </a: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world aligned to our strategy and purpose.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Marketing strategy, value propositions and campaigns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Stakeholder relations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Risk management communications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Content creation and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F630167-506D-9776-B023-F386408751FB}"/>
              </a:ext>
            </a:extLst>
          </p:cNvPr>
          <p:cNvSpPr txBox="1"/>
          <p:nvPr/>
        </p:nvSpPr>
        <p:spPr>
          <a:xfrm>
            <a:off x="4953570" y="3065274"/>
            <a:ext cx="1241821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BioMar Brand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72347EE-8FF9-D493-940D-9E7C2A9C61E9}"/>
              </a:ext>
            </a:extLst>
          </p:cNvPr>
          <p:cNvSpPr txBox="1"/>
          <p:nvPr/>
        </p:nvSpPr>
        <p:spPr>
          <a:xfrm>
            <a:off x="6288152" y="3308170"/>
            <a:ext cx="143750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Data-driven decision making: to deliver the right information/solution at the right time to address our customers.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chemeClr val="tx2"/>
                </a:solidFill>
              </a:rPr>
              <a:t>Needbased</a:t>
            </a:r>
            <a:r>
              <a:rPr lang="en-US" sz="900">
                <a:solidFill>
                  <a:schemeClr val="tx2"/>
                </a:solidFill>
              </a:rPr>
              <a:t> Customer Segmentation</a:t>
            </a:r>
            <a:r>
              <a:rPr lang="en-US" sz="900" b="0">
                <a:solidFill>
                  <a:schemeClr val="tx2"/>
                </a:solidFill>
              </a:rPr>
              <a:t>: a </a:t>
            </a:r>
            <a:r>
              <a:rPr lang="en-US" sz="900" b="0" err="1">
                <a:solidFill>
                  <a:schemeClr val="tx2"/>
                </a:solidFill>
              </a:rPr>
              <a:t>ComEx</a:t>
            </a:r>
            <a:r>
              <a:rPr lang="en-US" sz="900" b="0">
                <a:solidFill>
                  <a:schemeClr val="tx2"/>
                </a:solidFill>
              </a:rPr>
              <a:t> project follow-up in which we identify customer drives that align with our strategy.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Product Segmentation:</a:t>
            </a:r>
            <a:r>
              <a:rPr lang="en-US" sz="900" b="0">
                <a:solidFill>
                  <a:schemeClr val="tx2"/>
                </a:solidFill>
              </a:rPr>
              <a:t> segmenting our sales data to enable product lifecycle management and product sales </a:t>
            </a:r>
            <a:r>
              <a:rPr lang="en-US" sz="900" b="0" err="1">
                <a:solidFill>
                  <a:schemeClr val="tx2"/>
                </a:solidFill>
              </a:rPr>
              <a:t>behaviour</a:t>
            </a:r>
            <a:r>
              <a:rPr lang="en-US" sz="900" b="0">
                <a:solidFill>
                  <a:schemeClr val="tx2"/>
                </a:solidFill>
              </a:rPr>
              <a:t>.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DCBEDB9-BA83-5DFA-6347-9BF6B9B879CD}"/>
              </a:ext>
            </a:extLst>
          </p:cNvPr>
          <p:cNvSpPr txBox="1"/>
          <p:nvPr/>
        </p:nvSpPr>
        <p:spPr>
          <a:xfrm>
            <a:off x="6288150" y="3065274"/>
            <a:ext cx="1437503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Market Intelligence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00AC93-6471-EF71-937E-423B15FE9BAA}"/>
              </a:ext>
            </a:extLst>
          </p:cNvPr>
          <p:cNvSpPr/>
          <p:nvPr/>
        </p:nvSpPr>
        <p:spPr>
          <a:xfrm>
            <a:off x="368108" y="2990088"/>
            <a:ext cx="1744519" cy="3052751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6781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2896C9-717D-541F-D096-F1534B4C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92A734B-FA63-AA24-1F28-2D6D0F93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Strategic</a:t>
            </a:r>
            <a:r>
              <a:rPr lang="es-ES" dirty="0"/>
              <a:t> role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Design</a:t>
            </a:r>
            <a:r>
              <a:rPr lang="es-ES" dirty="0"/>
              <a:t> Hub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90FAB50D-10F5-C2C3-2E3D-4490114FBB42}"/>
              </a:ext>
            </a:extLst>
          </p:cNvPr>
          <p:cNvSpPr/>
          <p:nvPr/>
        </p:nvSpPr>
        <p:spPr>
          <a:xfrm>
            <a:off x="508000" y="3142344"/>
            <a:ext cx="2113246" cy="2826657"/>
          </a:xfrm>
          <a:prstGeom prst="roundRect">
            <a:avLst>
              <a:gd name="adj" fmla="val 11370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D5F3C872-033F-401E-E34B-A28427414D15}"/>
              </a:ext>
            </a:extLst>
          </p:cNvPr>
          <p:cNvSpPr/>
          <p:nvPr/>
        </p:nvSpPr>
        <p:spPr>
          <a:xfrm>
            <a:off x="714829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01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052811FE-C81E-5719-13F8-DD8CA6AD2939}"/>
              </a:ext>
            </a:extLst>
          </p:cNvPr>
          <p:cNvSpPr/>
          <p:nvPr/>
        </p:nvSpPr>
        <p:spPr>
          <a:xfrm>
            <a:off x="714829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Consistency</a:t>
            </a:r>
            <a:endParaRPr lang="en-US" sz="1700">
              <a:latin typeface="+mj-lt"/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A86A3767-4AF6-9E3B-95EF-9FAC8C134EA3}"/>
              </a:ext>
            </a:extLst>
          </p:cNvPr>
          <p:cNvSpPr/>
          <p:nvPr/>
        </p:nvSpPr>
        <p:spPr>
          <a:xfrm>
            <a:off x="714829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A unified visual identity globally. Aligned with brand standards, adapted to local needs</a:t>
            </a:r>
            <a:endParaRPr lang="en-US" sz="100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4D44462A-D0AB-198F-D46B-1B914EE7F926}"/>
              </a:ext>
            </a:extLst>
          </p:cNvPr>
          <p:cNvSpPr/>
          <p:nvPr/>
        </p:nvSpPr>
        <p:spPr>
          <a:xfrm>
            <a:off x="2773646" y="3142344"/>
            <a:ext cx="2113303" cy="2826657"/>
          </a:xfrm>
          <a:prstGeom prst="roundRect">
            <a:avLst>
              <a:gd name="adj" fmla="val 1028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E8ABC6D-64A5-B5C9-1B7C-09848C03C985}"/>
              </a:ext>
            </a:extLst>
          </p:cNvPr>
          <p:cNvSpPr/>
          <p:nvPr/>
        </p:nvSpPr>
        <p:spPr>
          <a:xfrm>
            <a:off x="2980475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02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21AC34D6-609D-7FCA-45B6-0F27DA17A9F4}"/>
              </a:ext>
            </a:extLst>
          </p:cNvPr>
          <p:cNvSpPr/>
          <p:nvPr/>
        </p:nvSpPr>
        <p:spPr>
          <a:xfrm>
            <a:off x="2980475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Efficiency</a:t>
            </a:r>
            <a:endParaRPr lang="en-US" sz="1700">
              <a:latin typeface="+mj-lt"/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F3642AA7-BDFB-7450-905D-E15D920CD86B}"/>
              </a:ext>
            </a:extLst>
          </p:cNvPr>
          <p:cNvSpPr/>
          <p:nvPr/>
        </p:nvSpPr>
        <p:spPr>
          <a:xfrm>
            <a:off x="2980475" y="5104856"/>
            <a:ext cx="1750635" cy="7012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Centralized expertise, less duplicated work, better workflows, smart prioritization based on business knowledge</a:t>
            </a:r>
            <a:endParaRPr lang="en-US" sz="100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6C4A1265-C897-8179-3C63-38FB96DBF533}"/>
              </a:ext>
            </a:extLst>
          </p:cNvPr>
          <p:cNvSpPr/>
          <p:nvPr/>
        </p:nvSpPr>
        <p:spPr>
          <a:xfrm>
            <a:off x="5039349" y="3142344"/>
            <a:ext cx="2113246" cy="2826657"/>
          </a:xfrm>
          <a:prstGeom prst="roundRect">
            <a:avLst>
              <a:gd name="adj" fmla="val 8342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CA27BE79-7697-FFE1-6800-6E120303AD23}"/>
              </a:ext>
            </a:extLst>
          </p:cNvPr>
          <p:cNvSpPr/>
          <p:nvPr/>
        </p:nvSpPr>
        <p:spPr>
          <a:xfrm>
            <a:off x="5246178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03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81A4D463-3408-5C47-0FCE-C734E882F0EB}"/>
              </a:ext>
            </a:extLst>
          </p:cNvPr>
          <p:cNvSpPr/>
          <p:nvPr/>
        </p:nvSpPr>
        <p:spPr>
          <a:xfrm>
            <a:off x="5246178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</a:t>
            </a:r>
            <a:endParaRPr lang="en-US" sz="1700">
              <a:latin typeface="+mj-lt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6610583F-94B3-E75B-81CD-AECAB3F94465}"/>
              </a:ext>
            </a:extLst>
          </p:cNvPr>
          <p:cNvSpPr/>
          <p:nvPr/>
        </p:nvSpPr>
        <p:spPr>
          <a:xfrm>
            <a:off x="5246178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Professional, strategic and creative. Every output earns its place.</a:t>
            </a:r>
            <a:endParaRPr lang="en-US" sz="1000" dirty="0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D39BE5C1-C6A9-BBB0-2518-858F8DFBB6EA}"/>
              </a:ext>
            </a:extLst>
          </p:cNvPr>
          <p:cNvSpPr/>
          <p:nvPr/>
        </p:nvSpPr>
        <p:spPr>
          <a:xfrm>
            <a:off x="7304995" y="3142344"/>
            <a:ext cx="2113303" cy="2826657"/>
          </a:xfrm>
          <a:prstGeom prst="roundRect">
            <a:avLst>
              <a:gd name="adj" fmla="val 855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E8B1C071-5FAB-8F62-A74E-73883675DACD}"/>
              </a:ext>
            </a:extLst>
          </p:cNvPr>
          <p:cNvSpPr/>
          <p:nvPr/>
        </p:nvSpPr>
        <p:spPr>
          <a:xfrm>
            <a:off x="7511824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04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A4129DE-F56C-2AB9-C0E1-47D4575BBFB7}"/>
              </a:ext>
            </a:extLst>
          </p:cNvPr>
          <p:cNvSpPr/>
          <p:nvPr/>
        </p:nvSpPr>
        <p:spPr>
          <a:xfrm>
            <a:off x="7511824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Scalability</a:t>
            </a:r>
            <a:endParaRPr lang="en-US" sz="1700">
              <a:latin typeface="+mj-lt"/>
            </a:endParaRP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34A1679-C2C4-9901-026D-B7C8EA3340BA}"/>
              </a:ext>
            </a:extLst>
          </p:cNvPr>
          <p:cNvSpPr/>
          <p:nvPr/>
        </p:nvSpPr>
        <p:spPr>
          <a:xfrm>
            <a:off x="7511824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Many markets, formats and campaigns: adaptations to specific needs</a:t>
            </a:r>
            <a:endParaRPr lang="en-US" sz="1000" dirty="0"/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E9C22671-CE1F-F738-5F50-192E44E67E04}"/>
              </a:ext>
            </a:extLst>
          </p:cNvPr>
          <p:cNvSpPr/>
          <p:nvPr/>
        </p:nvSpPr>
        <p:spPr>
          <a:xfrm>
            <a:off x="9570698" y="3142344"/>
            <a:ext cx="2113303" cy="2826657"/>
          </a:xfrm>
          <a:prstGeom prst="roundRect">
            <a:avLst>
              <a:gd name="adj" fmla="val 7909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937A59B2-0725-6971-F2EE-15D6F90E92AE}"/>
              </a:ext>
            </a:extLst>
          </p:cNvPr>
          <p:cNvSpPr/>
          <p:nvPr/>
        </p:nvSpPr>
        <p:spPr>
          <a:xfrm>
            <a:off x="9777527" y="3946261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05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952AA628-B5CB-E37C-8A9A-29B3B391A754}"/>
              </a:ext>
            </a:extLst>
          </p:cNvPr>
          <p:cNvSpPr/>
          <p:nvPr/>
        </p:nvSpPr>
        <p:spPr>
          <a:xfrm>
            <a:off x="9777527" y="4239566"/>
            <a:ext cx="1750635" cy="8660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and Product Protection</a:t>
            </a:r>
            <a:endParaRPr lang="en-US" sz="1700">
              <a:latin typeface="+mj-lt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70F7D696-E895-0844-AD86-23FC241E1C5C}"/>
              </a:ext>
            </a:extLst>
          </p:cNvPr>
          <p:cNvSpPr/>
          <p:nvPr/>
        </p:nvSpPr>
        <p:spPr>
          <a:xfrm>
            <a:off x="9777527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Correct logo, typography, imagery; applied consistently everywhere.</a:t>
            </a:r>
            <a:endParaRPr lang="en-US" sz="10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8D21-3E31-8597-3BCC-935D78D5534F}"/>
              </a:ext>
            </a:extLst>
          </p:cNvPr>
          <p:cNvSpPr txBox="1"/>
          <p:nvPr/>
        </p:nvSpPr>
        <p:spPr>
          <a:xfrm>
            <a:off x="1698742" y="1943398"/>
            <a:ext cx="8794459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Five pillars hold the </a:t>
            </a:r>
            <a:r>
              <a:rPr lang="en-US" sz="3200" b="1" kern="0" spc="-158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</a:t>
            </a: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together.</a:t>
            </a:r>
            <a:endParaRPr lang="en-US" sz="3200">
              <a:latin typeface="+mj-lt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8CE0C29-E4CA-3B4E-1593-F6DED5DE5C25}"/>
              </a:ext>
            </a:extLst>
          </p:cNvPr>
          <p:cNvSpPr/>
          <p:nvPr/>
        </p:nvSpPr>
        <p:spPr>
          <a:xfrm>
            <a:off x="673947" y="3283372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0BB87B1-E0B2-4BA9-392D-0599F36BE4CF}"/>
              </a:ext>
            </a:extLst>
          </p:cNvPr>
          <p:cNvSpPr/>
          <p:nvPr/>
        </p:nvSpPr>
        <p:spPr>
          <a:xfrm>
            <a:off x="759460" y="3390900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136FA76-3C7A-8F34-0080-1B799E515823}"/>
              </a:ext>
            </a:extLst>
          </p:cNvPr>
          <p:cNvSpPr/>
          <p:nvPr/>
        </p:nvSpPr>
        <p:spPr>
          <a:xfrm>
            <a:off x="835660" y="3487721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0CF70B93-537D-9C40-1EFD-9E8405F6D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1207" y="3306232"/>
            <a:ext cx="364702" cy="36653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3E9BE7E3-EF94-09BD-0759-06B17FAF3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6693" y="3265087"/>
            <a:ext cx="357120" cy="339459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D7DBA471-3159-5EAC-F6C4-02851B72B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0426" y="3317409"/>
            <a:ext cx="319314" cy="319314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4CBA0EE1-D02D-1513-233F-28E633FA9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207" y="3251900"/>
            <a:ext cx="339426" cy="4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BA92-BF08-5741-D8A0-3937C04A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FE74E0-00A5-98F2-98B6-82509433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36BF7E-98BE-1EA6-F7FC-A1E4CE15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Our</a:t>
            </a:r>
            <a:r>
              <a:rPr lang="es-ES" dirty="0"/>
              <a:t> Areas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Responsibility</a:t>
            </a:r>
            <a:r>
              <a:rPr lang="es-ES" dirty="0"/>
              <a:t> and </a:t>
            </a:r>
            <a:r>
              <a:rPr lang="es-ES" dirty="0" err="1"/>
              <a:t>functions</a:t>
            </a:r>
            <a:endParaRPr lang="es-E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BC1EBF-7E80-66E9-B8B2-1C004BEE2547}"/>
              </a:ext>
            </a:extLst>
          </p:cNvPr>
          <p:cNvSpPr/>
          <p:nvPr/>
        </p:nvSpPr>
        <p:spPr>
          <a:xfrm>
            <a:off x="3100527" y="1546791"/>
            <a:ext cx="5705419" cy="4764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93" dirty="0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hub, </a:t>
            </a:r>
            <a:r>
              <a:rPr lang="en-US" sz="2800" b="1" kern="0" spc="-93" dirty="0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Several functions</a:t>
            </a:r>
            <a:endParaRPr lang="en-US" sz="2800" dirty="0">
              <a:latin typeface="+mj-lt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107406A-EE18-19B3-D23B-B139143EA343}"/>
              </a:ext>
            </a:extLst>
          </p:cNvPr>
          <p:cNvSpPr/>
          <p:nvPr/>
        </p:nvSpPr>
        <p:spPr>
          <a:xfrm>
            <a:off x="958143" y="2121130"/>
            <a:ext cx="2534502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External communication</a:t>
            </a:r>
            <a:endParaRPr lang="en-US">
              <a:latin typeface="+mj-lt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31245CC-23AE-3535-D495-8B2636D0DA71}"/>
              </a:ext>
            </a:extLst>
          </p:cNvPr>
          <p:cNvSpPr/>
          <p:nvPr/>
        </p:nvSpPr>
        <p:spPr>
          <a:xfrm>
            <a:off x="508000" y="2585587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C537F1E-836D-B8F7-ACA0-B5BC6FC23E6B}"/>
              </a:ext>
            </a:extLst>
          </p:cNvPr>
          <p:cNvSpPr/>
          <p:nvPr/>
        </p:nvSpPr>
        <p:spPr>
          <a:xfrm>
            <a:off x="654957" y="2656345"/>
            <a:ext cx="81637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Campaigns</a:t>
            </a:r>
            <a:endParaRPr lang="en-US" sz="120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C9A228A-7C59-1BA4-7BA2-75FBDED1D30C}"/>
              </a:ext>
            </a:extLst>
          </p:cNvPr>
          <p:cNvSpPr/>
          <p:nvPr/>
        </p:nvSpPr>
        <p:spPr>
          <a:xfrm>
            <a:off x="1630986" y="2585587"/>
            <a:ext cx="137965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2299369-DD5C-5E39-16C6-9E978E6EC8A4}"/>
              </a:ext>
            </a:extLst>
          </p:cNvPr>
          <p:cNvSpPr/>
          <p:nvPr/>
        </p:nvSpPr>
        <p:spPr>
          <a:xfrm>
            <a:off x="1777944" y="2656345"/>
            <a:ext cx="113653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Advertisements</a:t>
            </a:r>
            <a:endParaRPr lang="en-US" sz="120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C820C83-21DC-67E8-FC9F-2125BD938694}"/>
              </a:ext>
            </a:extLst>
          </p:cNvPr>
          <p:cNvSpPr/>
          <p:nvPr/>
        </p:nvSpPr>
        <p:spPr>
          <a:xfrm>
            <a:off x="3074138" y="2585587"/>
            <a:ext cx="163444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0D34169-0851-1BC8-F79B-3C540786F54F}"/>
              </a:ext>
            </a:extLst>
          </p:cNvPr>
          <p:cNvSpPr/>
          <p:nvPr/>
        </p:nvSpPr>
        <p:spPr>
          <a:xfrm>
            <a:off x="3221094" y="2656345"/>
            <a:ext cx="139133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Social media assets</a:t>
            </a:r>
            <a:endParaRPr lang="en-US" sz="12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37753EEA-BAA7-CF41-0CE3-E6C3F8DDE520}"/>
              </a:ext>
            </a:extLst>
          </p:cNvPr>
          <p:cNvSpPr/>
          <p:nvPr/>
        </p:nvSpPr>
        <p:spPr>
          <a:xfrm>
            <a:off x="508001" y="2997430"/>
            <a:ext cx="204135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1B5DDD9-2B12-59AB-A9A7-D0D8D1B11813}"/>
              </a:ext>
            </a:extLst>
          </p:cNvPr>
          <p:cNvSpPr/>
          <p:nvPr/>
        </p:nvSpPr>
        <p:spPr>
          <a:xfrm>
            <a:off x="654958" y="3068188"/>
            <a:ext cx="180868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Videos &amp; motion graphics</a:t>
            </a:r>
            <a:endParaRPr lang="en-US" sz="12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ACB9BCE-3F3A-2247-23B3-24C7375A2083}"/>
              </a:ext>
            </a:extLst>
          </p:cNvPr>
          <p:cNvSpPr/>
          <p:nvPr/>
        </p:nvSpPr>
        <p:spPr>
          <a:xfrm>
            <a:off x="2612855" y="2997430"/>
            <a:ext cx="155132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74EDC09-EFE8-8AB4-0DBB-69F3ABAA5A17}"/>
              </a:ext>
            </a:extLst>
          </p:cNvPr>
          <p:cNvSpPr/>
          <p:nvPr/>
        </p:nvSpPr>
        <p:spPr>
          <a:xfrm>
            <a:off x="2759812" y="3068188"/>
            <a:ext cx="130821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Brochures &amp; flyers</a:t>
            </a:r>
            <a:endParaRPr lang="en-US" sz="12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0383B82-7242-58E0-4C43-8BBB82B75F62}"/>
              </a:ext>
            </a:extLst>
          </p:cNvPr>
          <p:cNvSpPr/>
          <p:nvPr/>
        </p:nvSpPr>
        <p:spPr>
          <a:xfrm>
            <a:off x="4227683" y="2997430"/>
            <a:ext cx="128173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5688F2B3-3091-CA7C-7B2E-8301FC8E81C9}"/>
              </a:ext>
            </a:extLst>
          </p:cNvPr>
          <p:cNvSpPr/>
          <p:nvPr/>
        </p:nvSpPr>
        <p:spPr>
          <a:xfrm>
            <a:off x="4374640" y="3068188"/>
            <a:ext cx="103862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Event material</a:t>
            </a:r>
            <a:endParaRPr lang="en-US" sz="120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60E60FD-7F43-4EDD-5FA4-CCDE15C93D02}"/>
              </a:ext>
            </a:extLst>
          </p:cNvPr>
          <p:cNvSpPr/>
          <p:nvPr/>
        </p:nvSpPr>
        <p:spPr>
          <a:xfrm>
            <a:off x="508001" y="34092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5E1F51A7-62D5-7142-8D2D-225C75B09C38}"/>
              </a:ext>
            </a:extLst>
          </p:cNvPr>
          <p:cNvSpPr/>
          <p:nvPr/>
        </p:nvSpPr>
        <p:spPr>
          <a:xfrm>
            <a:off x="654958" y="34800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Trade show assets</a:t>
            </a:r>
            <a:endParaRPr lang="en-US" sz="120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AE2E422-64B0-9C4D-0039-8D680BDA0DB1}"/>
              </a:ext>
            </a:extLst>
          </p:cNvPr>
          <p:cNvSpPr/>
          <p:nvPr/>
        </p:nvSpPr>
        <p:spPr>
          <a:xfrm>
            <a:off x="2135187" y="3409273"/>
            <a:ext cx="190074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0A552633-6E71-0DD8-BD54-40815002EB60}"/>
              </a:ext>
            </a:extLst>
          </p:cNvPr>
          <p:cNvSpPr/>
          <p:nvPr/>
        </p:nvSpPr>
        <p:spPr>
          <a:xfrm>
            <a:off x="2282145" y="3480030"/>
            <a:ext cx="166385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Product communication</a:t>
            </a:r>
            <a:endParaRPr lang="en-US" sz="12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C85DA1C1-F9E9-A5B4-81FA-5CD335B89B03}"/>
              </a:ext>
            </a:extLst>
          </p:cNvPr>
          <p:cNvSpPr/>
          <p:nvPr/>
        </p:nvSpPr>
        <p:spPr>
          <a:xfrm>
            <a:off x="4099436" y="3409273"/>
            <a:ext cx="123360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454627B-BA6B-0A32-F56F-512C46FB20A6}"/>
              </a:ext>
            </a:extLst>
          </p:cNvPr>
          <p:cNvSpPr/>
          <p:nvPr/>
        </p:nvSpPr>
        <p:spPr>
          <a:xfrm>
            <a:off x="4246393" y="3480030"/>
            <a:ext cx="99048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Presentations</a:t>
            </a:r>
            <a:endParaRPr lang="en-US" sz="12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72625058-777B-4BA4-58FB-C79C8CAA65CA}"/>
              </a:ext>
            </a:extLst>
          </p:cNvPr>
          <p:cNvSpPr/>
          <p:nvPr/>
        </p:nvSpPr>
        <p:spPr>
          <a:xfrm>
            <a:off x="508000" y="3821116"/>
            <a:ext cx="133922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B4F24AE-4099-437A-86EE-2CC4AAC652B3}"/>
              </a:ext>
            </a:extLst>
          </p:cNvPr>
          <p:cNvSpPr/>
          <p:nvPr/>
        </p:nvSpPr>
        <p:spPr>
          <a:xfrm>
            <a:off x="654957" y="3891873"/>
            <a:ext cx="109611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Website assets</a:t>
            </a:r>
            <a:endParaRPr lang="en-US" sz="120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38D7475A-8682-1B06-B207-0BBF364302EF}"/>
              </a:ext>
            </a:extLst>
          </p:cNvPr>
          <p:cNvSpPr/>
          <p:nvPr/>
        </p:nvSpPr>
        <p:spPr>
          <a:xfrm>
            <a:off x="1910727" y="3821116"/>
            <a:ext cx="1809410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C63F8EA5-4D91-97D7-0E49-D5194EA86B26}"/>
              </a:ext>
            </a:extLst>
          </p:cNvPr>
          <p:cNvSpPr/>
          <p:nvPr/>
        </p:nvSpPr>
        <p:spPr>
          <a:xfrm>
            <a:off x="2057684" y="3891873"/>
            <a:ext cx="1569778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Publications &amp; reports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3103614C-0A89-B580-04AF-7267A5000E43}"/>
              </a:ext>
            </a:extLst>
          </p:cNvPr>
          <p:cNvSpPr/>
          <p:nvPr/>
        </p:nvSpPr>
        <p:spPr>
          <a:xfrm>
            <a:off x="6642100" y="2137346"/>
            <a:ext cx="2469273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Internal communication</a:t>
            </a:r>
            <a:endParaRPr lang="en-US">
              <a:latin typeface="+mj-lt"/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CB02E9D2-2628-E367-DAC3-60ED3FC637A7}"/>
              </a:ext>
            </a:extLst>
          </p:cNvPr>
          <p:cNvSpPr/>
          <p:nvPr/>
        </p:nvSpPr>
        <p:spPr>
          <a:xfrm>
            <a:off x="6248401" y="2579254"/>
            <a:ext cx="1596855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6627C3C-A42B-E722-6829-474C7254743C}"/>
              </a:ext>
            </a:extLst>
          </p:cNvPr>
          <p:cNvSpPr/>
          <p:nvPr/>
        </p:nvSpPr>
        <p:spPr>
          <a:xfrm>
            <a:off x="6395358" y="2650012"/>
            <a:ext cx="1353741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Internal campaigns</a:t>
            </a:r>
            <a:endParaRPr lang="en-US" sz="120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C9727392-A3AA-B676-345C-34DA6E892F05}"/>
              </a:ext>
            </a:extLst>
          </p:cNvPr>
          <p:cNvSpPr/>
          <p:nvPr/>
        </p:nvSpPr>
        <p:spPr>
          <a:xfrm>
            <a:off x="7908756" y="2579254"/>
            <a:ext cx="134659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15D5938F-7C2E-548B-E115-82AC26A97448}"/>
              </a:ext>
            </a:extLst>
          </p:cNvPr>
          <p:cNvSpPr/>
          <p:nvPr/>
        </p:nvSpPr>
        <p:spPr>
          <a:xfrm>
            <a:off x="8055713" y="2650012"/>
            <a:ext cx="11034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Office branding</a:t>
            </a:r>
            <a:endParaRPr lang="en-US" sz="120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B7C04F34-C82E-FD9D-D20D-33A1C527B553}"/>
              </a:ext>
            </a:extLst>
          </p:cNvPr>
          <p:cNvSpPr/>
          <p:nvPr/>
        </p:nvSpPr>
        <p:spPr>
          <a:xfrm>
            <a:off x="9318852" y="2579254"/>
            <a:ext cx="1001996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6EF5F5B4-0B93-1F9F-D3DA-C75E9599F120}"/>
              </a:ext>
            </a:extLst>
          </p:cNvPr>
          <p:cNvSpPr/>
          <p:nvPr/>
        </p:nvSpPr>
        <p:spPr>
          <a:xfrm>
            <a:off x="9465810" y="2650012"/>
            <a:ext cx="75888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Stationery</a:t>
            </a:r>
            <a:endParaRPr lang="en-US" sz="120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B18EF3B9-C716-DA50-5EE2-3477B8537EB0}"/>
              </a:ext>
            </a:extLst>
          </p:cNvPr>
          <p:cNvSpPr/>
          <p:nvPr/>
        </p:nvSpPr>
        <p:spPr>
          <a:xfrm>
            <a:off x="6248401" y="2991097"/>
            <a:ext cx="1700099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31B6E9C5-F075-7B6A-FF04-4B009E962997}"/>
              </a:ext>
            </a:extLst>
          </p:cNvPr>
          <p:cNvSpPr/>
          <p:nvPr/>
        </p:nvSpPr>
        <p:spPr>
          <a:xfrm>
            <a:off x="6395357" y="3061855"/>
            <a:ext cx="1457188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templates</a:t>
            </a:r>
            <a:endParaRPr lang="en-US" sz="120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7D6E0778-60FD-AE38-CF2E-CDAA89FC59FF}"/>
              </a:ext>
            </a:extLst>
          </p:cNvPr>
          <p:cNvSpPr/>
          <p:nvPr/>
        </p:nvSpPr>
        <p:spPr>
          <a:xfrm>
            <a:off x="8012000" y="2991097"/>
            <a:ext cx="1946502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AA921D97-AB6B-4B8A-FD8A-9EE384ABB4CA}"/>
              </a:ext>
            </a:extLst>
          </p:cNvPr>
          <p:cNvSpPr/>
          <p:nvPr/>
        </p:nvSpPr>
        <p:spPr>
          <a:xfrm>
            <a:off x="8158957" y="3061855"/>
            <a:ext cx="17109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presentations</a:t>
            </a:r>
            <a:endParaRPr lang="en-US" sz="120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60718245-89B0-0E44-2131-69FF4CF1E826}"/>
              </a:ext>
            </a:extLst>
          </p:cNvPr>
          <p:cNvSpPr/>
          <p:nvPr/>
        </p:nvSpPr>
        <p:spPr>
          <a:xfrm>
            <a:off x="6248401" y="3402940"/>
            <a:ext cx="175968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03BDD5CF-DF23-1A66-1478-ACB850E253A0}"/>
              </a:ext>
            </a:extLst>
          </p:cNvPr>
          <p:cNvSpPr/>
          <p:nvPr/>
        </p:nvSpPr>
        <p:spPr>
          <a:xfrm>
            <a:off x="6395358" y="3473697"/>
            <a:ext cx="151856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HR / internal material</a:t>
            </a:r>
            <a:endParaRPr lang="en-US" sz="120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8A21C77B-DFD0-FCC0-8A82-01E5AAD89FF1}"/>
              </a:ext>
            </a:extLst>
          </p:cNvPr>
          <p:cNvSpPr/>
          <p:nvPr/>
        </p:nvSpPr>
        <p:spPr>
          <a:xfrm>
            <a:off x="8071588" y="3402940"/>
            <a:ext cx="159413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310B85DD-AE71-7414-AA13-326301737E65}"/>
              </a:ext>
            </a:extLst>
          </p:cNvPr>
          <p:cNvSpPr/>
          <p:nvPr/>
        </p:nvSpPr>
        <p:spPr>
          <a:xfrm>
            <a:off x="8218545" y="3473697"/>
            <a:ext cx="135101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Employer branding</a:t>
            </a:r>
            <a:endParaRPr lang="en-US" sz="120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B90DC86C-D756-ADE3-35E5-E4635395AA52}"/>
              </a:ext>
            </a:extLst>
          </p:cNvPr>
          <p:cNvSpPr/>
          <p:nvPr/>
        </p:nvSpPr>
        <p:spPr>
          <a:xfrm>
            <a:off x="9729221" y="3402940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314D63BB-EF4E-19BF-C99E-2BE2EECF62AC}"/>
              </a:ext>
            </a:extLst>
          </p:cNvPr>
          <p:cNvSpPr/>
          <p:nvPr/>
        </p:nvSpPr>
        <p:spPr>
          <a:xfrm>
            <a:off x="9876178" y="3473697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Signage</a:t>
            </a:r>
            <a:endParaRPr lang="en-US" sz="120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1CFB7FC6-C7EB-D0C9-2238-AB6A5C9E7AE7}"/>
              </a:ext>
            </a:extLst>
          </p:cNvPr>
          <p:cNvSpPr/>
          <p:nvPr/>
        </p:nvSpPr>
        <p:spPr>
          <a:xfrm>
            <a:off x="6248401" y="3814783"/>
            <a:ext cx="158075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5377FBC9-C4E6-A948-F9D2-BBB4A9D83B26}"/>
              </a:ext>
            </a:extLst>
          </p:cNvPr>
          <p:cNvSpPr/>
          <p:nvPr/>
        </p:nvSpPr>
        <p:spPr>
          <a:xfrm>
            <a:off x="6395357" y="3885540"/>
            <a:ext cx="133763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Onboarding assets</a:t>
            </a:r>
            <a:endParaRPr lang="en-US" sz="1200"/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B9F86B0D-8B5D-C6CC-E956-9347D95A1D1C}"/>
              </a:ext>
            </a:extLst>
          </p:cNvPr>
          <p:cNvGrpSpPr/>
          <p:nvPr/>
        </p:nvGrpSpPr>
        <p:grpSpPr>
          <a:xfrm>
            <a:off x="4467483" y="4807981"/>
            <a:ext cx="3257034" cy="393699"/>
            <a:chOff x="4164183" y="4762288"/>
            <a:chExt cx="3257034" cy="393699"/>
          </a:xfrm>
        </p:grpSpPr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7B545BB1-A8E0-3C8C-F0F9-440815FED3CA}"/>
                </a:ext>
              </a:extLst>
            </p:cNvPr>
            <p:cNvSpPr/>
            <p:nvPr/>
          </p:nvSpPr>
          <p:spPr>
            <a:xfrm>
              <a:off x="4164183" y="4762288"/>
              <a:ext cx="393699" cy="393699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DK" sz="1200"/>
            </a:p>
          </p:txBody>
        </p:sp>
        <p:sp>
          <p:nvSpPr>
            <p:cNvPr id="60" name="Text 6">
              <a:extLst>
                <a:ext uri="{FF2B5EF4-FFF2-40B4-BE49-F238E27FC236}">
                  <a16:creationId xmlns:a16="http://schemas.microsoft.com/office/drawing/2014/main" id="{F2A492A7-C1BC-1434-DEDE-DEEDD622E63B}"/>
                </a:ext>
              </a:extLst>
            </p:cNvPr>
            <p:cNvSpPr/>
            <p:nvPr/>
          </p:nvSpPr>
          <p:spPr>
            <a:xfrm>
              <a:off x="4640092" y="4818530"/>
              <a:ext cx="2781125" cy="337457"/>
            </a:xfrm>
            <a:prstGeom prst="rect">
              <a:avLst/>
            </a:prstGeom>
            <a:noFill/>
            <a:ln/>
          </p:spPr>
          <p:txBody>
            <a:bodyPr wrap="square" lIns="16933" tIns="16933" rIns="16933" bIns="16933" rtlCol="0" anchor="t">
              <a:normAutofit/>
            </a:bodyPr>
            <a:lstStyle/>
            <a:p>
              <a:r>
                <a:rPr lang="en-US" b="1" kern="0" spc="-36" dirty="0">
                  <a:solidFill>
                    <a:srgbClr val="1F3E77"/>
                  </a:solidFill>
                  <a:latin typeface="+mj-lt"/>
                  <a:ea typeface="Nunito Sans" pitchFamily="34" charset="-122"/>
                  <a:cs typeface="Nunito Sans" pitchFamily="34" charset="-120"/>
                </a:rPr>
                <a:t>Management and services</a:t>
              </a:r>
              <a:endParaRPr lang="en-US" dirty="0">
                <a:latin typeface="+mj-lt"/>
              </a:endParaRPr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99B6BF38-A578-A46E-13E7-EDE5FEBBC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252604" y="4867500"/>
              <a:ext cx="209331" cy="194155"/>
            </a:xfrm>
            <a:prstGeom prst="rect">
              <a:avLst/>
            </a:prstGeom>
          </p:spPr>
        </p:pic>
      </p:grpSp>
      <p:sp>
        <p:nvSpPr>
          <p:cNvPr id="67" name="Shape 5">
            <a:extLst>
              <a:ext uri="{FF2B5EF4-FFF2-40B4-BE49-F238E27FC236}">
                <a16:creationId xmlns:a16="http://schemas.microsoft.com/office/drawing/2014/main" id="{C895574A-2B1B-188F-2598-9CD7FF3E4B6F}"/>
              </a:ext>
            </a:extLst>
          </p:cNvPr>
          <p:cNvSpPr/>
          <p:nvPr/>
        </p:nvSpPr>
        <p:spPr>
          <a:xfrm>
            <a:off x="503276" y="2080309"/>
            <a:ext cx="393699" cy="393699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36AFB643-82F3-322B-04D0-F9773970F62D}"/>
              </a:ext>
            </a:extLst>
          </p:cNvPr>
          <p:cNvSpPr/>
          <p:nvPr/>
        </p:nvSpPr>
        <p:spPr>
          <a:xfrm>
            <a:off x="6198507" y="2080054"/>
            <a:ext cx="393699" cy="393699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85D0DFCE-BD8F-D4F7-5EA1-6300A900F6EC}"/>
              </a:ext>
            </a:extLst>
          </p:cNvPr>
          <p:cNvSpPr/>
          <p:nvPr/>
        </p:nvSpPr>
        <p:spPr>
          <a:xfrm>
            <a:off x="3776038" y="3816211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DFEAF365-7566-CA14-8B71-C8DF49707E96}"/>
              </a:ext>
            </a:extLst>
          </p:cNvPr>
          <p:cNvSpPr/>
          <p:nvPr/>
        </p:nvSpPr>
        <p:spPr>
          <a:xfrm>
            <a:off x="3922995" y="3886968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Legal documents</a:t>
            </a:r>
            <a:endParaRPr lang="en-US" sz="120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4F2F1D1C-D2F6-BC38-F8CD-57B6BA337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789" y="2168288"/>
            <a:ext cx="227381" cy="227381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3F469026-11D3-BF75-F616-D2E71F606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769" y="2165270"/>
            <a:ext cx="226164" cy="226164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05066A9E-F222-3848-91E0-3680B01BB49F}"/>
              </a:ext>
            </a:extLst>
          </p:cNvPr>
          <p:cNvGrpSpPr/>
          <p:nvPr/>
        </p:nvGrpSpPr>
        <p:grpSpPr>
          <a:xfrm>
            <a:off x="2377991" y="5344144"/>
            <a:ext cx="7436019" cy="348343"/>
            <a:chOff x="2519816" y="5344144"/>
            <a:chExt cx="7436019" cy="348343"/>
          </a:xfrm>
        </p:grpSpPr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79BD42A5-2623-ADC3-7CAE-C1CC81C7BD28}"/>
                </a:ext>
              </a:extLst>
            </p:cNvPr>
            <p:cNvSpPr/>
            <p:nvPr/>
          </p:nvSpPr>
          <p:spPr>
            <a:xfrm>
              <a:off x="2519816" y="5344144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The Pond library</a:t>
              </a:r>
              <a:endParaRPr lang="en-US" sz="1100" dirty="0"/>
            </a:p>
          </p:txBody>
        </p:sp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C218B161-1531-4048-821B-BE9F0ABE4B24}"/>
                </a:ext>
              </a:extLst>
            </p:cNvPr>
            <p:cNvSpPr/>
            <p:nvPr/>
          </p:nvSpPr>
          <p:spPr>
            <a:xfrm>
              <a:off x="4039176" y="5344144"/>
              <a:ext cx="1339227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2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Business cards</a:t>
              </a:r>
              <a:endParaRPr lang="en-US" sz="1200" dirty="0"/>
            </a:p>
          </p:txBody>
        </p:sp>
        <p:sp>
          <p:nvSpPr>
            <p:cNvPr id="75" name="Shape 27">
              <a:extLst>
                <a:ext uri="{FF2B5EF4-FFF2-40B4-BE49-F238E27FC236}">
                  <a16:creationId xmlns:a16="http://schemas.microsoft.com/office/drawing/2014/main" id="{56157A0A-CA56-2AE2-4B31-8926BE528CD2}"/>
                </a:ext>
              </a:extLst>
            </p:cNvPr>
            <p:cNvSpPr/>
            <p:nvPr/>
          </p:nvSpPr>
          <p:spPr>
            <a:xfrm>
              <a:off x="5477975" y="5344144"/>
              <a:ext cx="217085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tIns="0" bIns="0"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Project management board</a:t>
              </a:r>
              <a:endParaRPr lang="en-DK" sz="1100" dirty="0"/>
            </a:p>
          </p:txBody>
        </p:sp>
        <p:sp>
          <p:nvSpPr>
            <p:cNvPr id="78" name="Shape 27">
              <a:extLst>
                <a:ext uri="{FF2B5EF4-FFF2-40B4-BE49-F238E27FC236}">
                  <a16:creationId xmlns:a16="http://schemas.microsoft.com/office/drawing/2014/main" id="{A6D0E4AE-0E49-36D3-3D20-BFB593849B01}"/>
                </a:ext>
              </a:extLst>
            </p:cNvPr>
            <p:cNvSpPr/>
            <p:nvPr/>
          </p:nvSpPr>
          <p:spPr>
            <a:xfrm>
              <a:off x="7753685" y="5344144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Internal Design Hub library</a:t>
              </a:r>
              <a:endParaRPr lang="en-DK" sz="1100" dirty="0"/>
            </a:p>
          </p:txBody>
        </p:sp>
      </p:grpSp>
      <p:sp>
        <p:nvSpPr>
          <p:cNvPr id="80" name="Shape 45">
            <a:extLst>
              <a:ext uri="{FF2B5EF4-FFF2-40B4-BE49-F238E27FC236}">
                <a16:creationId xmlns:a16="http://schemas.microsoft.com/office/drawing/2014/main" id="{0ED2E913-603D-235B-7222-505C29007602}"/>
              </a:ext>
            </a:extLst>
          </p:cNvPr>
          <p:cNvSpPr/>
          <p:nvPr/>
        </p:nvSpPr>
        <p:spPr>
          <a:xfrm>
            <a:off x="7897722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515BB134-64E5-82C9-BC50-7ABA2713C8AF}"/>
              </a:ext>
            </a:extLst>
          </p:cNvPr>
          <p:cNvSpPr/>
          <p:nvPr/>
        </p:nvSpPr>
        <p:spPr>
          <a:xfrm>
            <a:off x="8044679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Merch</a:t>
            </a:r>
            <a:endParaRPr lang="en-US" sz="1200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C6D0C5E-6DB8-A96B-6B3A-3E015ABA31BF}"/>
              </a:ext>
            </a:extLst>
          </p:cNvPr>
          <p:cNvGrpSpPr/>
          <p:nvPr/>
        </p:nvGrpSpPr>
        <p:grpSpPr>
          <a:xfrm>
            <a:off x="2400455" y="5794395"/>
            <a:ext cx="7391091" cy="348343"/>
            <a:chOff x="2681357" y="5794395"/>
            <a:chExt cx="7391091" cy="348343"/>
          </a:xfrm>
        </p:grpSpPr>
        <p:sp>
          <p:nvSpPr>
            <p:cNvPr id="2" name="Shape 27">
              <a:extLst>
                <a:ext uri="{FF2B5EF4-FFF2-40B4-BE49-F238E27FC236}">
                  <a16:creationId xmlns:a16="http://schemas.microsoft.com/office/drawing/2014/main" id="{A797201F-F092-F986-21EA-85126B737B3B}"/>
                </a:ext>
              </a:extLst>
            </p:cNvPr>
            <p:cNvSpPr/>
            <p:nvPr/>
          </p:nvSpPr>
          <p:spPr>
            <a:xfrm>
              <a:off x="2681357" y="5794395"/>
              <a:ext cx="1627699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QR Code Generator</a:t>
              </a:r>
            </a:p>
          </p:txBody>
        </p:sp>
        <p:sp>
          <p:nvSpPr>
            <p:cNvPr id="6" name="Shape 27">
              <a:extLst>
                <a:ext uri="{FF2B5EF4-FFF2-40B4-BE49-F238E27FC236}">
                  <a16:creationId xmlns:a16="http://schemas.microsoft.com/office/drawing/2014/main" id="{32A1CED5-7893-547F-2AD0-DDE076CBF656}"/>
                </a:ext>
              </a:extLst>
            </p:cNvPr>
            <p:cNvSpPr/>
            <p:nvPr/>
          </p:nvSpPr>
          <p:spPr>
            <a:xfrm>
              <a:off x="4425932" y="5794395"/>
              <a:ext cx="1808126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r>
                <a:rPr lang="en-US" sz="1100" dirty="0">
                  <a:solidFill>
                    <a:schemeClr val="tx2"/>
                  </a:solidFill>
                </a:rPr>
                <a:t>Umbraco Content Library</a:t>
              </a:r>
              <a:endParaRPr lang="en-DK" dirty="0"/>
            </a:p>
          </p:txBody>
        </p:sp>
        <p:sp>
          <p:nvSpPr>
            <p:cNvPr id="8" name="Shape 27">
              <a:extLst>
                <a:ext uri="{FF2B5EF4-FFF2-40B4-BE49-F238E27FC236}">
                  <a16:creationId xmlns:a16="http://schemas.microsoft.com/office/drawing/2014/main" id="{61A48C25-7692-DD85-E8B4-15CCF335CCF1}"/>
                </a:ext>
              </a:extLst>
            </p:cNvPr>
            <p:cNvSpPr/>
            <p:nvPr/>
          </p:nvSpPr>
          <p:spPr>
            <a:xfrm>
              <a:off x="6344926" y="5794395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Canva Templates</a:t>
              </a:r>
              <a:endParaRPr lang="en-DK" sz="2000" dirty="0"/>
            </a:p>
          </p:txBody>
        </p:sp>
        <p:sp>
          <p:nvSpPr>
            <p:cNvPr id="10" name="Shape 27">
              <a:extLst>
                <a:ext uri="{FF2B5EF4-FFF2-40B4-BE49-F238E27FC236}">
                  <a16:creationId xmlns:a16="http://schemas.microsoft.com/office/drawing/2014/main" id="{22FE4BA2-7DAF-8257-D50E-483090968526}"/>
                </a:ext>
              </a:extLst>
            </p:cNvPr>
            <p:cNvSpPr/>
            <p:nvPr/>
          </p:nvSpPr>
          <p:spPr>
            <a:xfrm>
              <a:off x="7870298" y="5794395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Stock Photography and Video</a:t>
              </a:r>
              <a:endParaRPr lang="en-DK" sz="1100" dirty="0"/>
            </a:p>
          </p:txBody>
        </p:sp>
      </p:grpSp>
      <p:sp>
        <p:nvSpPr>
          <p:cNvPr id="13" name="Shape 25">
            <a:extLst>
              <a:ext uri="{FF2B5EF4-FFF2-40B4-BE49-F238E27FC236}">
                <a16:creationId xmlns:a16="http://schemas.microsoft.com/office/drawing/2014/main" id="{C9706113-BA82-8F49-8085-281FBBC0B16E}"/>
              </a:ext>
            </a:extLst>
          </p:cNvPr>
          <p:cNvSpPr/>
          <p:nvPr/>
        </p:nvSpPr>
        <p:spPr>
          <a:xfrm>
            <a:off x="508001" y="4240216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D6B14B78-585F-4F8B-1D86-8193888B2C20}"/>
              </a:ext>
            </a:extLst>
          </p:cNvPr>
          <p:cNvSpPr/>
          <p:nvPr/>
        </p:nvSpPr>
        <p:spPr>
          <a:xfrm>
            <a:off x="654957" y="4310973"/>
            <a:ext cx="86715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Packaging</a:t>
            </a:r>
            <a:endParaRPr lang="en-US" sz="1200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D296563D-0EB7-47FF-7AC8-3D2FAD83234A}"/>
              </a:ext>
            </a:extLst>
          </p:cNvPr>
          <p:cNvSpPr/>
          <p:nvPr/>
        </p:nvSpPr>
        <p:spPr>
          <a:xfrm>
            <a:off x="1630986" y="42379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477CD155-8D8E-6EFC-7189-3AA65A556C71}"/>
              </a:ext>
            </a:extLst>
          </p:cNvPr>
          <p:cNvSpPr/>
          <p:nvPr/>
        </p:nvSpPr>
        <p:spPr>
          <a:xfrm>
            <a:off x="1777943" y="43087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Learning Material</a:t>
            </a:r>
            <a:endParaRPr lang="en-US" sz="1200"/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E140ED10-976B-32DC-4BD6-3A9CF84C8179}"/>
              </a:ext>
            </a:extLst>
          </p:cNvPr>
          <p:cNvSpPr/>
          <p:nvPr/>
        </p:nvSpPr>
        <p:spPr>
          <a:xfrm>
            <a:off x="4252991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778F19AE-F3E0-DF8B-0968-38632DF77701}"/>
              </a:ext>
            </a:extLst>
          </p:cNvPr>
          <p:cNvSpPr/>
          <p:nvPr/>
        </p:nvSpPr>
        <p:spPr>
          <a:xfrm>
            <a:off x="4399949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+ more</a:t>
            </a:r>
            <a:endParaRPr lang="en-US" sz="120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1AE1FB22-B5CF-A596-CD2A-1094DCDE1F3E}"/>
              </a:ext>
            </a:extLst>
          </p:cNvPr>
          <p:cNvSpPr/>
          <p:nvPr/>
        </p:nvSpPr>
        <p:spPr>
          <a:xfrm>
            <a:off x="8805946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5195E7A0-85D4-0947-A5F3-19C9BD71A620}"/>
              </a:ext>
            </a:extLst>
          </p:cNvPr>
          <p:cNvSpPr/>
          <p:nvPr/>
        </p:nvSpPr>
        <p:spPr>
          <a:xfrm>
            <a:off x="8952903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+ more</a:t>
            </a:r>
            <a:endParaRPr lang="en-US" sz="1200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5A2E8CE0-25AE-A168-4B4E-A999E81B89B4}"/>
              </a:ext>
            </a:extLst>
          </p:cNvPr>
          <p:cNvSpPr/>
          <p:nvPr/>
        </p:nvSpPr>
        <p:spPr>
          <a:xfrm>
            <a:off x="3274454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4931725A-DAE8-B9C2-53E4-9BE6BDED7556}"/>
              </a:ext>
            </a:extLst>
          </p:cNvPr>
          <p:cNvSpPr/>
          <p:nvPr/>
        </p:nvSpPr>
        <p:spPr>
          <a:xfrm>
            <a:off x="3421412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Merch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8187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F7975-87B0-3694-92E2-3359F14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13579BA-9F4B-4D03-9B60-7525C9E9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Ownership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D284377-C6AD-BF34-3F29-D172568743AA}"/>
              </a:ext>
            </a:extLst>
          </p:cNvPr>
          <p:cNvSpPr/>
          <p:nvPr/>
        </p:nvSpPr>
        <p:spPr>
          <a:xfrm>
            <a:off x="508000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FBDF788-081C-7CB9-3218-007A9F1F5BFB}"/>
              </a:ext>
            </a:extLst>
          </p:cNvPr>
          <p:cNvSpPr/>
          <p:nvPr/>
        </p:nvSpPr>
        <p:spPr>
          <a:xfrm>
            <a:off x="1426029" y="2924629"/>
            <a:ext cx="4054293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Graphic Design</a:t>
            </a:r>
            <a:endParaRPr lang="en-US" sz="1400">
              <a:latin typeface="+mj-lt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7C7F426-BE65-21A0-1174-C62BCE2C9733}"/>
              </a:ext>
            </a:extLst>
          </p:cNvPr>
          <p:cNvSpPr/>
          <p:nvPr/>
        </p:nvSpPr>
        <p:spPr>
          <a:xfrm>
            <a:off x="1426029" y="3231243"/>
            <a:ext cx="4316580" cy="100061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Campaigns · marketing assets · layouts · digital &amp; print material </a:t>
            </a:r>
            <a:r>
              <a:rPr lang="en-US" sz="11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 · packaging</a:t>
            </a: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 </a:t>
            </a:r>
            <a:endParaRPr lang="en-US" sz="1100" dirty="0">
              <a:latin typeface="+mj-lt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968CF66-2A77-7FAA-F70E-1B5307AA102F}"/>
              </a:ext>
            </a:extLst>
          </p:cNvPr>
          <p:cNvSpPr/>
          <p:nvPr/>
        </p:nvSpPr>
        <p:spPr>
          <a:xfrm>
            <a:off x="6172201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B03E88B-0316-8CFF-6C52-B31E07344DDF}"/>
              </a:ext>
            </a:extLst>
          </p:cNvPr>
          <p:cNvSpPr/>
          <p:nvPr/>
        </p:nvSpPr>
        <p:spPr>
          <a:xfrm>
            <a:off x="7090230" y="2924629"/>
            <a:ext cx="2815861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Motion &amp; Video</a:t>
            </a:r>
            <a:endParaRPr lang="en-US" sz="1400">
              <a:latin typeface="+mj-lt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7E70527-5109-488F-E89C-208C4ADF2A69}"/>
              </a:ext>
            </a:extLst>
          </p:cNvPr>
          <p:cNvSpPr/>
          <p:nvPr/>
        </p:nvSpPr>
        <p:spPr>
          <a:xfrm>
            <a:off x="7090229" y="3231244"/>
            <a:ext cx="4363355" cy="9211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Animations · video editing · motion graphics </a:t>
            </a:r>
            <a:r>
              <a:rPr lang="en-US" sz="12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· storytelling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18C92DF5-82D5-D55C-6E5D-AC832D2FA2C9}"/>
              </a:ext>
            </a:extLst>
          </p:cNvPr>
          <p:cNvSpPr/>
          <p:nvPr/>
        </p:nvSpPr>
        <p:spPr>
          <a:xfrm>
            <a:off x="508000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1E2F579-4E1C-34DC-1796-42F2229A11FA}"/>
              </a:ext>
            </a:extLst>
          </p:cNvPr>
          <p:cNvSpPr/>
          <p:nvPr/>
        </p:nvSpPr>
        <p:spPr>
          <a:xfrm>
            <a:off x="1426029" y="4715329"/>
            <a:ext cx="3353349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&amp; Creative Direction</a:t>
            </a:r>
            <a:endParaRPr lang="en-US" sz="1400">
              <a:latin typeface="+mj-lt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5FB8AB1-FA10-D045-C233-A3C16B6D6E9F}"/>
              </a:ext>
            </a:extLst>
          </p:cNvPr>
          <p:cNvSpPr/>
          <p:nvPr/>
        </p:nvSpPr>
        <p:spPr>
          <a:xfrm>
            <a:off x="1426029" y="5021943"/>
            <a:ext cx="4316580" cy="91061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Visual consistency · art direction · strategic guidance</a:t>
            </a:r>
            <a:endParaRPr lang="en-US" sz="1200" dirty="0">
              <a:latin typeface="+mj-lt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2774E4A-E491-710E-53F7-236939BA977E}"/>
              </a:ext>
            </a:extLst>
          </p:cNvPr>
          <p:cNvSpPr/>
          <p:nvPr/>
        </p:nvSpPr>
        <p:spPr>
          <a:xfrm>
            <a:off x="6172199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9418BD4-8CC8-F2E8-3C2A-1062DDD4CBFF}"/>
              </a:ext>
            </a:extLst>
          </p:cNvPr>
          <p:cNvSpPr/>
          <p:nvPr/>
        </p:nvSpPr>
        <p:spPr>
          <a:xfrm>
            <a:off x="7090230" y="4715329"/>
            <a:ext cx="4466227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Production &amp; Coordination</a:t>
            </a:r>
            <a:endParaRPr lang="en-US" sz="1400">
              <a:latin typeface="+mj-lt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7834FDE-A5BE-2B61-B376-1FF1D25BF66F}"/>
              </a:ext>
            </a:extLst>
          </p:cNvPr>
          <p:cNvSpPr/>
          <p:nvPr/>
        </p:nvSpPr>
        <p:spPr>
          <a:xfrm>
            <a:off x="7090230" y="5021942"/>
            <a:ext cx="4466227" cy="573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Workflow management · printer/publisher coordination · file &amp; asset organization</a:t>
            </a:r>
            <a:endParaRPr lang="en-US" sz="1100" dirty="0">
              <a:latin typeface="+mj-lt"/>
            </a:endParaRPr>
          </a:p>
        </p:txBody>
      </p:sp>
      <p:pic>
        <p:nvPicPr>
          <p:cNvPr id="28" name="Graphic 27" descr="Images with solid fill">
            <a:extLst>
              <a:ext uri="{FF2B5EF4-FFF2-40B4-BE49-F238E27FC236}">
                <a16:creationId xmlns:a16="http://schemas.microsoft.com/office/drawing/2014/main" id="{3E3D933D-A43F-6D37-43E9-E9E4BEC44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415" y="2907694"/>
            <a:ext cx="457200" cy="457200"/>
          </a:xfrm>
          <a:prstGeom prst="rect">
            <a:avLst/>
          </a:prstGeom>
        </p:spPr>
      </p:pic>
      <p:pic>
        <p:nvPicPr>
          <p:cNvPr id="30" name="Graphic 29" descr="Clapper board with solid fill">
            <a:extLst>
              <a:ext uri="{FF2B5EF4-FFF2-40B4-BE49-F238E27FC236}">
                <a16:creationId xmlns:a16="http://schemas.microsoft.com/office/drawing/2014/main" id="{8A914658-36B6-07F5-40C5-10F769080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677" y="2914346"/>
            <a:ext cx="449985" cy="449985"/>
          </a:xfrm>
          <a:prstGeom prst="rect">
            <a:avLst/>
          </a:prstGeom>
        </p:spPr>
      </p:pic>
      <p:pic>
        <p:nvPicPr>
          <p:cNvPr id="32" name="Graphic 31" descr="Map compass with solid fill">
            <a:extLst>
              <a:ext uri="{FF2B5EF4-FFF2-40B4-BE49-F238E27FC236}">
                <a16:creationId xmlns:a16="http://schemas.microsoft.com/office/drawing/2014/main" id="{A9348CD9-268F-14B5-CAE8-C6B4C9247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415" y="4715329"/>
            <a:ext cx="486986" cy="486986"/>
          </a:xfrm>
          <a:prstGeom prst="rect">
            <a:avLst/>
          </a:prstGeom>
        </p:spPr>
      </p:pic>
      <p:pic>
        <p:nvPicPr>
          <p:cNvPr id="34" name="Graphic 33" descr="Filing Box Archive with solid fill">
            <a:extLst>
              <a:ext uri="{FF2B5EF4-FFF2-40B4-BE49-F238E27FC236}">
                <a16:creationId xmlns:a16="http://schemas.microsoft.com/office/drawing/2014/main" id="{C2AEF461-77BD-5145-AD80-1BF38C127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9623" y="4715329"/>
            <a:ext cx="471078" cy="471078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AF185C4E-D179-4AB0-9CAA-86759A005B8C}"/>
              </a:ext>
            </a:extLst>
          </p:cNvPr>
          <p:cNvSpPr/>
          <p:nvPr/>
        </p:nvSpPr>
        <p:spPr>
          <a:xfrm>
            <a:off x="3987801" y="1784225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2800" b="1" kern="0" spc="-105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team, </a:t>
            </a:r>
            <a:r>
              <a:rPr lang="en-US" sz="2800" b="1" kern="0" spc="-105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Multiple support</a:t>
            </a:r>
            <a:endParaRPr lang="en-US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2A7B-E567-F3FB-3A51-1734832A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856DB9-A96D-232E-2399-A6388BF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7FA894-E008-C38D-8CC2-AA545CBE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Beyond</a:t>
            </a:r>
            <a:r>
              <a:rPr lang="es-ES"/>
              <a:t> Daily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Support</a:t>
            </a:r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0BA0217-9058-7BDA-03BF-35ABE5F547D5}"/>
              </a:ext>
            </a:extLst>
          </p:cNvPr>
          <p:cNvSpPr/>
          <p:nvPr/>
        </p:nvSpPr>
        <p:spPr>
          <a:xfrm>
            <a:off x="468000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01</a:t>
            </a:r>
          </a:p>
          <a:p>
            <a:pPr algn="ctr"/>
            <a:r>
              <a:rPr lang="en-US" sz="2800" b="1"/>
              <a:t>Brand Management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Brand consistency / Brand evolution / </a:t>
            </a:r>
          </a:p>
          <a:p>
            <a:pPr algn="ctr"/>
            <a:r>
              <a:rPr lang="en-US"/>
              <a:t>Visual governance</a:t>
            </a:r>
          </a:p>
          <a:p>
            <a:pPr algn="ctr"/>
            <a:endParaRPr lang="en-US" b="1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6938E75-1465-6D6A-57CA-23BC39D8AA34}"/>
              </a:ext>
            </a:extLst>
          </p:cNvPr>
          <p:cNvSpPr/>
          <p:nvPr/>
        </p:nvSpPr>
        <p:spPr>
          <a:xfrm>
            <a:off x="3308626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02</a:t>
            </a:r>
          </a:p>
          <a:p>
            <a:pPr algn="ctr"/>
            <a:r>
              <a:rPr lang="en-US" sz="2800" b="1"/>
              <a:t>Creative Development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Concepts and campaigns / Art direction / Visual storytelling</a:t>
            </a:r>
          </a:p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1D0CAF8-FFCF-601B-D9C6-8EB0FC76E9DA}"/>
              </a:ext>
            </a:extLst>
          </p:cNvPr>
          <p:cNvSpPr/>
          <p:nvPr/>
        </p:nvSpPr>
        <p:spPr>
          <a:xfrm>
            <a:off x="6149252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03</a:t>
            </a:r>
          </a:p>
          <a:p>
            <a:pPr algn="ctr"/>
            <a:r>
              <a:rPr lang="en-US" sz="2800" b="1"/>
              <a:t>Production &amp; Adaptation</a:t>
            </a:r>
          </a:p>
          <a:p>
            <a:pPr algn="ctr"/>
            <a:endParaRPr lang="en-US" b="1"/>
          </a:p>
          <a:p>
            <a:pPr algn="ctr"/>
            <a:r>
              <a:rPr lang="es-ES"/>
              <a:t>Market </a:t>
            </a:r>
            <a:r>
              <a:rPr lang="es-ES" err="1"/>
              <a:t>Adaptation</a:t>
            </a:r>
            <a:r>
              <a:rPr lang="en-US"/>
              <a:t> / Resizing and roll-outs / Print &amp; digital production</a:t>
            </a:r>
          </a:p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E37BD4-275F-03AD-B66F-9632163374F6}"/>
              </a:ext>
            </a:extLst>
          </p:cNvPr>
          <p:cNvSpPr/>
          <p:nvPr/>
        </p:nvSpPr>
        <p:spPr>
          <a:xfrm>
            <a:off x="8989877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04</a:t>
            </a:r>
          </a:p>
          <a:p>
            <a:pPr algn="ctr"/>
            <a:r>
              <a:rPr lang="en-US" sz="2800" b="1"/>
              <a:t>Strategic Support</a:t>
            </a:r>
          </a:p>
          <a:p>
            <a:pPr algn="ctr"/>
            <a:endParaRPr lang="en-US" b="1"/>
          </a:p>
          <a:p>
            <a:pPr algn="ctr"/>
            <a:r>
              <a:rPr lang="en-US"/>
              <a:t>Cross-market coordination / Creative recommendations /</a:t>
            </a:r>
          </a:p>
          <a:p>
            <a:pPr algn="ctr"/>
            <a:r>
              <a:rPr lang="en-US"/>
              <a:t>Design consultation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39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604F0-AF8E-B136-D00F-2BE0B68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 dirty="0"/>
              <a:t>Design Hub Process</a:t>
            </a:r>
            <a:endParaRPr lang="en-DK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C6C04F-A2A8-CD5F-04EE-1F7CAD79EED7}"/>
              </a:ext>
            </a:extLst>
          </p:cNvPr>
          <p:cNvGrpSpPr/>
          <p:nvPr/>
        </p:nvGrpSpPr>
        <p:grpSpPr>
          <a:xfrm>
            <a:off x="167353" y="1454490"/>
            <a:ext cx="2342439" cy="1657568"/>
            <a:chOff x="167353" y="1454490"/>
            <a:chExt cx="2342439" cy="1657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D47D13-36CB-AE98-23F8-3D1E634F1AEC}"/>
                </a:ext>
              </a:extLst>
            </p:cNvPr>
            <p:cNvSpPr/>
            <p:nvPr/>
          </p:nvSpPr>
          <p:spPr>
            <a:xfrm>
              <a:off x="167353" y="2439983"/>
              <a:ext cx="234243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Fill out Brief form and send via email to 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design@biomar.com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algn="ctr"/>
              <a:r>
                <a:rPr lang="en-GB" sz="1200" i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(Template Provided)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BCAEDAF-E718-83C7-8C9A-729C2DA9A8C8}"/>
                </a:ext>
              </a:extLst>
            </p:cNvPr>
            <p:cNvGrpSpPr/>
            <p:nvPr/>
          </p:nvGrpSpPr>
          <p:grpSpPr>
            <a:xfrm>
              <a:off x="851679" y="1454490"/>
              <a:ext cx="973790" cy="947580"/>
              <a:chOff x="4240588" y="1960193"/>
              <a:chExt cx="1124095" cy="1093840"/>
            </a:xfrm>
          </p:grpSpPr>
          <p:pic>
            <p:nvPicPr>
              <p:cNvPr id="14" name="Graphic 13" descr="Pencil">
                <a:extLst>
                  <a:ext uri="{FF2B5EF4-FFF2-40B4-BE49-F238E27FC236}">
                    <a16:creationId xmlns:a16="http://schemas.microsoft.com/office/drawing/2014/main" id="{A3CD5A9B-2E10-2316-4CB0-BD4F762DA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50283" y="21396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EA246C5A-CA75-3909-5F7A-6A3392244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240588" y="196019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2491BF-7757-0475-D697-5166B4887AA7}"/>
              </a:ext>
            </a:extLst>
          </p:cNvPr>
          <p:cNvGrpSpPr/>
          <p:nvPr/>
        </p:nvGrpSpPr>
        <p:grpSpPr>
          <a:xfrm>
            <a:off x="474750" y="4472355"/>
            <a:ext cx="2353747" cy="1793251"/>
            <a:chOff x="474750" y="4472355"/>
            <a:chExt cx="2353747" cy="17932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C7AF08-8745-0251-0860-D9A289814A5B}"/>
                </a:ext>
              </a:extLst>
            </p:cNvPr>
            <p:cNvSpPr/>
            <p:nvPr/>
          </p:nvSpPr>
          <p:spPr>
            <a:xfrm>
              <a:off x="474750" y="5593531"/>
              <a:ext cx="235374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Review Brief, input to Design Hub, tag contact person and inform via email. </a:t>
              </a:r>
              <a:r>
                <a:rPr lang="en-US" sz="1200" i="1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(Request any missing information or seek clarifications).</a:t>
              </a:r>
            </a:p>
          </p:txBody>
        </p:sp>
        <p:pic>
          <p:nvPicPr>
            <p:cNvPr id="57" name="Graphic 56" descr="Programmer female with solid fill">
              <a:extLst>
                <a:ext uri="{FF2B5EF4-FFF2-40B4-BE49-F238E27FC236}">
                  <a16:creationId xmlns:a16="http://schemas.microsoft.com/office/drawing/2014/main" id="{9B1B398F-408C-EEFE-99B7-2FD7238B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480" y="4472355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109152-2A23-968D-F246-1CD5F3FE7331}"/>
              </a:ext>
            </a:extLst>
          </p:cNvPr>
          <p:cNvSpPr/>
          <p:nvPr/>
        </p:nvSpPr>
        <p:spPr>
          <a:xfrm>
            <a:off x="474750" y="298240"/>
            <a:ext cx="1995055" cy="32142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Marketing/User</a:t>
            </a:r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243FDD-9CB5-0310-7D35-762A9C40D6D2}"/>
              </a:ext>
            </a:extLst>
          </p:cNvPr>
          <p:cNvSpPr/>
          <p:nvPr/>
        </p:nvSpPr>
        <p:spPr>
          <a:xfrm>
            <a:off x="474750" y="702792"/>
            <a:ext cx="1995055" cy="3214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Hub</a:t>
            </a:r>
            <a:endParaRPr lang="en-DK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C4BFC-FAFF-7C40-A0B0-5EDDE8AC53F6}"/>
              </a:ext>
            </a:extLst>
          </p:cNvPr>
          <p:cNvGrpSpPr/>
          <p:nvPr/>
        </p:nvGrpSpPr>
        <p:grpSpPr>
          <a:xfrm>
            <a:off x="3299782" y="4640288"/>
            <a:ext cx="1759471" cy="1642840"/>
            <a:chOff x="3299782" y="4640288"/>
            <a:chExt cx="1759471" cy="1642840"/>
          </a:xfrm>
        </p:grpSpPr>
        <p:pic>
          <p:nvPicPr>
            <p:cNvPr id="70" name="Graphic 69" descr="Email with solid fill">
              <a:extLst>
                <a:ext uri="{FF2B5EF4-FFF2-40B4-BE49-F238E27FC236}">
                  <a16:creationId xmlns:a16="http://schemas.microsoft.com/office/drawing/2014/main" id="{D467E51C-8B5A-988C-0E72-E0D0E3A6A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6285" y="4640288"/>
              <a:ext cx="746467" cy="7464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E2B6C-970B-6AAC-F70B-FBE434CCA2FF}"/>
                </a:ext>
              </a:extLst>
            </p:cNvPr>
            <p:cNvSpPr/>
            <p:nvPr/>
          </p:nvSpPr>
          <p:spPr>
            <a:xfrm>
              <a:off x="3299782" y="5611053"/>
              <a:ext cx="1759471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 drafts via email following the same thread. Paths for files or links for videos.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0462F3-4110-2287-A552-8AD399E3A16D}"/>
              </a:ext>
            </a:extLst>
          </p:cNvPr>
          <p:cNvGrpSpPr/>
          <p:nvPr/>
        </p:nvGrpSpPr>
        <p:grpSpPr>
          <a:xfrm>
            <a:off x="3759595" y="1457840"/>
            <a:ext cx="2113846" cy="1606815"/>
            <a:chOff x="4990635" y="1457840"/>
            <a:chExt cx="2113846" cy="16068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BBD78-1347-2A67-456E-4334B8604091}"/>
                </a:ext>
              </a:extLst>
            </p:cNvPr>
            <p:cNvSpPr/>
            <p:nvPr/>
          </p:nvSpPr>
          <p:spPr>
            <a:xfrm>
              <a:off x="4990635" y="2392580"/>
              <a:ext cx="211384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Feedback submitted is relevant to the media type. Inform Design Hub via email that feedback has been given.</a:t>
              </a:r>
            </a:p>
          </p:txBody>
        </p:sp>
        <p:pic>
          <p:nvPicPr>
            <p:cNvPr id="24" name="Graphic 23" descr="Speech with solid fill">
              <a:extLst>
                <a:ext uri="{FF2B5EF4-FFF2-40B4-BE49-F238E27FC236}">
                  <a16:creationId xmlns:a16="http://schemas.microsoft.com/office/drawing/2014/main" id="{39C71223-9A28-FB57-4EC5-CC4739D2D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5958" y="1457840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86C6D-D04D-3633-054D-9974179F23B1}"/>
              </a:ext>
            </a:extLst>
          </p:cNvPr>
          <p:cNvGrpSpPr/>
          <p:nvPr/>
        </p:nvGrpSpPr>
        <p:grpSpPr>
          <a:xfrm>
            <a:off x="5287424" y="4748660"/>
            <a:ext cx="1493417" cy="1600913"/>
            <a:chOff x="6988042" y="4748660"/>
            <a:chExt cx="1493417" cy="1600913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3A2233D-0C77-4DE5-1C10-26581EAA9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5946" y="4748660"/>
              <a:ext cx="657610" cy="65761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B52FE-1D47-BB6B-FF86-9EE671DCE24F}"/>
                </a:ext>
              </a:extLst>
            </p:cNvPr>
            <p:cNvSpPr/>
            <p:nvPr/>
          </p:nvSpPr>
          <p:spPr>
            <a:xfrm>
              <a:off x="6988042" y="5677498"/>
              <a:ext cx="149341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 based on feedback and submit final files.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213C8E-FBDD-DE4B-9850-8A5F54A403EC}"/>
              </a:ext>
            </a:extLst>
          </p:cNvPr>
          <p:cNvGrpSpPr/>
          <p:nvPr/>
        </p:nvGrpSpPr>
        <p:grpSpPr>
          <a:xfrm>
            <a:off x="7888748" y="4640288"/>
            <a:ext cx="1239067" cy="1726807"/>
            <a:chOff x="10320316" y="4640288"/>
            <a:chExt cx="1239067" cy="17268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75DE4F-B4A6-B02E-F9DD-44C4F6BD1746}"/>
                </a:ext>
              </a:extLst>
            </p:cNvPr>
            <p:cNvSpPr/>
            <p:nvPr/>
          </p:nvSpPr>
          <p:spPr>
            <a:xfrm>
              <a:off x="10320316" y="5695020"/>
              <a:ext cx="123906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 task and move card to Completed tab.</a:t>
              </a:r>
            </a:p>
          </p:txBody>
        </p:sp>
        <p:pic>
          <p:nvPicPr>
            <p:cNvPr id="50" name="Graphic 49" descr="Checkbox Checked with solid fill">
              <a:extLst>
                <a:ext uri="{FF2B5EF4-FFF2-40B4-BE49-F238E27FC236}">
                  <a16:creationId xmlns:a16="http://schemas.microsoft.com/office/drawing/2014/main" id="{B0CB8E7B-D0F2-E3A1-63FF-E6F30B402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86637" y="4640288"/>
              <a:ext cx="914400" cy="9144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AA822F-DD60-52E3-693F-832066F60141}"/>
              </a:ext>
            </a:extLst>
          </p:cNvPr>
          <p:cNvGrpSpPr/>
          <p:nvPr/>
        </p:nvGrpSpPr>
        <p:grpSpPr>
          <a:xfrm>
            <a:off x="6395199" y="1487670"/>
            <a:ext cx="1756006" cy="1611179"/>
            <a:chOff x="6912874" y="1487670"/>
            <a:chExt cx="1756006" cy="161117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AFE871-7894-1C28-A870-1374D6514115}"/>
                </a:ext>
              </a:extLst>
            </p:cNvPr>
            <p:cNvSpPr/>
            <p:nvPr/>
          </p:nvSpPr>
          <p:spPr>
            <a:xfrm>
              <a:off x="6912874" y="2426774"/>
              <a:ext cx="175600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 final files and inform Design Hub that the task/project is closed.</a:t>
              </a:r>
            </a:p>
          </p:txBody>
        </p:sp>
        <p:pic>
          <p:nvPicPr>
            <p:cNvPr id="66" name="Graphic 65" descr="Comment Like with solid fill">
              <a:extLst>
                <a:ext uri="{FF2B5EF4-FFF2-40B4-BE49-F238E27FC236}">
                  <a16:creationId xmlns:a16="http://schemas.microsoft.com/office/drawing/2014/main" id="{A6A6D7C3-BA8B-B10F-C73C-74F3EADDC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1484" y="1487670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59002-0AF5-77EA-D77F-B1F36CE33EA7}"/>
              </a:ext>
            </a:extLst>
          </p:cNvPr>
          <p:cNvCxnSpPr>
            <a:cxnSpLocks/>
          </p:cNvCxnSpPr>
          <p:nvPr/>
        </p:nvCxnSpPr>
        <p:spPr>
          <a:xfrm>
            <a:off x="1131683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8ECBF-AEE6-F073-365E-52E7D06FCEB4}"/>
              </a:ext>
            </a:extLst>
          </p:cNvPr>
          <p:cNvCxnSpPr>
            <a:cxnSpLocks/>
          </p:cNvCxnSpPr>
          <p:nvPr/>
        </p:nvCxnSpPr>
        <p:spPr>
          <a:xfrm>
            <a:off x="4803502" y="3370683"/>
            <a:ext cx="0" cy="492619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75E57E-5EBE-5A57-EC66-6978C52A71C8}"/>
              </a:ext>
            </a:extLst>
          </p:cNvPr>
          <p:cNvCxnSpPr>
            <a:cxnSpLocks/>
          </p:cNvCxnSpPr>
          <p:nvPr/>
        </p:nvCxnSpPr>
        <p:spPr>
          <a:xfrm>
            <a:off x="7278474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98B026-CEA6-C1DE-0829-D4C18EC13D31}"/>
              </a:ext>
            </a:extLst>
          </p:cNvPr>
          <p:cNvSpPr/>
          <p:nvPr/>
        </p:nvSpPr>
        <p:spPr>
          <a:xfrm>
            <a:off x="462316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B7E75-5A8F-DC91-41DF-980007913E15}"/>
              </a:ext>
            </a:extLst>
          </p:cNvPr>
          <p:cNvSpPr/>
          <p:nvPr/>
        </p:nvSpPr>
        <p:spPr>
          <a:xfrm>
            <a:off x="1706167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0D982-84FA-B1E2-2ED2-56F51860933C}"/>
              </a:ext>
            </a:extLst>
          </p:cNvPr>
          <p:cNvSpPr/>
          <p:nvPr/>
        </p:nvSpPr>
        <p:spPr>
          <a:xfrm>
            <a:off x="2940451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E4C0A-9AA4-E9AF-A57A-6F0724DCDD6C}"/>
              </a:ext>
            </a:extLst>
          </p:cNvPr>
          <p:cNvSpPr/>
          <p:nvPr/>
        </p:nvSpPr>
        <p:spPr>
          <a:xfrm>
            <a:off x="4179519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6DCDD-8E94-085D-6B7E-12D1AC7ED72D}"/>
              </a:ext>
            </a:extLst>
          </p:cNvPr>
          <p:cNvSpPr/>
          <p:nvPr/>
        </p:nvSpPr>
        <p:spPr>
          <a:xfrm>
            <a:off x="5418586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237C-DF38-6EAE-C6C6-418308812598}"/>
              </a:ext>
            </a:extLst>
          </p:cNvPr>
          <p:cNvSpPr/>
          <p:nvPr/>
        </p:nvSpPr>
        <p:spPr>
          <a:xfrm>
            <a:off x="6657655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7EDEA-8A29-3EC7-DE65-E60807050892}"/>
              </a:ext>
            </a:extLst>
          </p:cNvPr>
          <p:cNvSpPr/>
          <p:nvPr/>
        </p:nvSpPr>
        <p:spPr>
          <a:xfrm>
            <a:off x="7896722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D58F0-8E00-0392-BA94-BB581E50BCC1}"/>
              </a:ext>
            </a:extLst>
          </p:cNvPr>
          <p:cNvCxnSpPr>
            <a:cxnSpLocks/>
          </p:cNvCxnSpPr>
          <p:nvPr/>
        </p:nvCxnSpPr>
        <p:spPr>
          <a:xfrm>
            <a:off x="2297438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501D6B-D7A3-15AB-FF03-A0C4E36A941B}"/>
              </a:ext>
            </a:extLst>
          </p:cNvPr>
          <p:cNvCxnSpPr>
            <a:cxnSpLocks/>
          </p:cNvCxnSpPr>
          <p:nvPr/>
        </p:nvCxnSpPr>
        <p:spPr>
          <a:xfrm>
            <a:off x="3525542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876A8F-700B-4476-3D1A-129628F89B3F}"/>
              </a:ext>
            </a:extLst>
          </p:cNvPr>
          <p:cNvCxnSpPr>
            <a:cxnSpLocks/>
          </p:cNvCxnSpPr>
          <p:nvPr/>
        </p:nvCxnSpPr>
        <p:spPr>
          <a:xfrm>
            <a:off x="6034133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099351-B591-0DE6-50CC-7B2274BAC3F6}"/>
              </a:ext>
            </a:extLst>
          </p:cNvPr>
          <p:cNvCxnSpPr>
            <a:cxnSpLocks/>
          </p:cNvCxnSpPr>
          <p:nvPr/>
        </p:nvCxnSpPr>
        <p:spPr>
          <a:xfrm>
            <a:off x="8474356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30A10FBB-750E-378E-1D89-5A3A3B59B62C}"/>
              </a:ext>
            </a:extLst>
          </p:cNvPr>
          <p:cNvSpPr/>
          <p:nvPr/>
        </p:nvSpPr>
        <p:spPr>
          <a:xfrm>
            <a:off x="9289431" y="1448474"/>
            <a:ext cx="2427819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Collaborative rather than transactional approach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Continuous communication with local stakeholders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Support adaptation for local market needs while maintaining brand consistency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Prioritization based on timelines and business impact</a:t>
            </a:r>
          </a:p>
          <a:p>
            <a:pPr algn="ctr"/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9773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2" grpId="0" animBg="1"/>
      <p:bldP spid="17" grpId="0" animBg="1"/>
      <p:bldP spid="18" grpId="0" animBg="1"/>
      <p:bldP spid="19" grpId="0" animBg="1"/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24BE-AC9F-39EB-9CED-E067D163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3DCEA5-3C17-C1EE-7397-65E8D8CB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4D4A6D6-5EFD-4BF2-7BB2-5900BA2A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Different Workflows Depending on Scope</a:t>
            </a:r>
            <a:endParaRPr lang="es-ES" sz="32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AAD888A-1A24-40C5-3B70-BB366D60034C}"/>
              </a:ext>
            </a:extLst>
          </p:cNvPr>
          <p:cNvSpPr txBox="1">
            <a:spLocks/>
          </p:cNvSpPr>
          <p:nvPr/>
        </p:nvSpPr>
        <p:spPr>
          <a:xfrm>
            <a:off x="392150" y="108000"/>
            <a:ext cx="11246990" cy="570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2"/>
                </a:solidFill>
              </a:rPr>
              <a:t>Tasks vs Projects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5FB79A5-EABE-9749-1ADA-6B5824F2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26569"/>
              </p:ext>
            </p:extLst>
          </p:nvPr>
        </p:nvGraphicFramePr>
        <p:xfrm>
          <a:off x="468000" y="1545054"/>
          <a:ext cx="11246991" cy="4693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63023">
                  <a:extLst>
                    <a:ext uri="{9D8B030D-6E8A-4147-A177-3AD203B41FA5}">
                      <a16:colId xmlns:a16="http://schemas.microsoft.com/office/drawing/2014/main" val="2327758843"/>
                    </a:ext>
                  </a:extLst>
                </a:gridCol>
                <a:gridCol w="4534971">
                  <a:extLst>
                    <a:ext uri="{9D8B030D-6E8A-4147-A177-3AD203B41FA5}">
                      <a16:colId xmlns:a16="http://schemas.microsoft.com/office/drawing/2014/main" val="2892189343"/>
                    </a:ext>
                  </a:extLst>
                </a:gridCol>
                <a:gridCol w="3748997">
                  <a:extLst>
                    <a:ext uri="{9D8B030D-6E8A-4147-A177-3AD203B41FA5}">
                      <a16:colId xmlns:a16="http://schemas.microsoft.com/office/drawing/2014/main" val="2536926427"/>
                    </a:ext>
                  </a:extLst>
                </a:gridCol>
              </a:tblGrid>
              <a:tr h="755867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err="1"/>
                        <a:t>Task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620392"/>
                  </a:ext>
                </a:extLst>
              </a:tr>
              <a:tr h="793429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What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is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Small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requests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Larger strategic initiatives.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Multiple deliverables.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43186"/>
                  </a:ext>
                </a:extLst>
              </a:tr>
              <a:tr h="752249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Faster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( 2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6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days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Longer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24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weeks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740949"/>
                  </a:ext>
                </a:extLst>
              </a:tr>
              <a:tr h="861412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Number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of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reviews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Limited reviews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(1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3)</a:t>
                      </a:r>
                      <a:endParaRPr lang="en-U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Several stakeholders/review rounds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502181"/>
                  </a:ext>
                </a:extLst>
              </a:tr>
              <a:tr h="1530947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Examples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>
                          <a:solidFill>
                            <a:schemeClr val="tx2"/>
                          </a:solidFill>
                        </a:rPr>
                        <a:t>Update existing document / Social media assets / Small edits / One-page documents / Internal banners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s-ES" err="1">
                          <a:solidFill>
                            <a:schemeClr val="tx2"/>
                          </a:solidFill>
                        </a:rPr>
                        <a:t>Campaigns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Publications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Rebranding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initiatives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launches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Video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productions</a:t>
                      </a:r>
                      <a:endParaRPr lang="es-E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53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C393012A-B562-6CB1-0B3E-4D624BDF8688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7">
            <a:extLst>
              <a:ext uri="{FF2B5EF4-FFF2-40B4-BE49-F238E27FC236}">
                <a16:creationId xmlns:a16="http://schemas.microsoft.com/office/drawing/2014/main" id="{9757B7BE-8820-F2EC-DD1C-948006EE2E20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747" y="-259278"/>
            <a:ext cx="13000399" cy="676003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006C6AC0-274F-4682-D785-7B5EFF7F5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22801" y="431999"/>
            <a:ext cx="6253740" cy="541846"/>
          </a:xfrm>
        </p:spPr>
        <p:txBody>
          <a:bodyPr>
            <a:normAutofit/>
          </a:bodyPr>
          <a:lstStyle/>
          <a:p>
            <a:pPr lvl="0" algn="r"/>
            <a:r>
              <a:rPr lang="es-ES" sz="3200"/>
              <a:t>Design Hub </a:t>
            </a:r>
            <a:r>
              <a:rPr lang="es-ES" sz="3200" err="1"/>
              <a:t>through</a:t>
            </a:r>
            <a:r>
              <a:rPr lang="es-ES" sz="3200"/>
              <a:t> </a:t>
            </a:r>
            <a:r>
              <a:rPr lang="es-ES" sz="3200" err="1"/>
              <a:t>the</a:t>
            </a:r>
            <a:r>
              <a:rPr lang="es-ES" sz="3200"/>
              <a:t> </a:t>
            </a:r>
            <a:r>
              <a:rPr lang="es-ES" sz="3200" err="1"/>
              <a:t>years</a:t>
            </a:r>
            <a:endParaRPr lang="en-DK" sz="3200"/>
          </a:p>
        </p:txBody>
      </p:sp>
      <p:pic>
        <p:nvPicPr>
          <p:cNvPr id="5" name="Graphic 19">
            <a:extLst>
              <a:ext uri="{FF2B5EF4-FFF2-40B4-BE49-F238E27FC236}">
                <a16:creationId xmlns:a16="http://schemas.microsoft.com/office/drawing/2014/main" id="{47DE1F2A-0970-DB8F-E0A3-ABAC733CF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836" y="394656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4FF00B6D-6D0C-91B1-48AC-AD5C68F2B7E9}"/>
              </a:ext>
            </a:extLst>
          </p:cNvPr>
          <p:cNvSpPr txBox="1"/>
          <p:nvPr/>
        </p:nvSpPr>
        <p:spPr>
          <a:xfrm>
            <a:off x="1714361" y="308400"/>
            <a:ext cx="1699833" cy="4414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>
                <a:solidFill>
                  <a:srgbClr val="1F3E77"/>
                </a:solidFill>
                <a:uFillTx/>
                <a:latin typeface="Arial"/>
                <a:ea typeface="DengXian"/>
              </a:rPr>
              <a:t>2010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Fragmented design and communication in the markets</a:t>
            </a:r>
            <a:endParaRPr lang="en-US" sz="700" spc="2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0DDB900C-9835-4224-A411-9EA7505E0906}"/>
              </a:ext>
            </a:extLst>
          </p:cNvPr>
          <p:cNvSpPr txBox="1"/>
          <p:nvPr/>
        </p:nvSpPr>
        <p:spPr>
          <a:xfrm>
            <a:off x="4753187" y="1175525"/>
            <a:ext cx="1156229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2019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 err="1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BioMar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 rebranding.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spc="20" dirty="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New Brand Guidelines.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5" name="TextBox 39">
            <a:extLst>
              <a:ext uri="{FF2B5EF4-FFF2-40B4-BE49-F238E27FC236}">
                <a16:creationId xmlns:a16="http://schemas.microsoft.com/office/drawing/2014/main" id="{77834861-9EA0-1F67-B9BD-C5A3BDDBAFE2}"/>
              </a:ext>
            </a:extLst>
          </p:cNvPr>
          <p:cNvSpPr txBox="1"/>
          <p:nvPr/>
        </p:nvSpPr>
        <p:spPr>
          <a:xfrm>
            <a:off x="9040106" y="973542"/>
            <a:ext cx="1427598" cy="54784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full-time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in-hous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e Designer for Global Marketing needs.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8" name="TextBox 42">
            <a:extLst>
              <a:ext uri="{FF2B5EF4-FFF2-40B4-BE49-F238E27FC236}">
                <a16:creationId xmlns:a16="http://schemas.microsoft.com/office/drawing/2014/main" id="{80948A13-BAE7-5706-2ABA-5A35FE093D79}"/>
              </a:ext>
            </a:extLst>
          </p:cNvPr>
          <p:cNvSpPr txBox="1"/>
          <p:nvPr/>
        </p:nvSpPr>
        <p:spPr>
          <a:xfrm>
            <a:off x="7196137" y="2275283"/>
            <a:ext cx="2151354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</a:t>
            </a:r>
            <a:r>
              <a:rPr lang="en-US" sz="1050" b="1" spc="20" dirty="0">
                <a:solidFill>
                  <a:srgbClr val="1F3E77"/>
                </a:solidFill>
                <a:latin typeface="Arial"/>
                <a:ea typeface="DengXian"/>
              </a:rPr>
              <a:t>1</a:t>
            </a:r>
            <a:endParaRPr lang="en-US" sz="1050" b="1" i="0" u="none" strike="noStrike" kern="1200" cap="none" spc="20" baseline="0" dirty="0">
              <a:solidFill>
                <a:srgbClr val="1F3E77"/>
              </a:solidFill>
              <a:uFillTx/>
              <a:latin typeface="Arial"/>
              <a:ea typeface="DengXian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Because of need of brand consistency through-out all markets, Design Hub starts working with local markets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3" name="TextBox 48">
            <a:extLst>
              <a:ext uri="{FF2B5EF4-FFF2-40B4-BE49-F238E27FC236}">
                <a16:creationId xmlns:a16="http://schemas.microsoft.com/office/drawing/2014/main" id="{DC9EA888-1C89-BCAB-60F2-3EC788A640AD}"/>
              </a:ext>
            </a:extLst>
          </p:cNvPr>
          <p:cNvSpPr txBox="1"/>
          <p:nvPr/>
        </p:nvSpPr>
        <p:spPr>
          <a:xfrm>
            <a:off x="4371704" y="4581091"/>
            <a:ext cx="1497874" cy="9208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2024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a multimedia designer to answer new needs for storytelling and format.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A total of 286 task completed by Design Hub.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4" name="TextBox 49">
            <a:extLst>
              <a:ext uri="{FF2B5EF4-FFF2-40B4-BE49-F238E27FC236}">
                <a16:creationId xmlns:a16="http://schemas.microsoft.com/office/drawing/2014/main" id="{930C2C91-3E42-4B67-1FCE-A6A126E8D3E2}"/>
              </a:ext>
            </a:extLst>
          </p:cNvPr>
          <p:cNvSpPr txBox="1"/>
          <p:nvPr/>
        </p:nvSpPr>
        <p:spPr>
          <a:xfrm>
            <a:off x="3268486" y="3075596"/>
            <a:ext cx="1553594" cy="541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a second 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in-house graphic 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designer, as marketing needs are broader and more complex.</a:t>
            </a:r>
          </a:p>
        </p:txBody>
      </p:sp>
      <p:pic>
        <p:nvPicPr>
          <p:cNvPr id="31" name="Graphic 43">
            <a:extLst>
              <a:ext uri="{FF2B5EF4-FFF2-40B4-BE49-F238E27FC236}">
                <a16:creationId xmlns:a16="http://schemas.microsoft.com/office/drawing/2014/main" id="{210F3F63-18FB-AB8B-12AF-B9C6BF89B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4322763" y="5732318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2" name="Graphic 60">
            <a:extLst>
              <a:ext uri="{FF2B5EF4-FFF2-40B4-BE49-F238E27FC236}">
                <a16:creationId xmlns:a16="http://schemas.microsoft.com/office/drawing/2014/main" id="{A2E13684-26A8-5813-D861-950A559E9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3275865" y="3956636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4" name="Graphic 67">
            <a:extLst>
              <a:ext uri="{FF2B5EF4-FFF2-40B4-BE49-F238E27FC236}">
                <a16:creationId xmlns:a16="http://schemas.microsoft.com/office/drawing/2014/main" id="{23CC73DD-BD46-2E62-03A1-448C6E2555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8958642" y="3070280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5" name="Graphic 69">
            <a:extLst>
              <a:ext uri="{FF2B5EF4-FFF2-40B4-BE49-F238E27FC236}">
                <a16:creationId xmlns:a16="http://schemas.microsoft.com/office/drawing/2014/main" id="{9B66BE08-F49E-78AE-BD0A-5BD369063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225"/>
          <a:stretch>
            <a:fillRect/>
          </a:stretch>
        </p:blipFill>
        <p:spPr>
          <a:xfrm rot="16200004">
            <a:off x="9020551" y="1668711"/>
            <a:ext cx="276258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7" name="TextBox 57">
            <a:extLst>
              <a:ext uri="{FF2B5EF4-FFF2-40B4-BE49-F238E27FC236}">
                <a16:creationId xmlns:a16="http://schemas.microsoft.com/office/drawing/2014/main" id="{A9205CFB-840E-98D3-F2AC-2A59FA8F167E}"/>
              </a:ext>
            </a:extLst>
          </p:cNvPr>
          <p:cNvSpPr txBox="1"/>
          <p:nvPr/>
        </p:nvSpPr>
        <p:spPr>
          <a:xfrm>
            <a:off x="7450669" y="4162054"/>
            <a:ext cx="1387922" cy="11231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2025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A total of 489 task completed by Design Hub. +71% more than the previous year.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Product Logos Rebrand. Launch of Product Brand Guidelines v1.</a:t>
            </a:r>
          </a:p>
        </p:txBody>
      </p:sp>
      <p:pic>
        <p:nvPicPr>
          <p:cNvPr id="38" name="Graphic 59">
            <a:extLst>
              <a:ext uri="{FF2B5EF4-FFF2-40B4-BE49-F238E27FC236}">
                <a16:creationId xmlns:a16="http://schemas.microsoft.com/office/drawing/2014/main" id="{F8F1C3B7-7615-6664-9CD7-774D3AF7A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8083597" y="5568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0" name="Freeform: Shape 99">
            <a:extLst>
              <a:ext uri="{FF2B5EF4-FFF2-40B4-BE49-F238E27FC236}">
                <a16:creationId xmlns:a16="http://schemas.microsoft.com/office/drawing/2014/main" id="{AC8252E8-57F6-C565-EAF6-3F4C55106680}"/>
              </a:ext>
            </a:extLst>
          </p:cNvPr>
          <p:cNvSpPr/>
          <p:nvPr/>
        </p:nvSpPr>
        <p:spPr>
          <a:xfrm>
            <a:off x="11256282" y="5937711"/>
            <a:ext cx="390531" cy="13274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657350"/>
              <a:gd name="f7" fmla="val 400050"/>
              <a:gd name="f8" fmla="val 831533"/>
              <a:gd name="f9" fmla="val 1290638"/>
              <a:gd name="f10" fmla="val 1663065"/>
              <a:gd name="f11" fmla="val 310515"/>
              <a:gd name="f12" fmla="val 200025"/>
              <a:gd name="f13" fmla="val 89535"/>
              <a:gd name="f14" fmla="val 372428"/>
              <a:gd name="f15" fmla="+- 0 0 -90"/>
              <a:gd name="f16" fmla="*/ f3 1 1657350"/>
              <a:gd name="f17" fmla="*/ f4 1 40005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657350"/>
              <a:gd name="f26" fmla="*/ f22 1 400050"/>
              <a:gd name="f27" fmla="*/ 831533 f23 1"/>
              <a:gd name="f28" fmla="*/ 400050 f22 1"/>
              <a:gd name="f29" fmla="*/ 1663065 f23 1"/>
              <a:gd name="f30" fmla="*/ 200025 f22 1"/>
              <a:gd name="f31" fmla="*/ 0 f22 1"/>
              <a:gd name="f32" fmla="*/ 0 f23 1"/>
              <a:gd name="f33" fmla="+- f24 0 f1"/>
              <a:gd name="f34" fmla="*/ f27 1 1657350"/>
              <a:gd name="f35" fmla="*/ f28 1 400050"/>
              <a:gd name="f36" fmla="*/ f29 1 1657350"/>
              <a:gd name="f37" fmla="*/ f30 1 400050"/>
              <a:gd name="f38" fmla="*/ f31 1 400050"/>
              <a:gd name="f39" fmla="*/ f32 1 1657350"/>
              <a:gd name="f40" fmla="*/ f18 1 f25"/>
              <a:gd name="f41" fmla="*/ f19 1 f25"/>
              <a:gd name="f42" fmla="*/ f18 1 f26"/>
              <a:gd name="f43" fmla="*/ f20 1 f26"/>
              <a:gd name="f44" fmla="*/ f34 1 f25"/>
              <a:gd name="f45" fmla="*/ f35 1 f26"/>
              <a:gd name="f46" fmla="*/ f36 1 f25"/>
              <a:gd name="f47" fmla="*/ f37 1 f26"/>
              <a:gd name="f48" fmla="*/ f38 1 f26"/>
              <a:gd name="f49" fmla="*/ f39 1 f25"/>
              <a:gd name="f50" fmla="*/ f40 f16 1"/>
              <a:gd name="f51" fmla="*/ f41 f16 1"/>
              <a:gd name="f52" fmla="*/ f43 f17 1"/>
              <a:gd name="f53" fmla="*/ f42 f17 1"/>
              <a:gd name="f54" fmla="*/ f44 f16 1"/>
              <a:gd name="f55" fmla="*/ f45 f17 1"/>
              <a:gd name="f56" fmla="*/ f46 f16 1"/>
              <a:gd name="f57" fmla="*/ f47 f17 1"/>
              <a:gd name="f58" fmla="*/ f48 f17 1"/>
              <a:gd name="f59" fmla="*/ f49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4" y="f55"/>
              </a:cxn>
              <a:cxn ang="f33">
                <a:pos x="f56" y="f57"/>
              </a:cxn>
              <a:cxn ang="f33">
                <a:pos x="f54" y="f58"/>
              </a:cxn>
              <a:cxn ang="f33">
                <a:pos x="f59" y="f57"/>
              </a:cxn>
              <a:cxn ang="f33">
                <a:pos x="f54" y="f55"/>
              </a:cxn>
            </a:cxnLst>
            <a:rect l="f50" t="f53" r="f51" b="f52"/>
            <a:pathLst>
              <a:path w="1657350" h="400050">
                <a:moveTo>
                  <a:pt x="f8" y="f7"/>
                </a:moveTo>
                <a:cubicBezTo>
                  <a:pt x="f9" y="f7"/>
                  <a:pt x="f10" y="f11"/>
                  <a:pt x="f10" y="f12"/>
                </a:cubicBezTo>
                <a:cubicBezTo>
                  <a:pt x="f10" y="f13"/>
                  <a:pt x="f9" y="f5"/>
                  <a:pt x="f8" y="f5"/>
                </a:cubicBezTo>
                <a:cubicBezTo>
                  <a:pt x="f14" y="f5"/>
                  <a:pt x="f5" y="f13"/>
                  <a:pt x="f5" y="f12"/>
                </a:cubicBezTo>
                <a:cubicBezTo>
                  <a:pt x="f5" y="f11"/>
                  <a:pt x="f14" y="f7"/>
                  <a:pt x="f8" y="f7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NZ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sp>
        <p:nvSpPr>
          <p:cNvPr id="76" name="TextBox 122">
            <a:extLst>
              <a:ext uri="{FF2B5EF4-FFF2-40B4-BE49-F238E27FC236}">
                <a16:creationId xmlns:a16="http://schemas.microsoft.com/office/drawing/2014/main" id="{1F3D52EF-D177-C240-EF43-0CD3420B3E3E}"/>
              </a:ext>
            </a:extLst>
          </p:cNvPr>
          <p:cNvSpPr txBox="1"/>
          <p:nvPr/>
        </p:nvSpPr>
        <p:spPr>
          <a:xfrm>
            <a:off x="10202340" y="3900179"/>
            <a:ext cx="1348402" cy="12871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2026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Based on the product logo rebrand, new swoosh watermarks were created. First major </a:t>
            </a:r>
            <a:r>
              <a:rPr lang="en-US" sz="700" b="0" i="0" u="none" strike="noStrike" kern="1200" cap="none" spc="20" baseline="0" dirty="0" err="1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BioMar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 Brand Guidelines update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IPO launch support. </a:t>
            </a:r>
          </a:p>
        </p:txBody>
      </p:sp>
      <p:pic>
        <p:nvPicPr>
          <p:cNvPr id="77" name="Graphic 125">
            <a:extLst>
              <a:ext uri="{FF2B5EF4-FFF2-40B4-BE49-F238E27FC236}">
                <a16:creationId xmlns:a16="http://schemas.microsoft.com/office/drawing/2014/main" id="{367A6410-6B74-ADB1-BB9D-F8FB085EA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11116915" y="5385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0" name="Picture 12">
            <a:extLst>
              <a:ext uri="{FF2B5EF4-FFF2-40B4-BE49-F238E27FC236}">
                <a16:creationId xmlns:a16="http://schemas.microsoft.com/office/drawing/2014/main" id="{CF317210-4A63-5E8D-1CE0-2A1B2CE39B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068"/>
          <a:stretch>
            <a:fillRect/>
          </a:stretch>
        </p:blipFill>
        <p:spPr>
          <a:xfrm>
            <a:off x="11052316" y="357246"/>
            <a:ext cx="695675" cy="6162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1" name="Graphic 13">
            <a:extLst>
              <a:ext uri="{FF2B5EF4-FFF2-40B4-BE49-F238E27FC236}">
                <a16:creationId xmlns:a16="http://schemas.microsoft.com/office/drawing/2014/main" id="{82190035-E957-8121-41F6-FEA561D58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4612526" y="1969562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5" name="Freeform: Shape 176">
            <a:extLst>
              <a:ext uri="{FF2B5EF4-FFF2-40B4-BE49-F238E27FC236}">
                <a16:creationId xmlns:a16="http://schemas.microsoft.com/office/drawing/2014/main" id="{13D57376-3C2C-F88A-79EA-BAD11D33FFCB}"/>
              </a:ext>
            </a:extLst>
          </p:cNvPr>
          <p:cNvSpPr/>
          <p:nvPr/>
        </p:nvSpPr>
        <p:spPr>
          <a:xfrm>
            <a:off x="7294260" y="3231827"/>
            <a:ext cx="1761884" cy="1808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359209"/>
              <a:gd name="f7" fmla="val 180869"/>
              <a:gd name="f8" fmla="val 679605"/>
              <a:gd name="f9" fmla="val 180870"/>
              <a:gd name="f10" fmla="val 1054775"/>
              <a:gd name="f11" fmla="val 140577"/>
              <a:gd name="f12" fmla="val 90435"/>
              <a:gd name="f13" fmla="val 40293"/>
              <a:gd name="f14" fmla="val 304434"/>
              <a:gd name="f15" fmla="val 895"/>
              <a:gd name="f16" fmla="val 41188"/>
              <a:gd name="f17" fmla="val 91330"/>
              <a:gd name="f18" fmla="+- 0 0 -90"/>
              <a:gd name="f19" fmla="*/ f3 1 1359209"/>
              <a:gd name="f20" fmla="*/ f4 1 180869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1359209"/>
              <a:gd name="f29" fmla="*/ f25 1 180869"/>
              <a:gd name="f30" fmla="*/ 679605 f26 1"/>
              <a:gd name="f31" fmla="*/ 180870 f25 1"/>
              <a:gd name="f32" fmla="*/ 1359209 f26 1"/>
              <a:gd name="f33" fmla="*/ 90435 f25 1"/>
              <a:gd name="f34" fmla="*/ 0 f25 1"/>
              <a:gd name="f35" fmla="*/ 0 f26 1"/>
              <a:gd name="f36" fmla="*/ 91330 f25 1"/>
              <a:gd name="f37" fmla="+- f27 0 f1"/>
              <a:gd name="f38" fmla="*/ f30 1 1359209"/>
              <a:gd name="f39" fmla="*/ f31 1 180869"/>
              <a:gd name="f40" fmla="*/ f32 1 1359209"/>
              <a:gd name="f41" fmla="*/ f33 1 180869"/>
              <a:gd name="f42" fmla="*/ f34 1 180869"/>
              <a:gd name="f43" fmla="*/ f35 1 1359209"/>
              <a:gd name="f44" fmla="*/ f36 1 180869"/>
              <a:gd name="f45" fmla="*/ f21 1 f28"/>
              <a:gd name="f46" fmla="*/ f22 1 f28"/>
              <a:gd name="f47" fmla="*/ f21 1 f29"/>
              <a:gd name="f48" fmla="*/ f23 1 f29"/>
              <a:gd name="f49" fmla="*/ f38 1 f28"/>
              <a:gd name="f50" fmla="*/ f39 1 f29"/>
              <a:gd name="f51" fmla="*/ f40 1 f28"/>
              <a:gd name="f52" fmla="*/ f41 1 f29"/>
              <a:gd name="f53" fmla="*/ f42 1 f29"/>
              <a:gd name="f54" fmla="*/ f43 1 f28"/>
              <a:gd name="f55" fmla="*/ f44 1 f29"/>
              <a:gd name="f56" fmla="*/ f45 f19 1"/>
              <a:gd name="f57" fmla="*/ f46 f19 1"/>
              <a:gd name="f58" fmla="*/ f48 f20 1"/>
              <a:gd name="f59" fmla="*/ f47 f20 1"/>
              <a:gd name="f60" fmla="*/ f49 f19 1"/>
              <a:gd name="f61" fmla="*/ f50 f20 1"/>
              <a:gd name="f62" fmla="*/ f51 f19 1"/>
              <a:gd name="f63" fmla="*/ f52 f20 1"/>
              <a:gd name="f64" fmla="*/ f53 f20 1"/>
              <a:gd name="f65" fmla="*/ f54 f19 1"/>
              <a:gd name="f66" fmla="*/ f55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60" y="f61"/>
              </a:cxn>
              <a:cxn ang="f37">
                <a:pos x="f62" y="f63"/>
              </a:cxn>
              <a:cxn ang="f37">
                <a:pos x="f60" y="f64"/>
              </a:cxn>
              <a:cxn ang="f37">
                <a:pos x="f65" y="f66"/>
              </a:cxn>
              <a:cxn ang="f37">
                <a:pos x="f60" y="f61"/>
              </a:cxn>
            </a:cxnLst>
            <a:rect l="f56" t="f59" r="f57" b="f58"/>
            <a:pathLst>
              <a:path w="1359209" h="180869">
                <a:moveTo>
                  <a:pt x="f8" y="f9"/>
                </a:moveTo>
                <a:cubicBezTo>
                  <a:pt x="f10" y="f9"/>
                  <a:pt x="f6" y="f11"/>
                  <a:pt x="f6" y="f12"/>
                </a:cubicBezTo>
                <a:cubicBezTo>
                  <a:pt x="f6" y="f13"/>
                  <a:pt x="f10" y="f5"/>
                  <a:pt x="f8" y="f5"/>
                </a:cubicBezTo>
                <a:cubicBezTo>
                  <a:pt x="f14" y="f15"/>
                  <a:pt x="f5" y="f16"/>
                  <a:pt x="f5" y="f17"/>
                </a:cubicBezTo>
                <a:cubicBezTo>
                  <a:pt x="f5" y="f11"/>
                  <a:pt x="f14" y="f9"/>
                  <a:pt x="f8" y="f9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K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0D1A3062-6686-D60E-E7CA-10D52C0D8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332" y="5285227"/>
            <a:ext cx="175357" cy="80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BA033B0-33F0-E6AC-3C29-A00F71EA7D2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A2D0036-FE9D-1720-94CE-41483992450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/>
              <a:t>Key </a:t>
            </a:r>
            <a:r>
              <a:rPr lang="es-ES" err="1"/>
              <a:t>elements</a:t>
            </a:r>
            <a:r>
              <a:rPr lang="es-ES"/>
              <a:t>:</a:t>
            </a:r>
          </a:p>
          <a:p>
            <a:r>
              <a:rPr lang="es-ES"/>
              <a:t>Logo </a:t>
            </a:r>
            <a:r>
              <a:rPr lang="es-ES" err="1"/>
              <a:t>usage</a:t>
            </a:r>
            <a:endParaRPr lang="es-ES"/>
          </a:p>
          <a:p>
            <a:r>
              <a:rPr lang="es-ES" err="1"/>
              <a:t>Typography</a:t>
            </a:r>
            <a:endParaRPr lang="es-ES"/>
          </a:p>
          <a:p>
            <a:r>
              <a:rPr lang="es-ES"/>
              <a:t>Color </a:t>
            </a:r>
            <a:r>
              <a:rPr lang="es-ES" err="1"/>
              <a:t>palette</a:t>
            </a:r>
            <a:endParaRPr lang="es-ES"/>
          </a:p>
          <a:p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principles</a:t>
            </a:r>
            <a:endParaRPr lang="es-ES"/>
          </a:p>
          <a:p>
            <a:r>
              <a:rPr lang="es-ES" err="1"/>
              <a:t>Imagery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  <a:p>
            <a:r>
              <a:rPr lang="es-ES"/>
              <a:t>Tone and </a:t>
            </a:r>
            <a:r>
              <a:rPr lang="es-ES" err="1"/>
              <a:t>consistency</a:t>
            </a:r>
            <a:endParaRPr lang="es-ES"/>
          </a:p>
          <a:p>
            <a:r>
              <a:rPr lang="es-ES"/>
              <a:t>Digital vs </a:t>
            </a:r>
            <a:r>
              <a:rPr lang="es-ES" err="1"/>
              <a:t>print</a:t>
            </a:r>
            <a:r>
              <a:rPr lang="es-ES"/>
              <a:t> </a:t>
            </a:r>
            <a:r>
              <a:rPr lang="es-ES" err="1"/>
              <a:t>applications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Guidelines are tools to support consistency while allowing flexibility for communication needs.</a:t>
            </a:r>
            <a:endParaRPr lang="es-ES" b="1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2594A7-F38F-B370-BCC6-33CA597DE9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D561733-A581-AA7D-1F08-26459B14A83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873600"/>
            <a:ext cx="4602915" cy="360000"/>
          </a:xfrm>
        </p:spPr>
        <p:txBody>
          <a:bodyPr>
            <a:normAutofit/>
          </a:bodyPr>
          <a:lstStyle/>
          <a:p>
            <a:r>
              <a:rPr lang="es-ES"/>
              <a:t>Visual Branding &amp;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Governance</a:t>
            </a:r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63DAD54-7E8D-77E1-F811-AE16D545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Brand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82519BB-8ACE-B983-5CF9-FE455912D633}"/>
              </a:ext>
            </a:extLst>
          </p:cNvPr>
          <p:cNvGrpSpPr/>
          <p:nvPr/>
        </p:nvGrpSpPr>
        <p:grpSpPr>
          <a:xfrm rot="21035476">
            <a:off x="1277402" y="958018"/>
            <a:ext cx="3541197" cy="4941963"/>
            <a:chOff x="3674832" y="0"/>
            <a:chExt cx="4914147" cy="685800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99A2F26-13CD-64B6-D6DB-EFC05ED4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7489"/>
            <a:stretch>
              <a:fillRect/>
            </a:stretch>
          </p:blipFill>
          <p:spPr>
            <a:xfrm>
              <a:off x="3674832" y="0"/>
              <a:ext cx="121604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C8BA8A8-96B5-1442-66A7-E34BB71F8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6643" y="0"/>
              <a:ext cx="4842336" cy="68580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36748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47E3-820D-63B7-4F88-696FFD1E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D1BD1C-4A20-DA3D-6C3A-D823ED08ED05}"/>
              </a:ext>
            </a:extLst>
          </p:cNvPr>
          <p:cNvSpPr/>
          <p:nvPr/>
        </p:nvSpPr>
        <p:spPr>
          <a:xfrm>
            <a:off x="468001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BD5EC50-CE12-DA44-12A3-52351BBBD99B}"/>
              </a:ext>
            </a:extLst>
          </p:cNvPr>
          <p:cNvSpPr/>
          <p:nvPr/>
        </p:nvSpPr>
        <p:spPr>
          <a:xfrm>
            <a:off x="4251674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43BF47-148D-9FE0-F926-3998B7188003}"/>
              </a:ext>
            </a:extLst>
          </p:cNvPr>
          <p:cNvSpPr/>
          <p:nvPr/>
        </p:nvSpPr>
        <p:spPr>
          <a:xfrm>
            <a:off x="8035350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B8F971-9DE6-F328-F58C-A92412D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3BC63E1-459C-3AA1-B2CB-488A70FC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Additional</a:t>
            </a:r>
            <a:r>
              <a:rPr lang="es-ES"/>
              <a:t>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1AA7554-444C-0DEC-08BA-81657B54938F}"/>
              </a:ext>
            </a:extLst>
          </p:cNvPr>
          <p:cNvGrpSpPr/>
          <p:nvPr/>
        </p:nvGrpSpPr>
        <p:grpSpPr>
          <a:xfrm rot="21099594">
            <a:off x="1438611" y="1727137"/>
            <a:ext cx="1740678" cy="2439754"/>
            <a:chOff x="1241115" y="866996"/>
            <a:chExt cx="3545853" cy="4969906"/>
          </a:xfrm>
        </p:grpSpPr>
        <p:pic>
          <p:nvPicPr>
            <p:cNvPr id="18" name="Imagen 17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C1EAF8E5-57DC-108A-3C2D-6E4E7024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499"/>
            <a:stretch>
              <a:fillRect/>
            </a:stretch>
          </p:blipFill>
          <p:spPr>
            <a:xfrm>
              <a:off x="1241115" y="866996"/>
              <a:ext cx="52393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Imagen 18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7700185F-34CA-9A5D-29CF-780F254E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590" y="866996"/>
              <a:ext cx="3490378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A5C8CA-FF4A-E400-C9FF-34C92B182870}"/>
              </a:ext>
            </a:extLst>
          </p:cNvPr>
          <p:cNvSpPr txBox="1"/>
          <p:nvPr/>
        </p:nvSpPr>
        <p:spPr>
          <a:xfrm>
            <a:off x="671648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Product communication standards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Packaging/product visual alignment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67B7B8-5866-6A91-2A97-A453F7009206}"/>
              </a:ext>
            </a:extLst>
          </p:cNvPr>
          <p:cNvSpPr txBox="1"/>
          <p:nvPr/>
        </p:nvSpPr>
        <p:spPr>
          <a:xfrm>
            <a:off x="44586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Art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Lighting &amp; framing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Image selection principles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D1BF643-91F1-0905-8905-D1B3328A3380}"/>
              </a:ext>
            </a:extLst>
          </p:cNvPr>
          <p:cNvSpPr txBox="1"/>
          <p:nvPr/>
        </p:nvSpPr>
        <p:spPr>
          <a:xfrm>
            <a:off x="82389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Employee/profile photography consistency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DA09812E-FB4C-7CE4-566A-A8163F841428}"/>
              </a:ext>
            </a:extLst>
          </p:cNvPr>
          <p:cNvGrpSpPr/>
          <p:nvPr/>
        </p:nvGrpSpPr>
        <p:grpSpPr>
          <a:xfrm rot="21021273">
            <a:off x="4803724" y="2184137"/>
            <a:ext cx="2526914" cy="1397322"/>
            <a:chOff x="4581525" y="2092109"/>
            <a:chExt cx="2952236" cy="1632515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9A30E868-EF32-8F1C-C5C0-6D97FCF43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 r="98429"/>
            <a:stretch>
              <a:fillRect/>
            </a:stretch>
          </p:blipFill>
          <p:spPr>
            <a:xfrm>
              <a:off x="4581525" y="2092109"/>
              <a:ext cx="45719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4269D18-98CA-C668-F054-62D73DAEE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/>
            <a:stretch>
              <a:fillRect/>
            </a:stretch>
          </p:blipFill>
          <p:spPr>
            <a:xfrm>
              <a:off x="4622839" y="2092109"/>
              <a:ext cx="2910922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2E0F80E-62CD-54DE-4D85-86E9C78B1E5B}"/>
              </a:ext>
            </a:extLst>
          </p:cNvPr>
          <p:cNvGrpSpPr/>
          <p:nvPr/>
        </p:nvGrpSpPr>
        <p:grpSpPr>
          <a:xfrm rot="21024756">
            <a:off x="8616115" y="2062714"/>
            <a:ext cx="2520370" cy="1391759"/>
            <a:chOff x="7654040" y="2111259"/>
            <a:chExt cx="2895675" cy="1599004"/>
          </a:xfrm>
        </p:grpSpPr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E005AA5-9A24-7B6B-D14D-D9E9857DA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 r="97231"/>
            <a:stretch>
              <a:fillRect/>
            </a:stretch>
          </p:blipFill>
          <p:spPr>
            <a:xfrm>
              <a:off x="7654040" y="2111259"/>
              <a:ext cx="792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4E611B34-D2DD-EF17-C70D-9A34114B5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/>
            <a:stretch>
              <a:fillRect/>
            </a:stretch>
          </p:blipFill>
          <p:spPr>
            <a:xfrm>
              <a:off x="7687552" y="2111259"/>
              <a:ext cx="28621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B37BA42-BA12-1C9E-CB1B-EA89CDE82E64}"/>
              </a:ext>
            </a:extLst>
          </p:cNvPr>
          <p:cNvSpPr/>
          <p:nvPr/>
        </p:nvSpPr>
        <p:spPr>
          <a:xfrm>
            <a:off x="7733303" y="350151"/>
            <a:ext cx="3256589" cy="615524"/>
          </a:xfrm>
          <a:prstGeom prst="roundRect">
            <a:avLst>
              <a:gd name="adj" fmla="val 913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available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The Pond</a:t>
            </a:r>
          </a:p>
        </p:txBody>
      </p:sp>
    </p:spTree>
    <p:extLst>
      <p:ext uri="{BB962C8B-B14F-4D97-AF65-F5344CB8AC3E}">
        <p14:creationId xmlns:p14="http://schemas.microsoft.com/office/powerpoint/2010/main" val="301636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CBF57F-7DA7-D5B4-E0BC-FCB29199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6EED02-AFB4-4AD3-09B7-C57D502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Recent</a:t>
            </a:r>
            <a:r>
              <a:rPr lang="es-ES"/>
              <a:t> Logo Rebranding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8EE78D-0A25-AFB7-B57C-4F863027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1" y="3123822"/>
            <a:ext cx="4635844" cy="258956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337C491-42BA-6557-2501-2BAC29DD017B}"/>
              </a:ext>
            </a:extLst>
          </p:cNvPr>
          <p:cNvSpPr txBox="1"/>
          <p:nvPr/>
        </p:nvSpPr>
        <p:spPr>
          <a:xfrm>
            <a:off x="468000" y="1675602"/>
            <a:ext cx="5451071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Before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were treated independently from </a:t>
            </a:r>
            <a:r>
              <a:rPr lang="en-US" err="1">
                <a:solidFill>
                  <a:schemeClr val="tx2"/>
                </a:solidFill>
              </a:rPr>
              <a:t>eachother</a:t>
            </a:r>
            <a:r>
              <a:rPr lang="en-US">
                <a:solidFill>
                  <a:schemeClr val="tx2"/>
                </a:solidFill>
              </a:rPr>
              <a:t>. No alignment between them. Seem to be from different parents.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0C3802-A1B3-C85A-7087-0FB609A9310F}"/>
              </a:ext>
            </a:extLst>
          </p:cNvPr>
          <p:cNvSpPr txBox="1"/>
          <p:nvPr/>
        </p:nvSpPr>
        <p:spPr>
          <a:xfrm>
            <a:off x="6068055" y="1675602"/>
            <a:ext cx="5649195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Now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All brands follow the same framework. Seem from the same parents. Have the swoosh.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4C4A20E-067A-05D0-A64D-95C54A3DA7B8}"/>
              </a:ext>
            </a:extLst>
          </p:cNvPr>
          <p:cNvGrpSpPr/>
          <p:nvPr/>
        </p:nvGrpSpPr>
        <p:grpSpPr>
          <a:xfrm>
            <a:off x="6068055" y="3444502"/>
            <a:ext cx="5715682" cy="1737896"/>
            <a:chOff x="468000" y="1605733"/>
            <a:chExt cx="11094563" cy="3373386"/>
          </a:xfrm>
        </p:grpSpPr>
        <p:pic>
          <p:nvPicPr>
            <p:cNvPr id="13" name="Picture 27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6A933D1E-5C26-EB26-6C19-C57F8753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00" y="1605733"/>
              <a:ext cx="1977857" cy="517841"/>
            </a:xfrm>
            <a:prstGeom prst="rect">
              <a:avLst/>
            </a:prstGeom>
          </p:spPr>
        </p:pic>
        <p:pic>
          <p:nvPicPr>
            <p:cNvPr id="14" name="Picture 38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41F939F-E788-0130-6171-AD37657A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700" y="1727200"/>
              <a:ext cx="1538152" cy="396374"/>
            </a:xfrm>
            <a:prstGeom prst="rect">
              <a:avLst/>
            </a:prstGeom>
          </p:spPr>
        </p:pic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1D48CBD7-F935-CE55-AD3F-85D568CC8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4991" y="1664906"/>
              <a:ext cx="2106562" cy="457106"/>
            </a:xfrm>
            <a:prstGeom prst="rect">
              <a:avLst/>
            </a:prstGeom>
          </p:spPr>
        </p:pic>
        <p:pic>
          <p:nvPicPr>
            <p:cNvPr id="16" name="Picture 40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046A2FF8-F25E-C1DB-262B-25FCE9921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1751603"/>
              <a:ext cx="1317665" cy="347568"/>
            </a:xfrm>
            <a:prstGeom prst="rect">
              <a:avLst/>
            </a:prstGeom>
          </p:spPr>
        </p:pic>
        <p:pic>
          <p:nvPicPr>
            <p:cNvPr id="17" name="Picture 33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12BFB078-6331-7C70-A5FF-30FD972D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9390" y="1664905"/>
              <a:ext cx="1823173" cy="457105"/>
            </a:xfrm>
            <a:prstGeom prst="rect">
              <a:avLst/>
            </a:prstGeom>
          </p:spPr>
        </p:pic>
        <p:pic>
          <p:nvPicPr>
            <p:cNvPr id="18" name="Picture 7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0A5DDC7-8EB3-374A-6CB2-2695E21A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946" y="3102101"/>
              <a:ext cx="1786337" cy="450169"/>
            </a:xfrm>
            <a:prstGeom prst="rect">
              <a:avLst/>
            </a:prstGeom>
          </p:spPr>
        </p:pic>
        <p:pic>
          <p:nvPicPr>
            <p:cNvPr id="19" name="Picture 13" descr="A blue letter on a black background&#10;&#10;AI-generated content may be incorrect.">
              <a:extLst>
                <a:ext uri="{FF2B5EF4-FFF2-40B4-BE49-F238E27FC236}">
                  <a16:creationId xmlns:a16="http://schemas.microsoft.com/office/drawing/2014/main" id="{16B63C32-2196-357A-32A1-12081E170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21" y="3050558"/>
              <a:ext cx="1652933" cy="516277"/>
            </a:xfrm>
            <a:prstGeom prst="rect">
              <a:avLst/>
            </a:prstGeom>
          </p:spPr>
        </p:pic>
        <p:pic>
          <p:nvPicPr>
            <p:cNvPr id="20" name="Picture 36" descr="A blue x on a black background&#10;&#10;AI-generated content may be incorrect.">
              <a:extLst>
                <a:ext uri="{FF2B5EF4-FFF2-40B4-BE49-F238E27FC236}">
                  <a16:creationId xmlns:a16="http://schemas.microsoft.com/office/drawing/2014/main" id="{A8CED776-6945-7783-E68B-3364047B9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5988" y="3081221"/>
              <a:ext cx="1663960" cy="454950"/>
            </a:xfrm>
            <a:prstGeom prst="rect">
              <a:avLst/>
            </a:prstGeom>
          </p:spPr>
        </p:pic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5944E20A-C2C3-323A-E33A-42782FD8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9430" y="3210058"/>
              <a:ext cx="1929971" cy="302386"/>
            </a:xfrm>
            <a:prstGeom prst="rect">
              <a:avLst/>
            </a:prstGeom>
          </p:spPr>
        </p:pic>
        <p:pic>
          <p:nvPicPr>
            <p:cNvPr id="22" name="Picture 19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74F94B53-4083-5471-DF30-2FE789D46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9454" y="3067155"/>
              <a:ext cx="1557733" cy="499680"/>
            </a:xfrm>
            <a:prstGeom prst="rect">
              <a:avLst/>
            </a:prstGeom>
          </p:spPr>
        </p:pic>
        <p:pic>
          <p:nvPicPr>
            <p:cNvPr id="23" name="Imagen 22" descr="Logotipo&#10;&#10;El contenido generado por IA puede ser incorrecto.">
              <a:extLst>
                <a:ext uri="{FF2B5EF4-FFF2-40B4-BE49-F238E27FC236}">
                  <a16:creationId xmlns:a16="http://schemas.microsoft.com/office/drawing/2014/main" id="{85C61463-D27B-790E-BA55-AD2AC20E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85" y="4489045"/>
              <a:ext cx="1790236" cy="450401"/>
            </a:xfrm>
            <a:prstGeom prst="rect">
              <a:avLst/>
            </a:prstGeom>
          </p:spPr>
        </p:pic>
        <p:pic>
          <p:nvPicPr>
            <p:cNvPr id="24" name="Imagen 23" descr="Logotipo&#10;&#10;El contenido generado por IA puede ser incorrecto.">
              <a:extLst>
                <a:ext uri="{FF2B5EF4-FFF2-40B4-BE49-F238E27FC236}">
                  <a16:creationId xmlns:a16="http://schemas.microsoft.com/office/drawing/2014/main" id="{66730836-A3A0-3D92-A48A-8DC0A9AE7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519" y="4446581"/>
              <a:ext cx="1581307" cy="532538"/>
            </a:xfrm>
            <a:prstGeom prst="rect">
              <a:avLst/>
            </a:prstGeom>
          </p:spPr>
        </p:pic>
        <p:pic>
          <p:nvPicPr>
            <p:cNvPr id="25" name="Picture 16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DC880FAA-CEC8-A5EB-08D0-EDA615001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9217" y="4575385"/>
              <a:ext cx="1839793" cy="321774"/>
            </a:xfrm>
            <a:prstGeom prst="rect">
              <a:avLst/>
            </a:prstGeom>
          </p:spPr>
        </p:pic>
        <p:pic>
          <p:nvPicPr>
            <p:cNvPr id="26" name="Imagen 25" descr="Imagen que contiene objeto, reloj, dibujo, señal&#10;&#10;El contenido generado por IA puede ser incorrecto.">
              <a:extLst>
                <a:ext uri="{FF2B5EF4-FFF2-40B4-BE49-F238E27FC236}">
                  <a16:creationId xmlns:a16="http://schemas.microsoft.com/office/drawing/2014/main" id="{D2D8739A-A482-ACF9-EF18-FCC4985AD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1639" y="4489045"/>
              <a:ext cx="1343974" cy="430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904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81BAB2-36C5-94AA-DB9E-1CD6CAA6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8DABD4-B4E8-0833-80E0-E2D93EBB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Ways </a:t>
            </a:r>
            <a:r>
              <a:rPr lang="es-ES" dirty="0" err="1"/>
              <a:t>of</a:t>
            </a:r>
            <a:r>
              <a:rPr lang="es-ES" dirty="0"/>
              <a:t> Working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E44DE60-BF44-5FF6-7C54-0142AB69796B}"/>
              </a:ext>
            </a:extLst>
          </p:cNvPr>
          <p:cNvSpPr/>
          <p:nvPr/>
        </p:nvSpPr>
        <p:spPr>
          <a:xfrm>
            <a:off x="761999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177A4AF-FE98-992F-9BDB-5672BBC4BCE9}"/>
              </a:ext>
            </a:extLst>
          </p:cNvPr>
          <p:cNvSpPr/>
          <p:nvPr/>
        </p:nvSpPr>
        <p:spPr>
          <a:xfrm>
            <a:off x="1418168" y="2920094"/>
            <a:ext cx="765118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BF7357C-1822-C2C6-6C27-C90B3028D0D7}"/>
              </a:ext>
            </a:extLst>
          </p:cNvPr>
          <p:cNvSpPr/>
          <p:nvPr/>
        </p:nvSpPr>
        <p:spPr>
          <a:xfrm>
            <a:off x="762001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 meetings</a:t>
            </a:r>
            <a:endParaRPr lang="en-US" sz="2200">
              <a:latin typeface="+mj-lt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E984D5D-3005-6039-A899-C8E5931A43B1}"/>
              </a:ext>
            </a:extLst>
          </p:cNvPr>
          <p:cNvSpPr/>
          <p:nvPr/>
        </p:nvSpPr>
        <p:spPr>
          <a:xfrm>
            <a:off x="762000" y="4070655"/>
            <a:ext cx="3239328" cy="11454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Ongoing project alignment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Prioritization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Capacity overview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Cross-functional coordination</a:t>
            </a:r>
            <a:endParaRPr lang="en-US" sz="1200">
              <a:latin typeface="+mj-lt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5BE9AFA-1545-06FC-210D-B50285D7401A}"/>
              </a:ext>
            </a:extLst>
          </p:cNvPr>
          <p:cNvSpPr/>
          <p:nvPr/>
        </p:nvSpPr>
        <p:spPr>
          <a:xfrm>
            <a:off x="4555047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BCA5CEF-BAA9-8508-AAE4-CC57C035F9B5}"/>
              </a:ext>
            </a:extLst>
          </p:cNvPr>
          <p:cNvSpPr/>
          <p:nvPr/>
        </p:nvSpPr>
        <p:spPr>
          <a:xfrm>
            <a:off x="5211216" y="2920094"/>
            <a:ext cx="572464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400F744-032A-F088-BB35-748F0B0087C2}"/>
              </a:ext>
            </a:extLst>
          </p:cNvPr>
          <p:cNvSpPr/>
          <p:nvPr/>
        </p:nvSpPr>
        <p:spPr>
          <a:xfrm>
            <a:off x="4555049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 collaboration</a:t>
            </a:r>
            <a:endParaRPr lang="en-US" sz="2200">
              <a:latin typeface="+mj-lt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5000485-C623-9B64-D92C-5E72C4D11C33}"/>
              </a:ext>
            </a:extLst>
          </p:cNvPr>
          <p:cNvSpPr/>
          <p:nvPr/>
        </p:nvSpPr>
        <p:spPr>
          <a:xfrm>
            <a:off x="4555048" y="4107231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Feedback loops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Stakeholder communication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Iterative review process</a:t>
            </a:r>
            <a:endParaRPr lang="en-US" sz="1200">
              <a:latin typeface="+mj-lt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F8E7DC3-B399-90B6-C55F-FE6393DEF570}"/>
              </a:ext>
            </a:extLst>
          </p:cNvPr>
          <p:cNvSpPr/>
          <p:nvPr/>
        </p:nvSpPr>
        <p:spPr>
          <a:xfrm>
            <a:off x="8348095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4CC0134-817E-7749-F0D5-2ECC61D03F7F}"/>
              </a:ext>
            </a:extLst>
          </p:cNvPr>
          <p:cNvSpPr/>
          <p:nvPr/>
        </p:nvSpPr>
        <p:spPr>
          <a:xfrm>
            <a:off x="9004264" y="2920094"/>
            <a:ext cx="113392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ALWAYS-ON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3C6EC60-54AC-35E2-9DEF-88DED413508F}"/>
              </a:ext>
            </a:extLst>
          </p:cNvPr>
          <p:cNvSpPr/>
          <p:nvPr/>
        </p:nvSpPr>
        <p:spPr>
          <a:xfrm>
            <a:off x="8348097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File &amp; asset management</a:t>
            </a:r>
            <a:endParaRPr lang="en-US" sz="2200">
              <a:latin typeface="+mj-lt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44A995B-417E-23DF-9045-3F8B872CEDC6}"/>
              </a:ext>
            </a:extLst>
          </p:cNvPr>
          <p:cNvSpPr/>
          <p:nvPr/>
        </p:nvSpPr>
        <p:spPr>
          <a:xfrm>
            <a:off x="8348096" y="4436415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Shared systems &amp; organization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Version control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Accessibility across teams</a:t>
            </a:r>
            <a:endParaRPr lang="en-US" sz="1200">
              <a:latin typeface="+mj-lt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5FDF139-CA0E-692E-04AA-07709FA14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054" y="2830483"/>
            <a:ext cx="363556" cy="36232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D08DED4-E26E-AAEB-1BF6-00A50CFCB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074" y="2859018"/>
            <a:ext cx="317885" cy="305254"/>
          </a:xfrm>
          <a:prstGeom prst="rect">
            <a:avLst/>
          </a:prstGeom>
        </p:spPr>
      </p:pic>
      <p:pic>
        <p:nvPicPr>
          <p:cNvPr id="31" name="Graphic 30" descr="Folder with solid fill">
            <a:extLst>
              <a:ext uri="{FF2B5EF4-FFF2-40B4-BE49-F238E27FC236}">
                <a16:creationId xmlns:a16="http://schemas.microsoft.com/office/drawing/2014/main" id="{44FBA302-4A9B-1FE1-58E1-B82A94F9A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960" y="2793221"/>
            <a:ext cx="440305" cy="4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48CA-223B-DB8D-1E84-7A7162F3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BD566-DCB3-1EB3-4B1B-34E76DD3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5DF3C96-3BD5-9F09-0644-69842B4B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Current </a:t>
            </a:r>
            <a:r>
              <a:rPr lang="es-ES" err="1"/>
              <a:t>Challenges</a:t>
            </a:r>
            <a:r>
              <a:rPr lang="es-ES"/>
              <a:t> &amp; </a:t>
            </a:r>
            <a:r>
              <a:rPr lang="es-ES" err="1"/>
              <a:t>Opportunities</a:t>
            </a:r>
            <a:endParaRPr lang="es-E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5CDD65-A41D-5523-D170-CDB5863F1336}"/>
              </a:ext>
            </a:extLst>
          </p:cNvPr>
          <p:cNvSpPr/>
          <p:nvPr/>
        </p:nvSpPr>
        <p:spPr>
          <a:xfrm>
            <a:off x="508000" y="2602727"/>
            <a:ext cx="5181601" cy="3413511"/>
          </a:xfrm>
          <a:prstGeom prst="roundRect">
            <a:avLst>
              <a:gd name="adj" fmla="val 4979"/>
            </a:avLst>
          </a:prstGeom>
          <a:solidFill>
            <a:srgbClr val="0471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K" sz="12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BF4185A-81F3-DD11-E741-6AEA7022652B}"/>
              </a:ext>
            </a:extLst>
          </p:cNvPr>
          <p:cNvSpPr/>
          <p:nvPr/>
        </p:nvSpPr>
        <p:spPr>
          <a:xfrm>
            <a:off x="765629" y="2860357"/>
            <a:ext cx="4806333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FFFFFF">
                    <a:alpha val="55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TODAY – hub 2.0</a:t>
            </a:r>
            <a:endParaRPr lang="en-US" sz="1200">
              <a:latin typeface="+mj-lt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C59AF76-AEF7-6730-6A49-94B71A1EAF52}"/>
              </a:ext>
            </a:extLst>
          </p:cNvPr>
          <p:cNvSpPr/>
          <p:nvPr/>
        </p:nvSpPr>
        <p:spPr>
          <a:xfrm>
            <a:off x="765629" y="3117986"/>
            <a:ext cx="4806333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Current challenges</a:t>
            </a:r>
            <a:endParaRPr lang="en-US" sz="2100">
              <a:latin typeface="+mj-lt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4F43DFA-217B-B32C-4BF7-FD08840836AF}"/>
              </a:ext>
            </a:extLst>
          </p:cNvPr>
          <p:cNvSpPr/>
          <p:nvPr/>
        </p:nvSpPr>
        <p:spPr>
          <a:xfrm>
            <a:off x="765629" y="3658643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091C48D-3B65-A55B-3A12-AB4B69D948EB}"/>
              </a:ext>
            </a:extLst>
          </p:cNvPr>
          <p:cNvSpPr/>
          <p:nvPr/>
        </p:nvSpPr>
        <p:spPr>
          <a:xfrm>
            <a:off x="879929" y="3747543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Volume of requests is increasing</a:t>
            </a:r>
            <a:endParaRPr lang="en-US" sz="1100"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B6EEE0F-415C-8FD2-8788-EC96207B71CB}"/>
              </a:ext>
            </a:extLst>
          </p:cNvPr>
          <p:cNvSpPr/>
          <p:nvPr/>
        </p:nvSpPr>
        <p:spPr>
          <a:xfrm>
            <a:off x="765629" y="4117657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36339E1-16F8-3160-7B19-978133068893}"/>
              </a:ext>
            </a:extLst>
          </p:cNvPr>
          <p:cNvSpPr/>
          <p:nvPr/>
        </p:nvSpPr>
        <p:spPr>
          <a:xfrm>
            <a:off x="879929" y="4206557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Global consistency vs local flexibility</a:t>
            </a:r>
            <a:endParaRPr lang="en-US" sz="1100">
              <a:latin typeface="+mj-lt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1876368-920D-403B-BF03-3CADDBE423EB}"/>
              </a:ext>
            </a:extLst>
          </p:cNvPr>
          <p:cNvSpPr/>
          <p:nvPr/>
        </p:nvSpPr>
        <p:spPr>
          <a:xfrm>
            <a:off x="765629" y="4576672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F0120C4-9BDF-E483-D69F-10CFB52260D3}"/>
              </a:ext>
            </a:extLst>
          </p:cNvPr>
          <p:cNvSpPr/>
          <p:nvPr/>
        </p:nvSpPr>
        <p:spPr>
          <a:xfrm>
            <a:off x="879929" y="4665572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Scaling processes efficiently</a:t>
            </a:r>
            <a:endParaRPr lang="en-US" sz="1100">
              <a:latin typeface="+mj-lt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82E04E0-E8E2-F229-D0B9-B86673639819}"/>
              </a:ext>
            </a:extLst>
          </p:cNvPr>
          <p:cNvSpPr/>
          <p:nvPr/>
        </p:nvSpPr>
        <p:spPr>
          <a:xfrm>
            <a:off x="765629" y="5035686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5DDFF66-E0E4-F9E8-B0A1-28D4083C1E5D}"/>
              </a:ext>
            </a:extLst>
          </p:cNvPr>
          <p:cNvSpPr/>
          <p:nvPr/>
        </p:nvSpPr>
        <p:spPr>
          <a:xfrm>
            <a:off x="879929" y="5124586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 across channels, local </a:t>
            </a:r>
            <a:r>
              <a:rPr lang="en-US" sz="1100" kern="0" spc="-4" err="1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scalling</a:t>
            </a:r>
            <a:endParaRPr lang="en-US" sz="1100">
              <a:latin typeface="+mj-lt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66AEA67-6032-EED6-6E1F-160AF48DD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1" y="4191000"/>
            <a:ext cx="508000" cy="508000"/>
          </a:xfrm>
          <a:prstGeom prst="rect">
            <a:avLst/>
          </a:prstGeom>
        </p:spPr>
      </p:pic>
      <p:sp>
        <p:nvSpPr>
          <p:cNvPr id="22" name="Shape 16">
            <a:extLst>
              <a:ext uri="{FF2B5EF4-FFF2-40B4-BE49-F238E27FC236}">
                <a16:creationId xmlns:a16="http://schemas.microsoft.com/office/drawing/2014/main" id="{A0D5B252-3A72-B375-3ED2-4B060EA27AD8}"/>
              </a:ext>
            </a:extLst>
          </p:cNvPr>
          <p:cNvSpPr/>
          <p:nvPr/>
        </p:nvSpPr>
        <p:spPr>
          <a:xfrm>
            <a:off x="6502400" y="2602727"/>
            <a:ext cx="5181601" cy="3413511"/>
          </a:xfrm>
          <a:prstGeom prst="roundRect">
            <a:avLst>
              <a:gd name="adj" fmla="val 4991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15BFF70-0B76-2F98-96C9-45F1DA7D0BA3}"/>
              </a:ext>
            </a:extLst>
          </p:cNvPr>
          <p:cNvSpPr/>
          <p:nvPr/>
        </p:nvSpPr>
        <p:spPr>
          <a:xfrm>
            <a:off x="6756400" y="2856727"/>
            <a:ext cx="4813809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1F3E77">
                    <a:alpha val="70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Hub 3.0</a:t>
            </a:r>
            <a:endParaRPr lang="en-US" sz="1200"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AD5D9D1-4DE4-CAD7-D62D-23A5991D122F}"/>
              </a:ext>
            </a:extLst>
          </p:cNvPr>
          <p:cNvSpPr/>
          <p:nvPr/>
        </p:nvSpPr>
        <p:spPr>
          <a:xfrm>
            <a:off x="6756400" y="3114356"/>
            <a:ext cx="4813809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Opportunities</a:t>
            </a:r>
            <a:endParaRPr lang="en-US" sz="2100">
              <a:latin typeface="+mj-lt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5E0B9BA-6340-578F-9CD1-5227D45B5874}"/>
              </a:ext>
            </a:extLst>
          </p:cNvPr>
          <p:cNvSpPr/>
          <p:nvPr/>
        </p:nvSpPr>
        <p:spPr>
          <a:xfrm>
            <a:off x="6756400" y="3655013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CD8D890-093D-317D-C862-BF6AE9601CA6}"/>
              </a:ext>
            </a:extLst>
          </p:cNvPr>
          <p:cNvSpPr/>
          <p:nvPr/>
        </p:nvSpPr>
        <p:spPr>
          <a:xfrm>
            <a:off x="6870700" y="3743913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Swift on necessities + Campaigns, storytelling and events</a:t>
            </a:r>
            <a:endParaRPr lang="en-US" sz="1100">
              <a:latin typeface="+mj-lt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1E698B3-E796-5164-A38A-B2EDE82C96DC}"/>
              </a:ext>
            </a:extLst>
          </p:cNvPr>
          <p:cNvSpPr/>
          <p:nvPr/>
        </p:nvSpPr>
        <p:spPr>
          <a:xfrm>
            <a:off x="6756400" y="4114027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93DB49E-CE4B-6B77-FEF5-FF7B56284DCD}"/>
              </a:ext>
            </a:extLst>
          </p:cNvPr>
          <p:cNvSpPr/>
          <p:nvPr/>
        </p:nvSpPr>
        <p:spPr>
          <a:xfrm>
            <a:off x="6870700" y="4202927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Enhance collaboration, scale the hub resources</a:t>
            </a:r>
            <a:endParaRPr lang="en-US" sz="1100">
              <a:latin typeface="+mj-lt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D9D29B59-9A89-440C-0715-8C5C50F1CA20}"/>
              </a:ext>
            </a:extLst>
          </p:cNvPr>
          <p:cNvSpPr/>
          <p:nvPr/>
        </p:nvSpPr>
        <p:spPr>
          <a:xfrm>
            <a:off x="6756400" y="4573042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7349891-894D-E931-9471-A70A3AB2434D}"/>
              </a:ext>
            </a:extLst>
          </p:cNvPr>
          <p:cNvSpPr/>
          <p:nvPr/>
        </p:nvSpPr>
        <p:spPr>
          <a:xfrm>
            <a:off x="6870700" y="4661942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High-value vs low-value tasks. Commercial vs Internal balance</a:t>
            </a:r>
            <a:endParaRPr lang="en-US" sz="1100">
              <a:latin typeface="+mj-lt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31F8DD2-F733-3C9B-85F0-D3D128A6C982}"/>
              </a:ext>
            </a:extLst>
          </p:cNvPr>
          <p:cNvSpPr/>
          <p:nvPr/>
        </p:nvSpPr>
        <p:spPr>
          <a:xfrm>
            <a:off x="6756400" y="5032056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85323C0-6A25-02CE-79C5-255F6CAA689F}"/>
              </a:ext>
            </a:extLst>
          </p:cNvPr>
          <p:cNvSpPr/>
          <p:nvPr/>
        </p:nvSpPr>
        <p:spPr>
          <a:xfrm>
            <a:off x="6870700" y="5120956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Automation, improved workflows and transparency</a:t>
            </a:r>
            <a:endParaRPr lang="en-US" sz="1100">
              <a:latin typeface="+mj-lt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F9138ED1-50B3-8C4F-6FAE-1C214BDE99C1}"/>
              </a:ext>
            </a:extLst>
          </p:cNvPr>
          <p:cNvSpPr/>
          <p:nvPr/>
        </p:nvSpPr>
        <p:spPr>
          <a:xfrm>
            <a:off x="2902834" y="1847362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105">
                <a:solidFill>
                  <a:srgbClr val="1F3E77"/>
                </a:solidFill>
                <a:latin typeface="+mj-lt"/>
              </a:rPr>
              <a:t>Looking ahead</a:t>
            </a:r>
            <a:endParaRPr lang="en-US" sz="2800">
              <a:latin typeface="+mj-lt"/>
            </a:endParaRP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733C6578-8FB3-AD08-9DE6-EC7E35CA9EC4}"/>
              </a:ext>
            </a:extLst>
          </p:cNvPr>
          <p:cNvSpPr/>
          <p:nvPr/>
        </p:nvSpPr>
        <p:spPr>
          <a:xfrm>
            <a:off x="765629" y="5491071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5CDB3834-D6C0-C590-7225-F152739E2E79}"/>
              </a:ext>
            </a:extLst>
          </p:cNvPr>
          <p:cNvSpPr/>
          <p:nvPr/>
        </p:nvSpPr>
        <p:spPr>
          <a:xfrm>
            <a:off x="879929" y="5579971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 ownership</a:t>
            </a:r>
            <a:endParaRPr lang="en-US" sz="11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549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1EE690A-0047-0C70-472B-0BF9742A21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376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