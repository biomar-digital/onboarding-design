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392" r:id="rId10"/>
    <p:sldId id="262" r:id="rId11"/>
    <p:sldId id="393" r:id="rId12"/>
    <p:sldId id="398" r:id="rId13"/>
    <p:sldId id="396" r:id="rId14"/>
    <p:sldId id="399" r:id="rId15"/>
    <p:sldId id="400" r:id="rId16"/>
    <p:sldId id="263" r:id="rId17"/>
    <p:sldId id="264" r:id="rId18"/>
    <p:sldId id="386" r:id="rId19"/>
    <p:sldId id="401" r:id="rId20"/>
    <p:sldId id="266" r:id="rId21"/>
    <p:sldId id="267" r:id="rId22"/>
    <p:sldId id="268" r:id="rId23"/>
    <p:sldId id="271" r:id="rId24"/>
    <p:sldId id="270" r:id="rId25"/>
    <p:sldId id="389" r:id="rId26"/>
    <p:sldId id="390" r:id="rId27"/>
    <p:sldId id="402" r:id="rId28"/>
    <p:sldId id="391" r:id="rId29"/>
    <p:sldId id="403" r:id="rId30"/>
    <p:sldId id="38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16">
            <a:extLst>
              <a:ext uri="{FF2B5EF4-FFF2-40B4-BE49-F238E27FC236}">
                <a16:creationId xmlns:a16="http://schemas.microsoft.com/office/drawing/2014/main" id="{012B650E-6801-44C5-AFCB-E6D5576D0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8E3AE518-2B9B-408B-9C56-A5749647AA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Design</a:t>
            </a:r>
            <a:r>
              <a:rPr lang="es-ES" dirty="0"/>
              <a:t> Hub </a:t>
            </a:r>
            <a:r>
              <a:rPr lang="es-ES" dirty="0" err="1"/>
              <a:t>Playbook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40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02896C9-717D-541F-D096-F1534B4C444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A285CB3-F188-CA08-DD41-05AADA3FC59D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B5A6904-423D-E3FD-F95B-49FE39E5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Table </a:t>
            </a:r>
            <a:r>
              <a:rPr lang="es-ES" dirty="0" err="1"/>
              <a:t>of</a:t>
            </a:r>
            <a:r>
              <a:rPr lang="es-ES" dirty="0"/>
              <a:t> Content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7EFD1DF-1BD9-B130-0B5A-EA71F18286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529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96A42C-DFC6-E782-0AF7-068F264B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A42FEA5-36FB-421C-32A4-263667490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Overall Process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07B292-5CAF-FC29-D014-2334D76E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From Brief </a:t>
            </a:r>
            <a:r>
              <a:rPr lang="es-ES" dirty="0" err="1"/>
              <a:t>to</a:t>
            </a:r>
            <a:r>
              <a:rPr lang="es-ES" dirty="0"/>
              <a:t> Final </a:t>
            </a:r>
            <a:r>
              <a:rPr lang="es-ES" dirty="0" err="1"/>
              <a:t>Version</a:t>
            </a:r>
            <a:endParaRPr lang="es-E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D55E325-72FC-B37E-7916-9C7E4CCC276A}"/>
              </a:ext>
            </a:extLst>
          </p:cNvPr>
          <p:cNvSpPr/>
          <p:nvPr/>
        </p:nvSpPr>
        <p:spPr>
          <a:xfrm>
            <a:off x="467999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Email and </a:t>
            </a:r>
            <a:br>
              <a:rPr lang="es-ES" dirty="0">
                <a:solidFill>
                  <a:schemeClr val="tx2"/>
                </a:solidFill>
              </a:rPr>
            </a:br>
            <a:r>
              <a:rPr lang="es-ES" dirty="0">
                <a:solidFill>
                  <a:schemeClr val="tx2"/>
                </a:solidFill>
              </a:rPr>
              <a:t>briefing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06FDFFA-5351-9810-4FDA-57CDB38A95D7}"/>
              </a:ext>
            </a:extLst>
          </p:cNvPr>
          <p:cNvSpPr/>
          <p:nvPr/>
        </p:nvSpPr>
        <p:spPr>
          <a:xfrm>
            <a:off x="2821107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Work </a:t>
            </a:r>
            <a:r>
              <a:rPr lang="es-ES" dirty="0" err="1">
                <a:solidFill>
                  <a:schemeClr val="tx2"/>
                </a:solidFill>
              </a:rPr>
              <a:t>on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834403D-53CD-B0E9-E896-0BDA5BEA9601}"/>
              </a:ext>
            </a:extLst>
          </p:cNvPr>
          <p:cNvSpPr/>
          <p:nvPr/>
        </p:nvSpPr>
        <p:spPr>
          <a:xfrm>
            <a:off x="5174215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2"/>
                </a:solidFill>
              </a:rPr>
              <a:t>Receive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Feedback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C7D76A7-9A1C-024F-22FF-EB5BE9044BA4}"/>
              </a:ext>
            </a:extLst>
          </p:cNvPr>
          <p:cNvSpPr/>
          <p:nvPr/>
        </p:nvSpPr>
        <p:spPr>
          <a:xfrm>
            <a:off x="7527323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Final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A0FE8A3-9ED9-28FA-880A-AB0C348847D2}"/>
              </a:ext>
            </a:extLst>
          </p:cNvPr>
          <p:cNvSpPr/>
          <p:nvPr/>
        </p:nvSpPr>
        <p:spPr>
          <a:xfrm>
            <a:off x="9880432" y="2700972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Close </a:t>
            </a:r>
            <a:r>
              <a:rPr lang="es-ES" dirty="0" err="1">
                <a:solidFill>
                  <a:schemeClr val="tx2"/>
                </a:solidFill>
              </a:rPr>
              <a:t>task</a:t>
            </a:r>
            <a:endParaRPr lang="es-ES" dirty="0">
              <a:solidFill>
                <a:schemeClr val="tx2"/>
              </a:solidFill>
            </a:endParaRPr>
          </a:p>
        </p:txBody>
      </p:sp>
      <p:cxnSp>
        <p:nvCxnSpPr>
          <p:cNvPr id="24" name="Conector: curvado 23">
            <a:extLst>
              <a:ext uri="{FF2B5EF4-FFF2-40B4-BE49-F238E27FC236}">
                <a16:creationId xmlns:a16="http://schemas.microsoft.com/office/drawing/2014/main" id="{C247274C-A66D-5980-1BAE-14D5740AA47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946877" y="3611451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AEDA67D3-4070-9951-D592-248C3A12ED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93769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40C8F958-E838-2D0E-09D2-E62C93C9DB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687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11CAAA4C-A008-09D9-B108-920AC6571B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9998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97D6846F-AA00-BF89-B9FB-8E129D4139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53095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94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6AC298D-F950-B9A7-EBF3-FC594640F5B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/>
              <a:t>The </a:t>
            </a:r>
            <a:r>
              <a:rPr lang="es-ES" b="1" dirty="0" err="1"/>
              <a:t>brief</a:t>
            </a:r>
            <a:r>
              <a:rPr lang="es-ES" b="1" dirty="0"/>
              <a:t> </a:t>
            </a:r>
            <a:r>
              <a:rPr lang="es-ES" b="1" dirty="0" err="1"/>
              <a:t>is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foundation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every</a:t>
            </a:r>
            <a:r>
              <a:rPr lang="es-ES" b="1" dirty="0"/>
              <a:t> </a:t>
            </a:r>
            <a:r>
              <a:rPr lang="es-ES" b="1" dirty="0" err="1"/>
              <a:t>project</a:t>
            </a:r>
            <a:r>
              <a:rPr lang="es-ES" b="1" dirty="0"/>
              <a:t>.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provides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essential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understand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request</a:t>
            </a:r>
            <a:r>
              <a:rPr lang="es-ES" dirty="0"/>
              <a:t>, </a:t>
            </a:r>
            <a:r>
              <a:rPr lang="es-ES" dirty="0" err="1"/>
              <a:t>including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objective</a:t>
            </a:r>
            <a:r>
              <a:rPr lang="es-ES" dirty="0"/>
              <a:t>, target </a:t>
            </a:r>
            <a:r>
              <a:rPr lang="es-ES" dirty="0" err="1"/>
              <a:t>audience</a:t>
            </a:r>
            <a:r>
              <a:rPr lang="es-ES" dirty="0"/>
              <a:t>, </a:t>
            </a:r>
            <a:r>
              <a:rPr lang="es-ES" dirty="0" err="1"/>
              <a:t>deliverables</a:t>
            </a:r>
            <a:r>
              <a:rPr lang="es-ES" dirty="0"/>
              <a:t>, timeline,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copy</a:t>
            </a:r>
            <a:r>
              <a:rPr lang="es-ES" dirty="0"/>
              <a:t>, </a:t>
            </a:r>
            <a:r>
              <a:rPr lang="es-ES" dirty="0" err="1"/>
              <a:t>format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, and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relevant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references</a:t>
            </a:r>
            <a:r>
              <a:rPr lang="es-ES" dirty="0"/>
              <a:t>. A </a:t>
            </a:r>
            <a:r>
              <a:rPr lang="es-ES" dirty="0" err="1"/>
              <a:t>clear</a:t>
            </a:r>
            <a:r>
              <a:rPr lang="es-ES" dirty="0"/>
              <a:t> </a:t>
            </a:r>
            <a:r>
              <a:rPr lang="es-ES" dirty="0" err="1"/>
              <a:t>brief</a:t>
            </a:r>
            <a:r>
              <a:rPr lang="es-ES" dirty="0"/>
              <a:t> </a:t>
            </a:r>
            <a:r>
              <a:rPr lang="es-ES" dirty="0" err="1"/>
              <a:t>helps</a:t>
            </a:r>
            <a:r>
              <a:rPr lang="es-ES" dirty="0"/>
              <a:t> </a:t>
            </a:r>
            <a:r>
              <a:rPr lang="es-ES" dirty="0" err="1"/>
              <a:t>ensure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project</a:t>
            </a:r>
            <a:r>
              <a:rPr lang="es-ES" dirty="0"/>
              <a:t> </a:t>
            </a:r>
            <a:r>
              <a:rPr lang="es-ES" dirty="0" err="1"/>
              <a:t>starts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right</a:t>
            </a:r>
            <a:r>
              <a:rPr lang="es-ES" dirty="0"/>
              <a:t> </a:t>
            </a:r>
            <a:r>
              <a:rPr lang="es-ES" dirty="0" err="1"/>
              <a:t>direction</a:t>
            </a:r>
            <a:r>
              <a:rPr lang="es-ES" dirty="0"/>
              <a:t> and </a:t>
            </a:r>
            <a:r>
              <a:rPr lang="es-ES" dirty="0" err="1"/>
              <a:t>minimizes</a:t>
            </a:r>
            <a:r>
              <a:rPr lang="es-ES" dirty="0"/>
              <a:t> </a:t>
            </a:r>
            <a:r>
              <a:rPr lang="es-ES" dirty="0" err="1"/>
              <a:t>revisions</a:t>
            </a:r>
            <a:r>
              <a:rPr lang="es-ES" dirty="0"/>
              <a:t> </a:t>
            </a:r>
            <a:r>
              <a:rPr lang="es-ES" dirty="0" err="1"/>
              <a:t>later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.</a:t>
            </a:r>
          </a:p>
          <a:p>
            <a:r>
              <a:rPr lang="es-ES" b="1" dirty="0" err="1"/>
              <a:t>All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</a:t>
            </a:r>
            <a:r>
              <a:rPr lang="es-ES" b="1" dirty="0" err="1"/>
              <a:t>requests</a:t>
            </a:r>
            <a:r>
              <a:rPr lang="es-ES" b="1" dirty="0"/>
              <a:t> are </a:t>
            </a:r>
            <a:r>
              <a:rPr lang="es-ES" b="1" dirty="0" err="1"/>
              <a:t>received</a:t>
            </a:r>
            <a:r>
              <a:rPr lang="es-ES" b="1" dirty="0"/>
              <a:t> </a:t>
            </a:r>
            <a:r>
              <a:rPr lang="es-ES" b="1" dirty="0" err="1"/>
              <a:t>through</a:t>
            </a:r>
            <a:r>
              <a:rPr lang="es-ES" dirty="0"/>
              <a:t> </a:t>
            </a:r>
            <a:r>
              <a:rPr lang="es-ES" b="1" dirty="0">
                <a:solidFill>
                  <a:schemeClr val="bg2"/>
                </a:solidFill>
              </a:rPr>
              <a:t>design@biomar.com</a:t>
            </a:r>
            <a:r>
              <a:rPr lang="es-ES" dirty="0"/>
              <a:t>,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shared</a:t>
            </a:r>
            <a:r>
              <a:rPr lang="es-ES" b="1" dirty="0"/>
              <a:t> </a:t>
            </a:r>
            <a:r>
              <a:rPr lang="es-ES" b="1" dirty="0" err="1"/>
              <a:t>inbox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Design</a:t>
            </a:r>
            <a:r>
              <a:rPr lang="es-ES" b="1" dirty="0"/>
              <a:t> Hub.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central </a:t>
            </a:r>
            <a:r>
              <a:rPr lang="es-ES" dirty="0" err="1"/>
              <a:t>mailbox</a:t>
            </a:r>
            <a:r>
              <a:rPr lang="es-ES" dirty="0"/>
              <a:t> </a:t>
            </a:r>
            <a:r>
              <a:rPr lang="es-ES" dirty="0" err="1"/>
              <a:t>allows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team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track</a:t>
            </a:r>
            <a:r>
              <a:rPr lang="es-ES" dirty="0"/>
              <a:t> </a:t>
            </a:r>
            <a:r>
              <a:rPr lang="es-ES" dirty="0" err="1"/>
              <a:t>incoming</a:t>
            </a:r>
            <a:r>
              <a:rPr lang="es-ES" dirty="0"/>
              <a:t> </a:t>
            </a:r>
            <a:r>
              <a:rPr lang="es-ES" dirty="0" err="1"/>
              <a:t>requests</a:t>
            </a:r>
            <a:r>
              <a:rPr lang="es-ES" dirty="0"/>
              <a:t>, </a:t>
            </a:r>
            <a:r>
              <a:rPr lang="es-ES" dirty="0" err="1"/>
              <a:t>maintain</a:t>
            </a:r>
            <a:r>
              <a:rPr lang="es-ES" dirty="0"/>
              <a:t> </a:t>
            </a:r>
            <a:r>
              <a:rPr lang="es-ES" dirty="0" err="1"/>
              <a:t>visibility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projects</a:t>
            </a:r>
            <a:r>
              <a:rPr lang="es-ES" dirty="0"/>
              <a:t>, and </a:t>
            </a:r>
            <a:r>
              <a:rPr lang="es-ES" dirty="0" err="1"/>
              <a:t>ensure</a:t>
            </a:r>
            <a:r>
              <a:rPr lang="es-ES" dirty="0"/>
              <a:t> a </a:t>
            </a:r>
            <a:r>
              <a:rPr lang="es-ES" dirty="0" err="1"/>
              <a:t>smooth</a:t>
            </a:r>
            <a:r>
              <a:rPr lang="es-ES" dirty="0"/>
              <a:t> </a:t>
            </a:r>
            <a:r>
              <a:rPr lang="es-ES" dirty="0" err="1"/>
              <a:t>handover</a:t>
            </a:r>
            <a:r>
              <a:rPr lang="es-ES" dirty="0"/>
              <a:t> </a:t>
            </a:r>
            <a:r>
              <a:rPr lang="es-ES" dirty="0" err="1"/>
              <a:t>whenever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3C8FC7E-7A81-5117-B098-81D61DDCC74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22F1F8F0-3C9E-EECB-7CCE-25F95E9AF23B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91E7441-811F-4057-C106-CAB12FECD3C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B2775502-F0D5-BA23-D920-360A4C08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36A50AF-39E9-CDF9-EB66-7D2498BD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2" y="1879634"/>
            <a:ext cx="5927271" cy="309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6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9E02-60AF-14FB-133B-4ADE8313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1B77E5-B783-3C93-9C03-135EA16DEA2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54801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s-ES" sz="5500" b="1" dirty="0" err="1">
                <a:solidFill>
                  <a:schemeClr val="bg2"/>
                </a:solidFill>
              </a:rPr>
              <a:t>Reviewing</a:t>
            </a:r>
            <a:r>
              <a:rPr lang="es-ES" sz="5500" b="1" dirty="0">
                <a:solidFill>
                  <a:schemeClr val="bg2"/>
                </a:solidFill>
              </a:rPr>
              <a:t> </a:t>
            </a:r>
            <a:r>
              <a:rPr lang="es-ES" sz="5500" b="1" dirty="0" err="1">
                <a:solidFill>
                  <a:schemeClr val="bg2"/>
                </a:solidFill>
              </a:rPr>
              <a:t>the</a:t>
            </a:r>
            <a:r>
              <a:rPr lang="es-ES" sz="5500" b="1" dirty="0">
                <a:solidFill>
                  <a:schemeClr val="bg2"/>
                </a:solidFill>
              </a:rPr>
              <a:t> Brief</a:t>
            </a:r>
          </a:p>
          <a:p>
            <a:pPr marL="0" indent="0">
              <a:buNone/>
            </a:pPr>
            <a:r>
              <a:rPr lang="es-ES" sz="4300" dirty="0" err="1"/>
              <a:t>Before</a:t>
            </a:r>
            <a:r>
              <a:rPr lang="es-ES" sz="4300" dirty="0"/>
              <a:t> </a:t>
            </a:r>
            <a:r>
              <a:rPr lang="es-ES" sz="4300" dirty="0" err="1"/>
              <a:t>starting</a:t>
            </a:r>
            <a:r>
              <a:rPr lang="es-ES" sz="4300" dirty="0"/>
              <a:t>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, </a:t>
            </a:r>
            <a:r>
              <a:rPr lang="es-ES" sz="4300" dirty="0" err="1"/>
              <a:t>make</a:t>
            </a:r>
            <a:r>
              <a:rPr lang="es-ES" sz="4300" dirty="0"/>
              <a:t> </a:t>
            </a:r>
            <a:r>
              <a:rPr lang="es-ES" sz="4300" dirty="0" err="1"/>
              <a:t>sure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brief</a:t>
            </a:r>
            <a:r>
              <a:rPr lang="es-ES" sz="4300" dirty="0"/>
              <a:t> </a:t>
            </a:r>
            <a:r>
              <a:rPr lang="es-ES" sz="4300" dirty="0" err="1"/>
              <a:t>includes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minimum</a:t>
            </a:r>
            <a:r>
              <a:rPr lang="es-ES" sz="4300" dirty="0"/>
              <a:t> </a:t>
            </a:r>
            <a:r>
              <a:rPr lang="es-ES" sz="4300" dirty="0" err="1"/>
              <a:t>information</a:t>
            </a:r>
            <a:r>
              <a:rPr lang="es-ES" sz="4300" dirty="0"/>
              <a:t> </a:t>
            </a:r>
            <a:r>
              <a:rPr lang="es-ES" sz="4300" dirty="0" err="1"/>
              <a:t>required</a:t>
            </a:r>
            <a:r>
              <a:rPr lang="es-ES" sz="4300" dirty="0"/>
              <a:t> </a:t>
            </a:r>
            <a:r>
              <a:rPr lang="es-ES" sz="4300" dirty="0" err="1"/>
              <a:t>to</a:t>
            </a:r>
            <a:r>
              <a:rPr lang="es-ES" sz="4300" dirty="0"/>
              <a:t> </a:t>
            </a:r>
            <a:r>
              <a:rPr lang="es-ES" sz="4300" dirty="0" err="1"/>
              <a:t>proceed</a:t>
            </a:r>
            <a:r>
              <a:rPr lang="es-ES" sz="4300" dirty="0"/>
              <a:t>. </a:t>
            </a:r>
            <a:r>
              <a:rPr lang="es-ES" sz="4300" dirty="0" err="1"/>
              <a:t>This</a:t>
            </a:r>
            <a:r>
              <a:rPr lang="es-ES" sz="4300" dirty="0"/>
              <a:t> </a:t>
            </a:r>
            <a:r>
              <a:rPr lang="es-ES" sz="4300" dirty="0" err="1"/>
              <a:t>helps</a:t>
            </a:r>
            <a:r>
              <a:rPr lang="es-ES" sz="4300" dirty="0"/>
              <a:t> </a:t>
            </a:r>
            <a:r>
              <a:rPr lang="es-ES" sz="4300" dirty="0" err="1"/>
              <a:t>avoid</a:t>
            </a:r>
            <a:r>
              <a:rPr lang="es-ES" sz="4300" dirty="0"/>
              <a:t> </a:t>
            </a:r>
            <a:r>
              <a:rPr lang="es-ES" sz="4300" dirty="0" err="1"/>
              <a:t>unnecessary</a:t>
            </a:r>
            <a:r>
              <a:rPr lang="es-ES" sz="4300" dirty="0"/>
              <a:t> back-and-</a:t>
            </a:r>
            <a:r>
              <a:rPr lang="es-ES" sz="4300" dirty="0" err="1"/>
              <a:t>forth</a:t>
            </a:r>
            <a:r>
              <a:rPr lang="es-ES" sz="4300" dirty="0"/>
              <a:t> and </a:t>
            </a:r>
            <a:r>
              <a:rPr lang="es-ES" sz="4300" dirty="0" err="1"/>
              <a:t>ensures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can be </a:t>
            </a:r>
            <a:r>
              <a:rPr lang="es-ES" sz="4300" dirty="0" err="1"/>
              <a:t>completed</a:t>
            </a:r>
            <a:r>
              <a:rPr lang="es-ES" sz="4300" dirty="0"/>
              <a:t> </a:t>
            </a:r>
            <a:r>
              <a:rPr lang="es-ES" sz="4300" dirty="0" err="1"/>
              <a:t>efficiently</a:t>
            </a:r>
            <a:r>
              <a:rPr lang="es-ES" sz="4300" dirty="0"/>
              <a:t>.</a:t>
            </a:r>
          </a:p>
          <a:p>
            <a:pPr marL="0" indent="0">
              <a:buNone/>
            </a:pPr>
            <a:r>
              <a:rPr lang="es-ES" sz="4300" b="1" dirty="0" err="1"/>
              <a:t>Minimum</a:t>
            </a:r>
            <a:r>
              <a:rPr lang="es-ES" sz="4300" b="1" dirty="0"/>
              <a:t> </a:t>
            </a:r>
            <a:r>
              <a:rPr lang="es-ES" sz="4300" b="1" dirty="0" err="1"/>
              <a:t>information</a:t>
            </a:r>
            <a:r>
              <a:rPr lang="es-ES" sz="4300" b="1" dirty="0"/>
              <a:t> </a:t>
            </a:r>
            <a:r>
              <a:rPr lang="es-ES" sz="4300" b="1" dirty="0" err="1"/>
              <a:t>required</a:t>
            </a:r>
            <a:r>
              <a:rPr lang="es-ES" sz="4300" b="1" dirty="0"/>
              <a:t>:</a:t>
            </a:r>
            <a:endParaRPr lang="es-ES" sz="4300" dirty="0"/>
          </a:p>
          <a:p>
            <a:r>
              <a:rPr lang="es-ES" sz="4300" b="1" dirty="0"/>
              <a:t>Purpose:</a:t>
            </a:r>
            <a:r>
              <a:rPr lang="es-ES" sz="4300" dirty="0"/>
              <a:t> </a:t>
            </a:r>
            <a:r>
              <a:rPr lang="es-ES" sz="4300" dirty="0" err="1"/>
              <a:t>What</a:t>
            </a:r>
            <a:r>
              <a:rPr lang="es-ES" sz="4300" dirty="0"/>
              <a:t> </a:t>
            </a:r>
            <a:r>
              <a:rPr lang="es-ES" sz="4300" dirty="0" err="1"/>
              <a:t>is</a:t>
            </a:r>
            <a:r>
              <a:rPr lang="es-ES" sz="4300" dirty="0"/>
              <a:t> </a:t>
            </a:r>
            <a:r>
              <a:rPr lang="es-ES" sz="4300" dirty="0" err="1"/>
              <a:t>the</a:t>
            </a:r>
            <a:r>
              <a:rPr lang="es-ES" sz="4300" dirty="0"/>
              <a:t> </a:t>
            </a:r>
            <a:r>
              <a:rPr lang="es-ES" sz="4300" dirty="0" err="1"/>
              <a:t>project</a:t>
            </a:r>
            <a:r>
              <a:rPr lang="es-ES" sz="4300" dirty="0"/>
              <a:t> </a:t>
            </a:r>
            <a:r>
              <a:rPr lang="es-ES" sz="4300" dirty="0" err="1"/>
              <a:t>for</a:t>
            </a:r>
            <a:r>
              <a:rPr lang="es-ES" sz="4300" dirty="0"/>
              <a:t>? </a:t>
            </a:r>
          </a:p>
          <a:p>
            <a:r>
              <a:rPr lang="es-ES" sz="4300" b="1" dirty="0"/>
              <a:t>Timeline:</a:t>
            </a:r>
            <a:r>
              <a:rPr lang="es-ES" sz="4300" dirty="0"/>
              <a:t> Draft and final </a:t>
            </a:r>
            <a:r>
              <a:rPr lang="es-ES" sz="4300" dirty="0" err="1"/>
              <a:t>delivery</a:t>
            </a:r>
            <a:r>
              <a:rPr lang="es-ES" sz="4300" dirty="0"/>
              <a:t> dates. </a:t>
            </a:r>
          </a:p>
          <a:p>
            <a:r>
              <a:rPr lang="es-ES" sz="4300" b="1" dirty="0" err="1"/>
              <a:t>Specifications</a:t>
            </a:r>
            <a:r>
              <a:rPr lang="es-ES" sz="4300" b="1" dirty="0"/>
              <a:t>:</a:t>
            </a:r>
            <a:r>
              <a:rPr lang="es-ES" sz="4300" dirty="0"/>
              <a:t> </a:t>
            </a:r>
            <a:r>
              <a:rPr lang="es-ES" sz="4300" dirty="0" err="1"/>
              <a:t>Format</a:t>
            </a:r>
            <a:r>
              <a:rPr lang="es-ES" sz="4300" dirty="0"/>
              <a:t>, </a:t>
            </a:r>
            <a:r>
              <a:rPr lang="es-ES" sz="4300" dirty="0" err="1"/>
              <a:t>dimensions</a:t>
            </a:r>
            <a:r>
              <a:rPr lang="es-ES" sz="4300" dirty="0"/>
              <a:t>,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production</a:t>
            </a:r>
            <a:r>
              <a:rPr lang="es-ES" sz="4300" dirty="0"/>
              <a:t> </a:t>
            </a:r>
            <a:r>
              <a:rPr lang="es-ES" sz="4300" dirty="0" err="1"/>
              <a:t>requirements</a:t>
            </a:r>
            <a:r>
              <a:rPr lang="es-ES" sz="4300" dirty="0"/>
              <a:t>. </a:t>
            </a:r>
          </a:p>
          <a:p>
            <a:r>
              <a:rPr lang="es-ES" sz="4300" b="1" dirty="0"/>
              <a:t>Content:</a:t>
            </a:r>
            <a:r>
              <a:rPr lang="es-ES" sz="4300" dirty="0"/>
              <a:t> Final </a:t>
            </a:r>
            <a:r>
              <a:rPr lang="es-ES" sz="4300" dirty="0" err="1"/>
              <a:t>copy</a:t>
            </a:r>
            <a:r>
              <a:rPr lang="es-ES" sz="4300" dirty="0"/>
              <a:t>/</a:t>
            </a:r>
            <a:r>
              <a:rPr lang="es-ES" sz="4300" dirty="0" err="1"/>
              <a:t>text</a:t>
            </a:r>
            <a:r>
              <a:rPr lang="es-ES" sz="4300" dirty="0"/>
              <a:t> and </a:t>
            </a:r>
            <a:r>
              <a:rPr lang="es-ES" sz="4300" dirty="0" err="1"/>
              <a:t>any</a:t>
            </a:r>
            <a:r>
              <a:rPr lang="es-ES" sz="4300" dirty="0"/>
              <a:t> </a:t>
            </a:r>
            <a:r>
              <a:rPr lang="es-ES" sz="4300" dirty="0" err="1"/>
              <a:t>supporting</a:t>
            </a:r>
            <a:r>
              <a:rPr lang="es-ES" sz="4300" dirty="0"/>
              <a:t> </a:t>
            </a:r>
            <a:r>
              <a:rPr lang="es-ES" sz="4300" dirty="0" err="1"/>
              <a:t>assets</a:t>
            </a:r>
            <a:r>
              <a:rPr lang="es-ES" sz="4300" dirty="0"/>
              <a:t>*. </a:t>
            </a:r>
          </a:p>
          <a:p>
            <a:pPr marL="0" indent="0">
              <a:buNone/>
            </a:pP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not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always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</a:rPr>
              <a:t>required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However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when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applicable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request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any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materials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that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are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to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such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as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third-party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certification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logos,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feed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datasheets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event-related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visuals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or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market-specific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images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BioMar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brand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assets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can be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sourced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2800" dirty="0" err="1">
                <a:solidFill>
                  <a:schemeClr val="bg1">
                    <a:lumMod val="50000"/>
                  </a:schemeClr>
                </a:solidFill>
              </a:rPr>
              <a:t>internally</a:t>
            </a:r>
            <a:r>
              <a:rPr lang="es-ES" sz="28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29E65B8-EAEB-652E-5275-7DBF4BC83C0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8F9FD07F-7D9A-74CB-6E3A-7DF69AE798B4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BD342B5B-0B05-10DE-A8FA-C197C1F7509B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5439F95-18C7-A570-09EA-2EE3B1CB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527E05-3F3D-4644-0865-A526EC03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90341"/>
            <a:ext cx="5760143" cy="32205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E8867F-EC62-C7C6-5242-2C46CF6F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25" y="3468470"/>
            <a:ext cx="5760143" cy="326538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EB45E45B-5D97-16A1-5613-C89C2C043B85}"/>
              </a:ext>
            </a:extLst>
          </p:cNvPr>
          <p:cNvSpPr/>
          <p:nvPr/>
        </p:nvSpPr>
        <p:spPr>
          <a:xfrm>
            <a:off x="6483881" y="4095946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19C539D-89EA-3E83-F068-2116B52C6DD9}"/>
              </a:ext>
            </a:extLst>
          </p:cNvPr>
          <p:cNvSpPr/>
          <p:nvPr/>
        </p:nvSpPr>
        <p:spPr>
          <a:xfrm>
            <a:off x="969201" y="1527142"/>
            <a:ext cx="164969" cy="164969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F908618-E765-A5F9-866E-AC3C477DE523}"/>
              </a:ext>
            </a:extLst>
          </p:cNvPr>
          <p:cNvSpPr/>
          <p:nvPr/>
        </p:nvSpPr>
        <p:spPr>
          <a:xfrm>
            <a:off x="6483881" y="4520783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19FB3BB-14E6-CE9C-6415-16C67303D5C7}"/>
              </a:ext>
            </a:extLst>
          </p:cNvPr>
          <p:cNvSpPr/>
          <p:nvPr/>
        </p:nvSpPr>
        <p:spPr>
          <a:xfrm>
            <a:off x="248050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05E113-FAB6-CF6B-1C1D-E4752D904EDF}"/>
              </a:ext>
            </a:extLst>
          </p:cNvPr>
          <p:cNvSpPr/>
          <p:nvPr/>
        </p:nvSpPr>
        <p:spPr>
          <a:xfrm>
            <a:off x="1317992" y="881630"/>
            <a:ext cx="164969" cy="16496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E513C7F-340B-71F4-31E4-609EEDBC1C1E}"/>
              </a:ext>
            </a:extLst>
          </p:cNvPr>
          <p:cNvSpPr/>
          <p:nvPr/>
        </p:nvSpPr>
        <p:spPr>
          <a:xfrm>
            <a:off x="6483881" y="4945620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2FB304C-E186-7F80-B06C-D9AEC78888C0}"/>
              </a:ext>
            </a:extLst>
          </p:cNvPr>
          <p:cNvSpPr/>
          <p:nvPr/>
        </p:nvSpPr>
        <p:spPr>
          <a:xfrm>
            <a:off x="113417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0F6CE12-6BE8-37B3-757A-525F498342AA}"/>
              </a:ext>
            </a:extLst>
          </p:cNvPr>
          <p:cNvSpPr/>
          <p:nvPr/>
        </p:nvSpPr>
        <p:spPr>
          <a:xfrm>
            <a:off x="3371060" y="2472617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E97C96A-806A-F5E5-C5C6-EAF4F7C1E6BD}"/>
              </a:ext>
            </a:extLst>
          </p:cNvPr>
          <p:cNvSpPr/>
          <p:nvPr/>
        </p:nvSpPr>
        <p:spPr>
          <a:xfrm>
            <a:off x="3371060" y="2638023"/>
            <a:ext cx="164969" cy="1649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32FAE34-B5A8-9A3B-3665-4D4355D67E0F}"/>
              </a:ext>
            </a:extLst>
          </p:cNvPr>
          <p:cNvSpPr/>
          <p:nvPr/>
        </p:nvSpPr>
        <p:spPr>
          <a:xfrm>
            <a:off x="6483881" y="5553649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3259CC9-D15F-0CAF-2877-F9FEFFFE6DEA}"/>
              </a:ext>
            </a:extLst>
          </p:cNvPr>
          <p:cNvSpPr/>
          <p:nvPr/>
        </p:nvSpPr>
        <p:spPr>
          <a:xfrm>
            <a:off x="974510" y="1996262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82F733D-DA45-5DC0-9CBA-F1E80BAE41DB}"/>
              </a:ext>
            </a:extLst>
          </p:cNvPr>
          <p:cNvSpPr/>
          <p:nvPr/>
        </p:nvSpPr>
        <p:spPr>
          <a:xfrm>
            <a:off x="974510" y="1770581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76C9E3B-1578-53CF-A24B-1157192B9944}"/>
              </a:ext>
            </a:extLst>
          </p:cNvPr>
          <p:cNvSpPr/>
          <p:nvPr/>
        </p:nvSpPr>
        <p:spPr>
          <a:xfrm>
            <a:off x="1785215" y="3726643"/>
            <a:ext cx="164969" cy="1649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118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2C491-701B-84BB-4864-473A6CE2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2012BE8-6806-278E-6148-27278A1113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6678F2EC-5150-0061-9A54-B859BA9F5A1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940569EA-95DF-2497-C405-E4580EEBF5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71CB322-3C0F-65D5-4532-04AA9DD2C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245624"/>
            <a:ext cx="3895339" cy="5208407"/>
          </a:xfrm>
        </p:spPr>
        <p:txBody>
          <a:bodyPr>
            <a:normAutofit fontScale="32500" lnSpcReduction="20000"/>
          </a:bodyPr>
          <a:lstStyle/>
          <a:p>
            <a:pPr marL="0" indent="0" defTabSz="684000">
              <a:lnSpc>
                <a:spcPct val="120000"/>
              </a:lnSpc>
              <a:buNone/>
            </a:pPr>
            <a:r>
              <a:rPr lang="es-ES" sz="5500" b="1" dirty="0">
                <a:solidFill>
                  <a:schemeClr val="bg2"/>
                </a:solidFill>
              </a:rPr>
              <a:t>Email Tags &amp; Folder </a:t>
            </a:r>
            <a:r>
              <a:rPr lang="es-ES" sz="5500" b="1" dirty="0" err="1">
                <a:solidFill>
                  <a:schemeClr val="bg2"/>
                </a:solidFill>
              </a:rPr>
              <a:t>Structure</a:t>
            </a:r>
            <a:endParaRPr lang="es-ES" sz="5500" b="1" dirty="0">
              <a:solidFill>
                <a:schemeClr val="bg2"/>
              </a:solidFill>
            </a:endParaRP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 err="1"/>
              <a:t>Teams</a:t>
            </a:r>
            <a:r>
              <a:rPr lang="es-ES" sz="4000" b="1" dirty="0"/>
              <a:t>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indicate</a:t>
            </a:r>
            <a:r>
              <a:rPr lang="es-ES" sz="4000" dirty="0"/>
              <a:t> </a:t>
            </a:r>
            <a:r>
              <a:rPr lang="es-ES" sz="4000" dirty="0" err="1"/>
              <a:t>whether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Teams</a:t>
            </a:r>
            <a:r>
              <a:rPr lang="es-ES" sz="4000" dirty="0"/>
              <a:t> – The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registered</a:t>
            </a:r>
            <a:r>
              <a:rPr lang="es-ES" sz="4000" dirty="0"/>
              <a:t> in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task</a:t>
            </a:r>
            <a:r>
              <a:rPr lang="es-ES" sz="4000" dirty="0"/>
              <a:t> manager.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No tag</a:t>
            </a:r>
            <a:r>
              <a:rPr lang="es-ES" sz="4000" dirty="0"/>
              <a:t> – </a:t>
            </a:r>
            <a:r>
              <a:rPr lang="es-ES" sz="4000" dirty="0" err="1"/>
              <a:t>Assume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</a:t>
            </a:r>
            <a:r>
              <a:rPr lang="es-ES" sz="4000" dirty="0"/>
              <a:t> has </a:t>
            </a:r>
            <a:r>
              <a:rPr lang="es-ES" sz="4000" b="1" dirty="0" err="1"/>
              <a:t>not</a:t>
            </a:r>
            <a:r>
              <a:rPr lang="es-ES" sz="4000" dirty="0"/>
              <a:t> </a:t>
            </a:r>
            <a:r>
              <a:rPr lang="es-ES" sz="4000" dirty="0" err="1"/>
              <a:t>yet</a:t>
            </a:r>
            <a:r>
              <a:rPr lang="es-ES" sz="4000" dirty="0"/>
              <a:t>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added</a:t>
            </a:r>
            <a:r>
              <a:rPr lang="es-ES" sz="4000" dirty="0"/>
              <a:t> and </a:t>
            </a:r>
            <a:r>
              <a:rPr lang="es-ES" sz="4000" dirty="0" err="1"/>
              <a:t>needs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be </a:t>
            </a:r>
            <a:r>
              <a:rPr lang="es-ES" sz="4000" dirty="0" err="1"/>
              <a:t>reviewed</a:t>
            </a:r>
            <a:r>
              <a:rPr lang="es-ES" sz="4000" dirty="0"/>
              <a:t>. </a:t>
            </a:r>
          </a:p>
          <a:p>
            <a:pPr marL="0" indent="0" defTabSz="684000">
              <a:lnSpc>
                <a:spcPct val="120000"/>
              </a:lnSpc>
              <a:buNone/>
            </a:pPr>
            <a:r>
              <a:rPr lang="es-ES" sz="4000" b="1" dirty="0"/>
              <a:t>Status: </a:t>
            </a:r>
            <a:r>
              <a:rPr lang="es-ES" sz="4000" dirty="0"/>
              <a:t>Used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track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progress</a:t>
            </a:r>
            <a:r>
              <a:rPr lang="es-ES" sz="4000" dirty="0"/>
              <a:t> </a:t>
            </a:r>
            <a:r>
              <a:rPr lang="es-ES" sz="4000" dirty="0" err="1"/>
              <a:t>of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project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Waiting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on</a:t>
            </a:r>
            <a:r>
              <a:rPr lang="es-ES" sz="4000" dirty="0"/>
              <a:t> </a:t>
            </a:r>
            <a:r>
              <a:rPr lang="es-ES" sz="4000" dirty="0" err="1"/>
              <a:t>hold</a:t>
            </a:r>
            <a:r>
              <a:rPr lang="es-ES" sz="4000" dirty="0"/>
              <a:t> </a:t>
            </a:r>
            <a:r>
              <a:rPr lang="es-ES" sz="4000" dirty="0" err="1"/>
              <a:t>while</a:t>
            </a:r>
            <a:r>
              <a:rPr lang="es-ES" sz="4000" dirty="0"/>
              <a:t> </a:t>
            </a:r>
            <a:r>
              <a:rPr lang="es-ES" sz="4000" dirty="0" err="1"/>
              <a:t>waiting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missing</a:t>
            </a:r>
            <a:r>
              <a:rPr lang="es-ES" sz="4000" dirty="0"/>
              <a:t> </a:t>
            </a:r>
            <a:r>
              <a:rPr lang="es-ES" sz="4000" dirty="0" err="1"/>
              <a:t>information</a:t>
            </a:r>
            <a:r>
              <a:rPr lang="es-ES" sz="4000" dirty="0"/>
              <a:t>, </a:t>
            </a:r>
            <a:r>
              <a:rPr lang="es-ES" sz="4000" dirty="0" err="1"/>
              <a:t>additional</a:t>
            </a:r>
            <a:r>
              <a:rPr lang="es-ES" sz="4000" dirty="0"/>
              <a:t> </a:t>
            </a:r>
            <a:r>
              <a:rPr lang="es-ES" sz="4000" dirty="0" err="1"/>
              <a:t>details</a:t>
            </a:r>
            <a:r>
              <a:rPr lang="es-ES" sz="4000" dirty="0"/>
              <a:t>, </a:t>
            </a:r>
            <a:r>
              <a:rPr lang="es-ES" sz="4000" dirty="0" err="1"/>
              <a:t>clarification</a:t>
            </a:r>
            <a:r>
              <a:rPr lang="es-ES" sz="4000" dirty="0"/>
              <a:t>, </a:t>
            </a:r>
            <a:r>
              <a:rPr lang="es-ES" sz="4000" dirty="0" err="1"/>
              <a:t>feedback</a:t>
            </a:r>
            <a:r>
              <a:rPr lang="es-ES" sz="4000" dirty="0"/>
              <a:t>, </a:t>
            </a:r>
            <a:r>
              <a:rPr lang="es-ES" sz="4000" dirty="0" err="1"/>
              <a:t>or</a:t>
            </a:r>
            <a:r>
              <a:rPr lang="es-ES" sz="4000" dirty="0"/>
              <a:t> </a:t>
            </a:r>
            <a:r>
              <a:rPr lang="es-ES" sz="4000" dirty="0" err="1"/>
              <a:t>confirmation</a:t>
            </a:r>
            <a:r>
              <a:rPr lang="es-ES" sz="4000" dirty="0"/>
              <a:t> </a:t>
            </a:r>
            <a:r>
              <a:rPr lang="es-ES" sz="4000" dirty="0" err="1"/>
              <a:t>from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.</a:t>
            </a:r>
            <a:endParaRPr lang="es-ES" sz="4000" b="1" dirty="0"/>
          </a:p>
          <a:p>
            <a:pPr defTabSz="684000">
              <a:lnSpc>
                <a:spcPct val="120000"/>
              </a:lnSpc>
            </a:pPr>
            <a:r>
              <a:rPr lang="es-ES" sz="4000" b="1" dirty="0" err="1"/>
              <a:t>Review</a:t>
            </a:r>
            <a:r>
              <a:rPr lang="es-ES" sz="4000" dirty="0"/>
              <a:t> – The </a:t>
            </a:r>
            <a:r>
              <a:rPr lang="es-ES" sz="4000" dirty="0" err="1"/>
              <a:t>proof</a:t>
            </a:r>
            <a:r>
              <a:rPr lang="es-ES" sz="4000" dirty="0"/>
              <a:t> </a:t>
            </a:r>
            <a:r>
              <a:rPr lang="es-ES" sz="4000" dirty="0" err="1"/>
              <a:t>version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sent</a:t>
            </a:r>
            <a:r>
              <a:rPr lang="es-ES" sz="4000" dirty="0"/>
              <a:t> </a:t>
            </a:r>
            <a:r>
              <a:rPr lang="es-ES" sz="4000" dirty="0" err="1"/>
              <a:t>to</a:t>
            </a:r>
            <a:r>
              <a:rPr lang="es-ES" sz="4000" dirty="0"/>
              <a:t>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requester</a:t>
            </a:r>
            <a:r>
              <a:rPr lang="es-ES" sz="4000" dirty="0"/>
              <a:t> </a:t>
            </a:r>
            <a:r>
              <a:rPr lang="es-ES" sz="4000" dirty="0" err="1"/>
              <a:t>for</a:t>
            </a:r>
            <a:r>
              <a:rPr lang="es-ES" sz="4000" dirty="0"/>
              <a:t> </a:t>
            </a:r>
            <a:r>
              <a:rPr lang="es-ES" sz="4000" dirty="0" err="1"/>
              <a:t>feedback</a:t>
            </a:r>
            <a:r>
              <a:rPr lang="es-ES" sz="40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4000" b="1" dirty="0"/>
              <a:t>Done</a:t>
            </a:r>
            <a:r>
              <a:rPr lang="es-ES" sz="4000" dirty="0"/>
              <a:t> – The </a:t>
            </a:r>
            <a:r>
              <a:rPr lang="es-ES" sz="4000" dirty="0" err="1"/>
              <a:t>project</a:t>
            </a:r>
            <a:r>
              <a:rPr lang="es-ES" sz="4000" dirty="0"/>
              <a:t> has </a:t>
            </a:r>
            <a:r>
              <a:rPr lang="es-ES" sz="4000" dirty="0" err="1"/>
              <a:t>been</a:t>
            </a:r>
            <a:r>
              <a:rPr lang="es-ES" sz="4000" dirty="0"/>
              <a:t> </a:t>
            </a:r>
            <a:r>
              <a:rPr lang="es-ES" sz="4000" dirty="0" err="1"/>
              <a:t>completed</a:t>
            </a:r>
            <a:r>
              <a:rPr lang="es-ES" sz="4000" dirty="0"/>
              <a:t> and no </a:t>
            </a:r>
            <a:r>
              <a:rPr lang="es-ES" sz="4000" dirty="0" err="1"/>
              <a:t>further</a:t>
            </a:r>
            <a:r>
              <a:rPr lang="es-ES" sz="4000" dirty="0"/>
              <a:t> </a:t>
            </a:r>
            <a:r>
              <a:rPr lang="es-ES" sz="4000" dirty="0" err="1"/>
              <a:t>action</a:t>
            </a:r>
            <a:r>
              <a:rPr lang="es-ES" sz="4000" dirty="0"/>
              <a:t> </a:t>
            </a:r>
            <a:r>
              <a:rPr lang="es-ES" sz="4000" dirty="0" err="1"/>
              <a:t>is</a:t>
            </a:r>
            <a:r>
              <a:rPr lang="es-ES" sz="4000" dirty="0"/>
              <a:t> </a:t>
            </a:r>
            <a:r>
              <a:rPr lang="es-ES" sz="4000" dirty="0" err="1"/>
              <a:t>required</a:t>
            </a:r>
            <a:r>
              <a:rPr lang="es-ES" sz="4000" dirty="0"/>
              <a:t>.</a:t>
            </a:r>
          </a:p>
          <a:p>
            <a:pPr defTabSz="684000">
              <a:lnSpc>
                <a:spcPct val="120000"/>
              </a:lnSpc>
            </a:pPr>
            <a:endParaRPr lang="es-ES" sz="40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2FEA110-BA03-4731-4B11-9FD2DA21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Everything starts with an email</a:t>
            </a:r>
            <a:endParaRPr lang="es-ES" dirty="0"/>
          </a:p>
        </p:txBody>
      </p:sp>
      <p:sp>
        <p:nvSpPr>
          <p:cNvPr id="13" name="Marcador de contenido 1">
            <a:extLst>
              <a:ext uri="{FF2B5EF4-FFF2-40B4-BE49-F238E27FC236}">
                <a16:creationId xmlns:a16="http://schemas.microsoft.com/office/drawing/2014/main" id="{A8AE26A5-1272-A94D-EE40-FFC645EE3D76}"/>
              </a:ext>
            </a:extLst>
          </p:cNvPr>
          <p:cNvSpPr txBox="1">
            <a:spLocks/>
          </p:cNvSpPr>
          <p:nvPr/>
        </p:nvSpPr>
        <p:spPr>
          <a:xfrm>
            <a:off x="7821911" y="1764826"/>
            <a:ext cx="3895339" cy="4620354"/>
          </a:xfrm>
          <a:prstGeom prst="rect">
            <a:avLst/>
          </a:prstGeom>
        </p:spPr>
        <p:txBody>
          <a:bodyPr vert="horz" lIns="91440" tIns="90000" rIns="91440" bIns="3600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1500" b="1" dirty="0"/>
              <a:t>Who: </a:t>
            </a:r>
            <a:r>
              <a:rPr lang="es-ES" sz="1500" dirty="0"/>
              <a:t>Used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identify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responsible</a:t>
            </a:r>
            <a:r>
              <a:rPr lang="es-ES" sz="1500" dirty="0"/>
              <a:t> </a:t>
            </a:r>
            <a:r>
              <a:rPr lang="es-ES" sz="1500" dirty="0" err="1"/>
              <a:t>for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Apply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tag </a:t>
            </a:r>
            <a:r>
              <a:rPr lang="es-ES" sz="1500" dirty="0" err="1"/>
              <a:t>with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designer's</a:t>
            </a:r>
            <a:r>
              <a:rPr lang="es-ES" sz="1500" dirty="0"/>
              <a:t> </a:t>
            </a:r>
            <a:r>
              <a:rPr lang="es-ES" sz="1500" dirty="0" err="1"/>
              <a:t>name</a:t>
            </a:r>
            <a:r>
              <a:rPr lang="es-ES" sz="1500" dirty="0"/>
              <a:t> once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task</a:t>
            </a:r>
            <a:r>
              <a:rPr lang="es-ES" sz="1500" dirty="0"/>
              <a:t> has </a:t>
            </a:r>
            <a:r>
              <a:rPr lang="es-ES" sz="1500" dirty="0" err="1"/>
              <a:t>been</a:t>
            </a:r>
            <a:r>
              <a:rPr lang="es-ES" sz="1500" dirty="0"/>
              <a:t> </a:t>
            </a:r>
            <a:r>
              <a:rPr lang="es-ES" sz="1500" dirty="0" err="1"/>
              <a:t>assigned</a:t>
            </a:r>
            <a:r>
              <a:rPr lang="es-ES" sz="1500" dirty="0"/>
              <a:t>. </a:t>
            </a:r>
          </a:p>
          <a:p>
            <a:pPr defTabSz="684000">
              <a:lnSpc>
                <a:spcPct val="120000"/>
              </a:lnSpc>
            </a:pPr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allows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team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quickly</a:t>
            </a:r>
            <a:r>
              <a:rPr lang="es-ES" sz="1500" dirty="0"/>
              <a:t> </a:t>
            </a:r>
            <a:r>
              <a:rPr lang="es-ES" sz="1500" dirty="0" err="1"/>
              <a:t>see</a:t>
            </a:r>
            <a:r>
              <a:rPr lang="es-ES" sz="1500" dirty="0"/>
              <a:t> </a:t>
            </a:r>
            <a:r>
              <a:rPr lang="es-ES" sz="1500" dirty="0" err="1"/>
              <a:t>who</a:t>
            </a:r>
            <a:r>
              <a:rPr lang="es-ES" sz="1500" dirty="0"/>
              <a:t> </a:t>
            </a:r>
            <a:r>
              <a:rPr lang="es-ES" sz="1500" dirty="0" err="1"/>
              <a:t>owns</a:t>
            </a:r>
            <a:r>
              <a:rPr lang="es-ES" sz="1500" dirty="0"/>
              <a:t> </a:t>
            </a:r>
            <a:r>
              <a:rPr lang="es-ES" sz="1500" dirty="0" err="1"/>
              <a:t>each</a:t>
            </a:r>
            <a:r>
              <a:rPr lang="es-ES" sz="1500" dirty="0"/>
              <a:t> </a:t>
            </a:r>
            <a:r>
              <a:rPr lang="es-ES" sz="1500" dirty="0" err="1"/>
              <a:t>project</a:t>
            </a:r>
            <a:r>
              <a:rPr lang="es-ES" sz="1500" dirty="0"/>
              <a:t>. </a:t>
            </a:r>
          </a:p>
          <a:p>
            <a:pPr marL="0" indent="0">
              <a:buNone/>
            </a:pPr>
            <a:r>
              <a:rPr lang="es-ES" sz="1500" b="1" dirty="0"/>
              <a:t>Folders: </a:t>
            </a:r>
            <a:r>
              <a:rPr lang="es-ES" sz="1500" dirty="0"/>
              <a:t>Once a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is</a:t>
            </a:r>
            <a:r>
              <a:rPr lang="es-ES" sz="1500" dirty="0"/>
              <a:t> </a:t>
            </a:r>
            <a:r>
              <a:rPr lang="es-ES" sz="1500" dirty="0" err="1"/>
              <a:t>completed</a:t>
            </a:r>
            <a:r>
              <a:rPr lang="es-ES" sz="1500" dirty="0"/>
              <a:t>, </a:t>
            </a:r>
            <a:r>
              <a:rPr lang="es-ES" sz="1500" dirty="0" err="1"/>
              <a:t>move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email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corresponding</a:t>
            </a:r>
            <a:r>
              <a:rPr lang="es-ES" sz="1500" dirty="0"/>
              <a:t> folder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keep</a:t>
            </a:r>
            <a:r>
              <a:rPr lang="es-ES" sz="1500" dirty="0"/>
              <a:t> </a:t>
            </a:r>
            <a:r>
              <a:rPr lang="es-ES" sz="1500" dirty="0" err="1"/>
              <a:t>the</a:t>
            </a:r>
            <a:r>
              <a:rPr lang="es-ES" sz="1500" dirty="0"/>
              <a:t> </a:t>
            </a:r>
            <a:r>
              <a:rPr lang="es-ES" sz="1500" dirty="0" err="1"/>
              <a:t>inbox</a:t>
            </a:r>
            <a:r>
              <a:rPr lang="es-ES" sz="1500" dirty="0"/>
              <a:t> </a:t>
            </a:r>
            <a:r>
              <a:rPr lang="es-ES" sz="1500" dirty="0" err="1"/>
              <a:t>organized</a:t>
            </a:r>
            <a:r>
              <a:rPr lang="es-ES" sz="1500" dirty="0"/>
              <a:t> and </a:t>
            </a:r>
            <a:r>
              <a:rPr lang="es-ES" sz="1500" dirty="0" err="1"/>
              <a:t>make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</a:t>
            </a:r>
            <a:r>
              <a:rPr lang="es-ES" sz="1500" dirty="0" err="1"/>
              <a:t>projects</a:t>
            </a:r>
            <a:r>
              <a:rPr lang="es-ES" sz="1500" dirty="0"/>
              <a:t> </a:t>
            </a:r>
            <a:r>
              <a:rPr lang="es-ES" sz="1500" dirty="0" err="1"/>
              <a:t>easy</a:t>
            </a:r>
            <a:r>
              <a:rPr lang="es-ES" sz="1500" dirty="0"/>
              <a:t> </a:t>
            </a:r>
            <a:r>
              <a:rPr lang="es-ES" sz="1500" dirty="0" err="1"/>
              <a:t>to</a:t>
            </a:r>
            <a:r>
              <a:rPr lang="es-ES" sz="1500" dirty="0"/>
              <a:t> </a:t>
            </a:r>
            <a:r>
              <a:rPr lang="es-ES" sz="1500" dirty="0" err="1"/>
              <a:t>find</a:t>
            </a:r>
            <a:r>
              <a:rPr lang="es-ES" sz="1500" dirty="0"/>
              <a:t>.</a:t>
            </a:r>
          </a:p>
          <a:p>
            <a:r>
              <a:rPr lang="es-ES" sz="1500" dirty="0"/>
              <a:t>Emails are </a:t>
            </a:r>
            <a:r>
              <a:rPr lang="es-ES" sz="1500" dirty="0" err="1"/>
              <a:t>filed</a:t>
            </a:r>
            <a:r>
              <a:rPr lang="es-ES" sz="1500" dirty="0"/>
              <a:t> </a:t>
            </a:r>
            <a:r>
              <a:rPr lang="es-ES" sz="1500" b="1" dirty="0" err="1"/>
              <a:t>by</a:t>
            </a:r>
            <a:r>
              <a:rPr lang="es-ES" sz="1500" b="1" dirty="0"/>
              <a:t> </a:t>
            </a:r>
            <a:r>
              <a:rPr lang="es-ES" sz="1500" b="1" dirty="0" err="1"/>
              <a:t>market</a:t>
            </a:r>
            <a:r>
              <a:rPr lang="es-ES" sz="1500" b="1" dirty="0"/>
              <a:t> </a:t>
            </a:r>
            <a:r>
              <a:rPr lang="es-ES" sz="1500" b="1" dirty="0" err="1"/>
              <a:t>or</a:t>
            </a:r>
            <a:r>
              <a:rPr lang="es-ES" sz="1500" b="1" dirty="0"/>
              <a:t> </a:t>
            </a:r>
            <a:r>
              <a:rPr lang="es-ES" sz="1500" b="1" dirty="0" err="1"/>
              <a:t>business</a:t>
            </a:r>
            <a:r>
              <a:rPr lang="es-ES" sz="1500" b="1" dirty="0"/>
              <a:t> </a:t>
            </a:r>
            <a:r>
              <a:rPr lang="es-ES" sz="1500" b="1" dirty="0" err="1"/>
              <a:t>area</a:t>
            </a:r>
            <a:r>
              <a:rPr lang="es-ES" sz="1500" dirty="0"/>
              <a:t> (</a:t>
            </a:r>
            <a:r>
              <a:rPr lang="es-ES" sz="1500" dirty="0" err="1"/>
              <a:t>e.g</a:t>
            </a:r>
            <a:r>
              <a:rPr lang="es-ES" sz="1500" dirty="0"/>
              <a:t>. Global, Salmon, EMEA, ASIA, etc.). </a:t>
            </a:r>
          </a:p>
          <a:p>
            <a:r>
              <a:rPr lang="es-ES" sz="1500" dirty="0" err="1"/>
              <a:t>This</a:t>
            </a:r>
            <a:r>
              <a:rPr lang="es-ES" sz="1500" dirty="0"/>
              <a:t> </a:t>
            </a:r>
            <a:r>
              <a:rPr lang="es-ES" sz="1500" dirty="0" err="1"/>
              <a:t>structure</a:t>
            </a:r>
            <a:r>
              <a:rPr lang="es-ES" sz="1500" dirty="0"/>
              <a:t> </a:t>
            </a:r>
            <a:r>
              <a:rPr lang="es-ES" sz="1500" dirty="0" err="1"/>
              <a:t>helps</a:t>
            </a:r>
            <a:r>
              <a:rPr lang="es-ES" sz="1500" dirty="0"/>
              <a:t> </a:t>
            </a:r>
            <a:r>
              <a:rPr lang="es-ES" sz="1500" dirty="0" err="1"/>
              <a:t>with</a:t>
            </a:r>
            <a:r>
              <a:rPr lang="es-ES" sz="1500" dirty="0"/>
              <a:t> future </a:t>
            </a:r>
            <a:r>
              <a:rPr lang="es-ES" sz="1500" dirty="0" err="1"/>
              <a:t>reference</a:t>
            </a:r>
            <a:r>
              <a:rPr lang="es-ES" sz="1500" dirty="0"/>
              <a:t>, </a:t>
            </a:r>
            <a:r>
              <a:rPr lang="es-ES" sz="1500" dirty="0" err="1"/>
              <a:t>project</a:t>
            </a:r>
            <a:r>
              <a:rPr lang="es-ES" sz="1500" dirty="0"/>
              <a:t> </a:t>
            </a:r>
            <a:r>
              <a:rPr lang="es-ES" sz="1500" dirty="0" err="1"/>
              <a:t>history</a:t>
            </a:r>
            <a:r>
              <a:rPr lang="es-ES" sz="1500" dirty="0"/>
              <a:t>, and </a:t>
            </a:r>
            <a:r>
              <a:rPr lang="es-ES" sz="1500" dirty="0" err="1"/>
              <a:t>retrieving</a:t>
            </a:r>
            <a:r>
              <a:rPr lang="es-ES" sz="1500" dirty="0"/>
              <a:t> </a:t>
            </a:r>
            <a:r>
              <a:rPr lang="es-ES" sz="1500" dirty="0" err="1"/>
              <a:t>previous</a:t>
            </a:r>
            <a:r>
              <a:rPr lang="es-ES" sz="1500" dirty="0"/>
              <a:t> files </a:t>
            </a:r>
            <a:r>
              <a:rPr lang="es-ES" sz="1500" dirty="0" err="1"/>
              <a:t>or</a:t>
            </a:r>
            <a:r>
              <a:rPr lang="es-ES" sz="1500" dirty="0"/>
              <a:t> </a:t>
            </a:r>
            <a:r>
              <a:rPr lang="es-ES" sz="1500" dirty="0" err="1"/>
              <a:t>conversations</a:t>
            </a:r>
            <a:r>
              <a:rPr lang="es-ES" sz="1500" dirty="0"/>
              <a:t>.</a:t>
            </a:r>
          </a:p>
          <a:p>
            <a:endParaRPr lang="es-ES" sz="14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D2178D22-B691-77B0-EA9D-632E80078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176" y="0"/>
            <a:ext cx="3321029" cy="6858000"/>
          </a:xfrm>
          <a:prstGeom prst="rect">
            <a:avLst/>
          </a:prstGeom>
        </p:spPr>
      </p:pic>
      <p:sp>
        <p:nvSpPr>
          <p:cNvPr id="29" name="Marcador de contenido 1">
            <a:extLst>
              <a:ext uri="{FF2B5EF4-FFF2-40B4-BE49-F238E27FC236}">
                <a16:creationId xmlns:a16="http://schemas.microsoft.com/office/drawing/2014/main" id="{B26AEBA7-4583-77DC-32D4-EA4D4FA4E99F}"/>
              </a:ext>
            </a:extLst>
          </p:cNvPr>
          <p:cNvSpPr txBox="1">
            <a:spLocks/>
          </p:cNvSpPr>
          <p:nvPr/>
        </p:nvSpPr>
        <p:spPr>
          <a:xfrm>
            <a:off x="3608438" y="6295056"/>
            <a:ext cx="7729159" cy="48915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4000">
              <a:lnSpc>
                <a:spcPct val="120000"/>
              </a:lnSpc>
              <a:buNone/>
            </a:pPr>
            <a:r>
              <a:rPr lang="es-ES" sz="900" b="1" dirty="0">
                <a:solidFill>
                  <a:schemeClr val="bg1">
                    <a:lumMod val="50000"/>
                  </a:schemeClr>
                </a:solidFill>
              </a:rPr>
              <a:t>Tip: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Keep tags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updated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throughout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project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and archive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completed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requests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appropriate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folder. A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well-maintained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inbox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makes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collaboration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workload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management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, and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handovers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much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 more </a:t>
            </a:r>
            <a:r>
              <a:rPr lang="es-ES" sz="900" dirty="0" err="1">
                <a:solidFill>
                  <a:schemeClr val="bg1">
                    <a:lumMod val="50000"/>
                  </a:schemeClr>
                </a:solidFill>
              </a:rPr>
              <a:t>efficient</a:t>
            </a:r>
            <a:r>
              <a:rPr lang="es-ES" sz="900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688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2278239-429E-7FC3-78E5-E185AC1198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0F31098-1D6E-D77B-CD0C-B853189D3302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AD25907-56BE-6E49-9890-C6F3FF9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28B2605-3BAF-B783-BB43-D440EE42F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45BA03A-CD57-713E-0E6C-27FB6CC5594C}"/>
              </a:ext>
            </a:extLst>
          </p:cNvPr>
          <p:cNvSpPr/>
          <p:nvPr/>
        </p:nvSpPr>
        <p:spPr>
          <a:xfrm>
            <a:off x="1543792" y="498021"/>
            <a:ext cx="1819894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710AF31-8626-19AE-2F06-0F27982E559A}"/>
              </a:ext>
            </a:extLst>
          </p:cNvPr>
          <p:cNvSpPr/>
          <p:nvPr/>
        </p:nvSpPr>
        <p:spPr>
          <a:xfrm>
            <a:off x="3649436" y="2481943"/>
            <a:ext cx="4702628" cy="1722664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Tasks</a:t>
            </a:r>
            <a:r>
              <a:rPr lang="es-ES" sz="1600" b="1" dirty="0"/>
              <a:t> / </a:t>
            </a:r>
            <a:r>
              <a:rPr lang="es-ES" sz="1600" b="1" dirty="0" err="1"/>
              <a:t>Projects</a:t>
            </a:r>
            <a:r>
              <a:rPr lang="es-ES" sz="1600" b="1" dirty="0"/>
              <a:t> </a:t>
            </a:r>
            <a:r>
              <a:rPr lang="es-ES" sz="1600" b="1" dirty="0" err="1"/>
              <a:t>Column</a:t>
            </a:r>
            <a:endParaRPr lang="es-ES" sz="1600" b="1" dirty="0"/>
          </a:p>
          <a:p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where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new </a:t>
            </a:r>
            <a:r>
              <a:rPr lang="es-ES" sz="1600" dirty="0" err="1"/>
              <a:t>requests</a:t>
            </a:r>
            <a:r>
              <a:rPr lang="es-ES" sz="1600" dirty="0"/>
              <a:t> are </a:t>
            </a:r>
            <a:r>
              <a:rPr lang="es-ES" sz="1600" dirty="0" err="1"/>
              <a:t>added</a:t>
            </a:r>
            <a:r>
              <a:rPr lang="es-ES" sz="1600" dirty="0"/>
              <a:t> </a:t>
            </a:r>
            <a:r>
              <a:rPr lang="es-ES" sz="1600" dirty="0" err="1"/>
              <a:t>when</a:t>
            </a:r>
            <a:r>
              <a:rPr lang="es-ES" sz="1600" dirty="0"/>
              <a:t> </a:t>
            </a:r>
            <a:r>
              <a:rPr lang="es-ES" sz="1600" dirty="0" err="1"/>
              <a:t>they</a:t>
            </a:r>
            <a:r>
              <a:rPr lang="es-ES" sz="1600" dirty="0"/>
              <a:t> </a:t>
            </a:r>
            <a:r>
              <a:rPr lang="es-ES" sz="1600" dirty="0" err="1"/>
              <a:t>enter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Hub. A </a:t>
            </a:r>
            <a:r>
              <a:rPr lang="es-ES" sz="1600" dirty="0" err="1"/>
              <a:t>task</a:t>
            </a:r>
            <a:r>
              <a:rPr lang="es-ES" sz="1600" dirty="0"/>
              <a:t> in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column</a:t>
            </a:r>
            <a:r>
              <a:rPr lang="es-ES" sz="1600" dirty="0"/>
              <a:t> </a:t>
            </a:r>
            <a:r>
              <a:rPr lang="es-ES" sz="1600" dirty="0" err="1"/>
              <a:t>means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an</a:t>
            </a:r>
            <a:r>
              <a:rPr lang="es-ES" sz="1600" dirty="0"/>
              <a:t> active </a:t>
            </a:r>
            <a:r>
              <a:rPr lang="es-ES" sz="1600" dirty="0" err="1"/>
              <a:t>project</a:t>
            </a:r>
            <a:r>
              <a:rPr lang="es-ES" sz="1600" dirty="0"/>
              <a:t>, </a:t>
            </a:r>
            <a:r>
              <a:rPr lang="es-ES" sz="1600" dirty="0" err="1"/>
              <a:t>but</a:t>
            </a:r>
            <a:r>
              <a:rPr lang="es-ES" sz="1600" dirty="0"/>
              <a:t> </a:t>
            </a:r>
            <a:r>
              <a:rPr lang="es-ES" sz="1600" dirty="0" err="1"/>
              <a:t>it</a:t>
            </a:r>
            <a:r>
              <a:rPr lang="es-ES" sz="1600" dirty="0"/>
              <a:t> has </a:t>
            </a:r>
            <a:r>
              <a:rPr lang="es-ES" sz="1600" dirty="0" err="1"/>
              <a:t>not</a:t>
            </a:r>
            <a:r>
              <a:rPr lang="es-ES" sz="1600" dirty="0"/>
              <a:t> </a:t>
            </a:r>
            <a:r>
              <a:rPr lang="es-ES" sz="1600" dirty="0" err="1"/>
              <a:t>yet</a:t>
            </a:r>
            <a:r>
              <a:rPr lang="es-ES" sz="1600" dirty="0"/>
              <a:t>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assigned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a </a:t>
            </a:r>
            <a:r>
              <a:rPr lang="es-ES" sz="1600" dirty="0" err="1"/>
              <a:t>designer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67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B12E-1371-7922-7AB3-78027D42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81E1877-8B18-76EC-4325-4247302E78C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8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5F99BB19-8603-5554-4E9C-1E0E45B8894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AFB7C1E-7F78-6F2F-15BD-C766A587B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D28F15-0D2B-BA99-4207-259E09C6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8BEC0D1-A5B5-A677-98C2-16C2F4C5104B}"/>
              </a:ext>
            </a:extLst>
          </p:cNvPr>
          <p:cNvSpPr/>
          <p:nvPr/>
        </p:nvSpPr>
        <p:spPr>
          <a:xfrm>
            <a:off x="3331770" y="498021"/>
            <a:ext cx="3526229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4A649BE-730B-C8DD-B10C-55CED6DAB870}"/>
              </a:ext>
            </a:extLst>
          </p:cNvPr>
          <p:cNvSpPr/>
          <p:nvPr/>
        </p:nvSpPr>
        <p:spPr>
          <a:xfrm>
            <a:off x="7010907" y="2694214"/>
            <a:ext cx="4702628" cy="200024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Designer</a:t>
            </a:r>
            <a:r>
              <a:rPr lang="es-ES" sz="1600" b="1" dirty="0"/>
              <a:t>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Once a </a:t>
            </a:r>
            <a:r>
              <a:rPr lang="es-ES" sz="1600" dirty="0" err="1"/>
              <a:t>designer</a:t>
            </a:r>
            <a:r>
              <a:rPr lang="es-ES" sz="1600" dirty="0"/>
              <a:t> </a:t>
            </a:r>
            <a:r>
              <a:rPr lang="es-ES" sz="1600" dirty="0" err="1"/>
              <a:t>starts</a:t>
            </a:r>
            <a:r>
              <a:rPr lang="es-ES" sz="1600" dirty="0"/>
              <a:t> </a:t>
            </a:r>
            <a:r>
              <a:rPr lang="es-ES" sz="1600" dirty="0" err="1"/>
              <a:t>working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a </a:t>
            </a:r>
            <a:r>
              <a:rPr lang="es-ES" sz="1600" dirty="0" err="1"/>
              <a:t>task</a:t>
            </a:r>
            <a:r>
              <a:rPr lang="es-ES" sz="1600" dirty="0"/>
              <a:t>, </a:t>
            </a:r>
            <a:r>
              <a:rPr lang="es-ES" sz="1600" dirty="0" err="1"/>
              <a:t>it</a:t>
            </a:r>
            <a:r>
              <a:rPr lang="es-ES" sz="1600" dirty="0"/>
              <a:t> </a:t>
            </a:r>
            <a:r>
              <a:rPr lang="es-ES" sz="1600" dirty="0" err="1"/>
              <a:t>should</a:t>
            </a:r>
            <a:r>
              <a:rPr lang="es-ES" sz="1600" dirty="0"/>
              <a:t> be moved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their</a:t>
            </a:r>
            <a:r>
              <a:rPr lang="es-ES" sz="1600" dirty="0"/>
              <a:t> personal </a:t>
            </a:r>
            <a:r>
              <a:rPr lang="es-ES" sz="1600" dirty="0" err="1"/>
              <a:t>column</a:t>
            </a:r>
            <a:r>
              <a:rPr lang="es-ES" sz="1600" dirty="0"/>
              <a:t>. </a:t>
            </a:r>
            <a:r>
              <a:rPr lang="es-ES" sz="1600" dirty="0" err="1"/>
              <a:t>This</a:t>
            </a:r>
            <a:r>
              <a:rPr lang="es-ES" sz="1600" dirty="0"/>
              <a:t> </a:t>
            </a:r>
            <a:r>
              <a:rPr lang="es-ES" sz="1600" dirty="0" err="1"/>
              <a:t>makes</a:t>
            </a:r>
            <a:r>
              <a:rPr lang="es-ES" sz="1600" dirty="0"/>
              <a:t> </a:t>
            </a:r>
            <a:r>
              <a:rPr lang="es-ES" sz="1600" dirty="0" err="1"/>
              <a:t>ownership</a:t>
            </a:r>
            <a:r>
              <a:rPr lang="es-ES" sz="1600" dirty="0"/>
              <a:t> </a:t>
            </a:r>
            <a:r>
              <a:rPr lang="es-ES" sz="1600" dirty="0" err="1"/>
              <a:t>clear</a:t>
            </a:r>
            <a:r>
              <a:rPr lang="es-ES" sz="1600" dirty="0"/>
              <a:t> and </a:t>
            </a:r>
            <a:r>
              <a:rPr lang="es-ES" sz="1600" dirty="0" err="1"/>
              <a:t>allows</a:t>
            </a:r>
            <a:r>
              <a:rPr lang="es-ES" sz="1600" dirty="0"/>
              <a:t> </a:t>
            </a:r>
            <a:r>
              <a:rPr lang="es-ES" sz="1600" dirty="0" err="1"/>
              <a:t>everyone</a:t>
            </a:r>
            <a:r>
              <a:rPr lang="es-ES" sz="1600" dirty="0"/>
              <a:t> in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Design</a:t>
            </a:r>
            <a:r>
              <a:rPr lang="es-ES" sz="1600" dirty="0"/>
              <a:t> Hub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quickly</a:t>
            </a:r>
            <a:r>
              <a:rPr lang="es-ES" sz="1600" dirty="0"/>
              <a:t> </a:t>
            </a:r>
            <a:r>
              <a:rPr lang="es-ES" sz="1600" dirty="0" err="1"/>
              <a:t>see</a:t>
            </a:r>
            <a:r>
              <a:rPr lang="es-ES" sz="1600" dirty="0"/>
              <a:t> </a:t>
            </a:r>
            <a:r>
              <a:rPr lang="es-ES" sz="1600" dirty="0" err="1"/>
              <a:t>who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responsible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project</a:t>
            </a:r>
            <a:r>
              <a:rPr lang="es-ES" sz="1600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4695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D202F-A6D0-745B-D504-6B8AA55D2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796AABB-09AD-5B38-15B7-79AF5E8C3E3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DA0FE36D-C276-54A7-1342-E80671162BC7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B194683-B42F-BD18-8D98-0F8EBBED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7F3180-D4FA-CACB-AAC0-ACD48DD5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92" y="0"/>
            <a:ext cx="10648207" cy="6897642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371350C-2C62-5DA1-F49E-D497EBB10F10}"/>
              </a:ext>
            </a:extLst>
          </p:cNvPr>
          <p:cNvSpPr/>
          <p:nvPr/>
        </p:nvSpPr>
        <p:spPr>
          <a:xfrm>
            <a:off x="6809014" y="498021"/>
            <a:ext cx="5298622" cy="635997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254B7DE-5FAE-AC7E-30BC-D7DEFBC9B0CA}"/>
              </a:ext>
            </a:extLst>
          </p:cNvPr>
          <p:cNvSpPr/>
          <p:nvPr/>
        </p:nvSpPr>
        <p:spPr>
          <a:xfrm>
            <a:off x="1825090" y="1669595"/>
            <a:ext cx="4702628" cy="4016829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/>
              <a:t>Status </a:t>
            </a:r>
            <a:r>
              <a:rPr lang="es-ES" sz="1600" b="1" dirty="0" err="1"/>
              <a:t>Columns</a:t>
            </a:r>
            <a:endParaRPr lang="es-ES" sz="1600" b="1" dirty="0"/>
          </a:p>
          <a:p>
            <a:r>
              <a:rPr lang="es-ES" sz="1600" dirty="0"/>
              <a:t>Status </a:t>
            </a:r>
            <a:r>
              <a:rPr lang="es-ES" sz="1600" dirty="0" err="1"/>
              <a:t>columns</a:t>
            </a:r>
            <a:r>
              <a:rPr lang="es-ES" sz="1600" dirty="0"/>
              <a:t> </a:t>
            </a:r>
            <a:r>
              <a:rPr lang="es-ES" sz="1600" dirty="0" err="1"/>
              <a:t>help</a:t>
            </a:r>
            <a:r>
              <a:rPr lang="es-ES" sz="1600" dirty="0"/>
              <a:t> </a:t>
            </a:r>
            <a:r>
              <a:rPr lang="es-ES" sz="1600" dirty="0" err="1"/>
              <a:t>track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progress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ongoing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:</a:t>
            </a:r>
          </a:p>
          <a:p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Sent</a:t>
            </a:r>
            <a:r>
              <a:rPr lang="es-ES" sz="1600" b="1" dirty="0"/>
              <a:t> </a:t>
            </a:r>
            <a:r>
              <a:rPr lang="es-ES" sz="1600" b="1" dirty="0" err="1"/>
              <a:t>for</a:t>
            </a:r>
            <a:r>
              <a:rPr lang="es-ES" sz="1600" b="1" dirty="0"/>
              <a:t> </a:t>
            </a:r>
            <a:r>
              <a:rPr lang="es-ES" sz="1600" b="1" dirty="0" err="1"/>
              <a:t>Review</a:t>
            </a:r>
            <a:r>
              <a:rPr lang="es-ES" sz="1600" dirty="0"/>
              <a:t> – The </a:t>
            </a:r>
            <a:r>
              <a:rPr lang="es-ES" sz="1600" dirty="0" err="1"/>
              <a:t>proof</a:t>
            </a:r>
            <a:r>
              <a:rPr lang="es-ES" sz="1600" dirty="0"/>
              <a:t> </a:t>
            </a:r>
            <a:r>
              <a:rPr lang="es-ES" sz="1600" dirty="0" err="1"/>
              <a:t>version</a:t>
            </a:r>
            <a:r>
              <a:rPr lang="es-ES" sz="1600" dirty="0"/>
              <a:t> has </a:t>
            </a:r>
            <a:r>
              <a:rPr lang="es-ES" sz="1600" dirty="0" err="1"/>
              <a:t>been</a:t>
            </a:r>
            <a:r>
              <a:rPr lang="es-ES" sz="1600" dirty="0"/>
              <a:t> </a:t>
            </a:r>
            <a:r>
              <a:rPr lang="es-ES" sz="1600" dirty="0" err="1"/>
              <a:t>shared</a:t>
            </a:r>
            <a:r>
              <a:rPr lang="es-ES" sz="1600" dirty="0"/>
              <a:t> </a:t>
            </a:r>
            <a:r>
              <a:rPr lang="es-ES" sz="1600" dirty="0" err="1"/>
              <a:t>with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 and </a:t>
            </a:r>
            <a:r>
              <a:rPr lang="es-ES" sz="1600" dirty="0" err="1"/>
              <a:t>we</a:t>
            </a:r>
            <a:r>
              <a:rPr lang="es-ES" sz="1600" dirty="0"/>
              <a:t> are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feedback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approval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/>
              <a:t>In </a:t>
            </a:r>
            <a:r>
              <a:rPr lang="es-ES" sz="1600" b="1" dirty="0" err="1"/>
              <a:t>Progress</a:t>
            </a:r>
            <a:r>
              <a:rPr lang="es-ES" sz="1600" dirty="0"/>
              <a:t> – Used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larger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longer-term</a:t>
            </a:r>
            <a:r>
              <a:rPr lang="es-ES" sz="1600" dirty="0"/>
              <a:t> </a:t>
            </a:r>
            <a:r>
              <a:rPr lang="es-ES" sz="1600" dirty="0" err="1"/>
              <a:t>projects</a:t>
            </a:r>
            <a:r>
              <a:rPr lang="es-ES" sz="1600" dirty="0"/>
              <a:t> </a:t>
            </a:r>
            <a:r>
              <a:rPr lang="es-ES" sz="1600" dirty="0" err="1"/>
              <a:t>that</a:t>
            </a:r>
            <a:r>
              <a:rPr lang="es-ES" sz="1600" dirty="0"/>
              <a:t> are </a:t>
            </a:r>
            <a:r>
              <a:rPr lang="es-ES" sz="1600" dirty="0" err="1"/>
              <a:t>actively</a:t>
            </a:r>
            <a:r>
              <a:rPr lang="es-ES" sz="1600" dirty="0"/>
              <a:t> </a:t>
            </a:r>
            <a:r>
              <a:rPr lang="es-ES" sz="1600" dirty="0" err="1"/>
              <a:t>being</a:t>
            </a:r>
            <a:r>
              <a:rPr lang="es-ES" sz="1600" dirty="0"/>
              <a:t> </a:t>
            </a:r>
            <a:r>
              <a:rPr lang="es-ES" sz="1600" dirty="0" err="1"/>
              <a:t>worked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by</a:t>
            </a:r>
            <a:r>
              <a:rPr lang="es-ES" sz="1600" dirty="0"/>
              <a:t> </a:t>
            </a:r>
            <a:r>
              <a:rPr lang="es-ES" sz="1600" dirty="0" err="1"/>
              <a:t>one</a:t>
            </a:r>
            <a:r>
              <a:rPr lang="es-ES" sz="1600" dirty="0"/>
              <a:t>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both</a:t>
            </a:r>
            <a:r>
              <a:rPr lang="es-ES" sz="1600" dirty="0"/>
              <a:t> </a:t>
            </a:r>
            <a:r>
              <a:rPr lang="es-ES" sz="1600" dirty="0" err="1"/>
              <a:t>designers</a:t>
            </a:r>
            <a:r>
              <a:rPr lang="es-E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Waiting</a:t>
            </a:r>
            <a:r>
              <a:rPr lang="es-ES" sz="1600" dirty="0"/>
              <a:t> – The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is</a:t>
            </a:r>
            <a:r>
              <a:rPr lang="es-ES" sz="1600" dirty="0"/>
              <a:t> </a:t>
            </a:r>
            <a:r>
              <a:rPr lang="es-ES" sz="1600" dirty="0" err="1"/>
              <a:t>temporarily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hold</a:t>
            </a:r>
            <a:r>
              <a:rPr lang="es-ES" sz="1600" dirty="0"/>
              <a:t> </a:t>
            </a:r>
            <a:r>
              <a:rPr lang="es-ES" sz="1600" dirty="0" err="1"/>
              <a:t>while</a:t>
            </a:r>
            <a:r>
              <a:rPr lang="es-ES" sz="1600" dirty="0"/>
              <a:t> </a:t>
            </a:r>
            <a:r>
              <a:rPr lang="es-ES" sz="1600" dirty="0" err="1"/>
              <a:t>waiting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missing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, </a:t>
            </a:r>
            <a:r>
              <a:rPr lang="es-ES" sz="1600" dirty="0" err="1"/>
              <a:t>additional</a:t>
            </a:r>
            <a:r>
              <a:rPr lang="es-ES" sz="1600" dirty="0"/>
              <a:t> </a:t>
            </a:r>
            <a:r>
              <a:rPr lang="es-ES" sz="1600" dirty="0" err="1"/>
              <a:t>details</a:t>
            </a:r>
            <a:r>
              <a:rPr lang="es-ES" sz="1600" dirty="0"/>
              <a:t>, </a:t>
            </a:r>
            <a:r>
              <a:rPr lang="es-ES" sz="1600" dirty="0" err="1"/>
              <a:t>clarification</a:t>
            </a:r>
            <a:r>
              <a:rPr lang="es-ES" sz="1600" dirty="0"/>
              <a:t>, </a:t>
            </a:r>
            <a:r>
              <a:rPr lang="es-ES" sz="1600" dirty="0" err="1"/>
              <a:t>feedback</a:t>
            </a:r>
            <a:r>
              <a:rPr lang="es-ES" sz="1600" dirty="0"/>
              <a:t>, </a:t>
            </a:r>
            <a:r>
              <a:rPr lang="es-ES" sz="1600" dirty="0" err="1"/>
              <a:t>or</a:t>
            </a:r>
            <a:r>
              <a:rPr lang="es-ES" sz="1600" dirty="0"/>
              <a:t> </a:t>
            </a:r>
            <a:r>
              <a:rPr lang="es-ES" sz="1600" dirty="0" err="1"/>
              <a:t>confirmation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requester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742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2DB05-B586-83F2-DFCB-F624965E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F9FCEB-7112-7714-77DA-34ED16BF97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10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37FA695E-9136-B228-6A14-FCED84A6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6A2167F-27A6-B52A-89AF-20749C4C5F67}"/>
              </a:ext>
            </a:extLst>
          </p:cNvPr>
          <p:cNvGrpSpPr/>
          <p:nvPr/>
        </p:nvGrpSpPr>
        <p:grpSpPr>
          <a:xfrm>
            <a:off x="4410876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DB52BA9-3A2F-1C3F-8493-FE7EE0CD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A101B6F5-D14E-50D6-4906-A13641F4C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A3B28E6B-D9EE-07C7-4AF3-6EE2AAB06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4FAD1FE-6CD6-1131-F02C-F1C1AD49A06E}"/>
              </a:ext>
            </a:extLst>
          </p:cNvPr>
          <p:cNvSpPr/>
          <p:nvPr/>
        </p:nvSpPr>
        <p:spPr>
          <a:xfrm>
            <a:off x="1363383" y="2390865"/>
            <a:ext cx="2843386" cy="2235133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 err="1"/>
              <a:t>Task</a:t>
            </a:r>
            <a:r>
              <a:rPr lang="es-ES" sz="1600" b="1" dirty="0"/>
              <a:t> Card </a:t>
            </a:r>
            <a:r>
              <a:rPr lang="es-ES" sz="1600" b="1" dirty="0" err="1"/>
              <a:t>Structure</a:t>
            </a:r>
            <a:endParaRPr lang="es-ES" sz="1600" b="1" dirty="0"/>
          </a:p>
          <a:p>
            <a:r>
              <a:rPr lang="es-ES" sz="1600" dirty="0" err="1"/>
              <a:t>Each</a:t>
            </a:r>
            <a:r>
              <a:rPr lang="es-ES" sz="1600" dirty="0"/>
              <a:t> </a:t>
            </a:r>
            <a:r>
              <a:rPr lang="es-ES" sz="1600" dirty="0" err="1"/>
              <a:t>task</a:t>
            </a:r>
            <a:r>
              <a:rPr lang="es-ES" sz="1600" dirty="0"/>
              <a:t> </a:t>
            </a:r>
            <a:r>
              <a:rPr lang="es-ES" sz="1600" dirty="0" err="1"/>
              <a:t>card</a:t>
            </a:r>
            <a:r>
              <a:rPr lang="es-ES" sz="1600" dirty="0"/>
              <a:t> </a:t>
            </a:r>
            <a:r>
              <a:rPr lang="es-ES" sz="1600" dirty="0" err="1"/>
              <a:t>contains</a:t>
            </a:r>
            <a:r>
              <a:rPr lang="es-ES" sz="1600" dirty="0"/>
              <a:t> </a:t>
            </a:r>
            <a:r>
              <a:rPr lang="es-ES" sz="1600" dirty="0" err="1"/>
              <a:t>all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relevant</a:t>
            </a:r>
            <a:r>
              <a:rPr lang="es-ES" sz="1600" dirty="0"/>
              <a:t> </a:t>
            </a:r>
            <a:r>
              <a:rPr lang="es-ES" sz="1600" dirty="0" err="1"/>
              <a:t>information</a:t>
            </a:r>
            <a:r>
              <a:rPr lang="es-ES" sz="1600" dirty="0"/>
              <a:t> </a:t>
            </a:r>
            <a:r>
              <a:rPr lang="es-ES" sz="1600" dirty="0" err="1"/>
              <a:t>needed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manage</a:t>
            </a:r>
            <a:r>
              <a:rPr lang="es-ES" sz="1600" dirty="0"/>
              <a:t> and </a:t>
            </a:r>
            <a:r>
              <a:rPr lang="es-ES" sz="1600" dirty="0" err="1"/>
              <a:t>track</a:t>
            </a:r>
            <a:r>
              <a:rPr lang="es-ES" sz="1600" dirty="0"/>
              <a:t> a </a:t>
            </a:r>
            <a:r>
              <a:rPr lang="es-ES" sz="1600" dirty="0" err="1"/>
              <a:t>project</a:t>
            </a:r>
            <a:r>
              <a:rPr lang="es-ES" sz="1600" dirty="0"/>
              <a:t> </a:t>
            </a:r>
            <a:r>
              <a:rPr lang="es-ES" sz="1600" dirty="0" err="1"/>
              <a:t>from</a:t>
            </a:r>
            <a:r>
              <a:rPr lang="es-ES" sz="1600" dirty="0"/>
              <a:t> </a:t>
            </a:r>
            <a:r>
              <a:rPr lang="es-ES" sz="1600" dirty="0" err="1"/>
              <a:t>start</a:t>
            </a:r>
            <a:r>
              <a:rPr lang="es-ES" sz="1600" dirty="0"/>
              <a:t> </a:t>
            </a:r>
            <a:r>
              <a:rPr lang="es-ES" sz="1600" dirty="0" err="1"/>
              <a:t>to</a:t>
            </a:r>
            <a:r>
              <a:rPr lang="es-ES" sz="1600" dirty="0"/>
              <a:t> </a:t>
            </a:r>
            <a:r>
              <a:rPr lang="es-ES" sz="1600" dirty="0" err="1"/>
              <a:t>finish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7402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201C-FA90-F426-F987-A45EB3133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6A82BD-8F64-3337-2F01-214447B378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11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0CC5F02-898D-CD44-8E3E-B4B9CF0F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1F9DD76-22EF-24BB-7289-1E92CA293725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8A9DEEA5-D939-4243-4C5D-C44246C35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775886AC-EC58-C03D-8564-A3863626B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7AC8FE79-E3E4-B03E-2AC2-B36F45093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9BAF0E6-9B37-4989-50E4-3CE060C0780A}"/>
              </a:ext>
            </a:extLst>
          </p:cNvPr>
          <p:cNvSpPr/>
          <p:nvPr/>
        </p:nvSpPr>
        <p:spPr>
          <a:xfrm>
            <a:off x="3547593" y="3280608"/>
            <a:ext cx="2063118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7C8B-B371-060D-111E-9AFC349BE6D6}"/>
              </a:ext>
            </a:extLst>
          </p:cNvPr>
          <p:cNvSpPr/>
          <p:nvPr/>
        </p:nvSpPr>
        <p:spPr>
          <a:xfrm>
            <a:off x="1563671" y="5579784"/>
            <a:ext cx="626203" cy="319191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E217EB8-EFAA-D5F9-3118-6ABBD07DE561}"/>
              </a:ext>
            </a:extLst>
          </p:cNvPr>
          <p:cNvSpPr/>
          <p:nvPr/>
        </p:nvSpPr>
        <p:spPr>
          <a:xfrm>
            <a:off x="8001000" y="1534278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Market Tags</a:t>
            </a:r>
          </a:p>
          <a:p>
            <a:r>
              <a:rPr lang="es-ES" sz="1200" dirty="0"/>
              <a:t>Tags are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which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belongs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.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helps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filtering</a:t>
            </a:r>
            <a:r>
              <a:rPr lang="es-ES" sz="1200" dirty="0"/>
              <a:t>, </a:t>
            </a:r>
            <a:r>
              <a:rPr lang="es-ES" sz="1200" dirty="0" err="1"/>
              <a:t>organization</a:t>
            </a:r>
            <a:r>
              <a:rPr lang="es-ES" sz="1200" dirty="0"/>
              <a:t>, and </a:t>
            </a:r>
            <a:r>
              <a:rPr lang="es-ES" sz="1200" dirty="0" err="1"/>
              <a:t>keeping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workload</a:t>
            </a:r>
            <a:r>
              <a:rPr lang="es-ES" sz="1200" dirty="0"/>
              <a:t> </a:t>
            </a:r>
            <a:r>
              <a:rPr lang="es-ES" sz="1200" dirty="0" err="1"/>
              <a:t>across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</a:t>
            </a:r>
            <a:r>
              <a:rPr lang="es-ES" sz="1200" dirty="0" err="1"/>
              <a:t>areas</a:t>
            </a:r>
            <a:r>
              <a:rPr lang="es-ES" sz="1200" dirty="0"/>
              <a:t>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B09A350-9387-EE75-41C2-3C581FEBC41E}"/>
              </a:ext>
            </a:extLst>
          </p:cNvPr>
          <p:cNvSpPr/>
          <p:nvPr/>
        </p:nvSpPr>
        <p:spPr>
          <a:xfrm>
            <a:off x="8001000" y="2708557"/>
            <a:ext cx="3918857" cy="121996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People</a:t>
            </a:r>
          </a:p>
          <a:p>
            <a:r>
              <a:rPr lang="es-ES" sz="1200" dirty="0"/>
              <a:t>Add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 as a </a:t>
            </a:r>
            <a:r>
              <a:rPr lang="es-ES" sz="1200" dirty="0" err="1"/>
              <a:t>member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. Once </a:t>
            </a:r>
            <a:r>
              <a:rPr lang="es-ES" sz="1200" dirty="0" err="1"/>
              <a:t>added</a:t>
            </a:r>
            <a:r>
              <a:rPr lang="es-ES" sz="1200" dirty="0"/>
              <a:t>, </a:t>
            </a:r>
            <a:r>
              <a:rPr lang="es-ES" sz="1200" dirty="0" err="1"/>
              <a:t>they</a:t>
            </a:r>
            <a:r>
              <a:rPr lang="es-ES" sz="1200" dirty="0"/>
              <a:t> </a:t>
            </a:r>
            <a:r>
              <a:rPr lang="es-ES" sz="1200" dirty="0" err="1"/>
              <a:t>will</a:t>
            </a:r>
            <a:r>
              <a:rPr lang="es-ES" sz="1200" dirty="0"/>
              <a:t> </a:t>
            </a:r>
            <a:r>
              <a:rPr lang="es-ES" sz="1200" dirty="0" err="1"/>
              <a:t>receive</a:t>
            </a:r>
            <a:r>
              <a:rPr lang="es-ES" sz="1200" dirty="0"/>
              <a:t> </a:t>
            </a:r>
            <a:r>
              <a:rPr lang="es-ES" sz="1200" dirty="0" err="1"/>
              <a:t>an</a:t>
            </a:r>
            <a:r>
              <a:rPr lang="es-ES" sz="1200" dirty="0"/>
              <a:t> email </a:t>
            </a:r>
            <a:r>
              <a:rPr lang="es-ES" sz="1200" dirty="0" err="1"/>
              <a:t>notification</a:t>
            </a:r>
            <a:r>
              <a:rPr lang="es-ES" sz="1200" dirty="0"/>
              <a:t> and </a:t>
            </a:r>
            <a:r>
              <a:rPr lang="es-ES" sz="1200" dirty="0" err="1"/>
              <a:t>have</a:t>
            </a:r>
            <a:r>
              <a:rPr lang="es-ES" sz="1200" dirty="0"/>
              <a:t> </a:t>
            </a:r>
            <a:r>
              <a:rPr lang="es-ES" sz="1200" dirty="0" err="1"/>
              <a:t>access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allowing</a:t>
            </a:r>
            <a:r>
              <a:rPr lang="es-ES" sz="1200" dirty="0"/>
              <a:t> </a:t>
            </a:r>
            <a:r>
              <a:rPr lang="es-ES" sz="1200" dirty="0" err="1"/>
              <a:t>them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follow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and </a:t>
            </a:r>
            <a:r>
              <a:rPr lang="es-ES" sz="1200" dirty="0" err="1"/>
              <a:t>information</a:t>
            </a:r>
            <a:r>
              <a:rPr lang="es-ES" sz="1200" dirty="0"/>
              <a:t> </a:t>
            </a:r>
            <a:r>
              <a:rPr lang="es-ES" sz="1200" dirty="0" err="1"/>
              <a:t>related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5D2E6D0-6FC7-6192-8D99-9C7EB654F8FF}"/>
              </a:ext>
            </a:extLst>
          </p:cNvPr>
          <p:cNvSpPr/>
          <p:nvPr/>
        </p:nvSpPr>
        <p:spPr>
          <a:xfrm>
            <a:off x="8001000" y="359999"/>
            <a:ext cx="3918857" cy="1109900"/>
          </a:xfrm>
          <a:prstGeom prst="roundRect">
            <a:avLst>
              <a:gd name="adj" fmla="val 523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Title</a:t>
            </a:r>
          </a:p>
          <a:p>
            <a:r>
              <a:rPr lang="es-ES" sz="1200" dirty="0"/>
              <a:t>The </a:t>
            </a:r>
            <a:r>
              <a:rPr lang="es-ES" sz="1200" dirty="0" err="1"/>
              <a:t>title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clearly</a:t>
            </a:r>
            <a:r>
              <a:rPr lang="es-ES" sz="1200" dirty="0"/>
              <a:t> </a:t>
            </a:r>
            <a:r>
              <a:rPr lang="es-ES" sz="1200" dirty="0" err="1"/>
              <a:t>identify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. </a:t>
            </a:r>
            <a:r>
              <a:rPr lang="es-ES" sz="1200" dirty="0" err="1"/>
              <a:t>We</a:t>
            </a:r>
            <a:r>
              <a:rPr lang="es-ES" sz="1200" dirty="0"/>
              <a:t> use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 err="1"/>
              <a:t>market</a:t>
            </a:r>
            <a:r>
              <a:rPr lang="es-ES" sz="1200" b="1" dirty="0"/>
              <a:t> </a:t>
            </a:r>
            <a:r>
              <a:rPr lang="es-ES" sz="1200" b="1" dirty="0" err="1"/>
              <a:t>name</a:t>
            </a:r>
            <a:r>
              <a:rPr lang="es-ES" sz="1200" b="1" dirty="0"/>
              <a:t> at </a:t>
            </a:r>
            <a:r>
              <a:rPr lang="es-ES" sz="1200" b="1" dirty="0" err="1"/>
              <a:t>the</a:t>
            </a:r>
            <a:r>
              <a:rPr lang="es-ES" sz="1200" b="1" dirty="0"/>
              <a:t> </a:t>
            </a:r>
            <a:r>
              <a:rPr lang="es-ES" sz="1200" b="1" dirty="0" err="1"/>
              <a:t>beginning</a:t>
            </a:r>
            <a:r>
              <a:rPr lang="es-ES" sz="1200" dirty="0"/>
              <a:t>, </a:t>
            </a:r>
            <a:r>
              <a:rPr lang="es-ES" sz="1200" dirty="0" err="1"/>
              <a:t>followed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a short </a:t>
            </a:r>
            <a:r>
              <a:rPr lang="es-ES" sz="1200" dirty="0" err="1"/>
              <a:t>description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deliverable</a:t>
            </a:r>
            <a:r>
              <a:rPr lang="es-ES" sz="1200" dirty="0"/>
              <a:t>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7D5A029F-21D3-93C6-DBE8-03A44AEEBF6D}"/>
              </a:ext>
            </a:extLst>
          </p:cNvPr>
          <p:cNvSpPr/>
          <p:nvPr/>
        </p:nvSpPr>
        <p:spPr>
          <a:xfrm>
            <a:off x="1666256" y="1191986"/>
            <a:ext cx="3526229" cy="298299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1C85210-D2AD-046F-D159-698E946C018A}"/>
              </a:ext>
            </a:extLst>
          </p:cNvPr>
          <p:cNvSpPr/>
          <p:nvPr/>
        </p:nvSpPr>
        <p:spPr>
          <a:xfrm>
            <a:off x="1666256" y="1719521"/>
            <a:ext cx="3526229" cy="272563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D8D787F-C979-555B-ABB3-281CBE9DFAA0}"/>
              </a:ext>
            </a:extLst>
          </p:cNvPr>
          <p:cNvSpPr/>
          <p:nvPr/>
        </p:nvSpPr>
        <p:spPr>
          <a:xfrm>
            <a:off x="1666256" y="2035263"/>
            <a:ext cx="3526229" cy="245502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BC97FC0-DC14-9AEA-9FCF-39E561345678}"/>
              </a:ext>
            </a:extLst>
          </p:cNvPr>
          <p:cNvSpPr/>
          <p:nvPr/>
        </p:nvSpPr>
        <p:spPr>
          <a:xfrm>
            <a:off x="8001000" y="3992895"/>
            <a:ext cx="3918857" cy="2290129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Deadline</a:t>
            </a:r>
            <a:endParaRPr lang="es-ES" sz="1200" b="1" dirty="0"/>
          </a:p>
          <a:p>
            <a:r>
              <a:rPr lang="es-ES" sz="1200" dirty="0" err="1"/>
              <a:t>Deadlines</a:t>
            </a:r>
            <a:r>
              <a:rPr lang="es-ES" sz="1200" dirty="0"/>
              <a:t> </a:t>
            </a:r>
            <a:r>
              <a:rPr lang="es-ES" sz="1200" dirty="0" err="1"/>
              <a:t>should</a:t>
            </a:r>
            <a:r>
              <a:rPr lang="es-ES" sz="1200" dirty="0"/>
              <a:t> </a:t>
            </a:r>
            <a:r>
              <a:rPr lang="es-ES" sz="1200" dirty="0" err="1"/>
              <a:t>always</a:t>
            </a:r>
            <a:r>
              <a:rPr lang="es-ES" sz="1200" dirty="0"/>
              <a:t> be </a:t>
            </a:r>
            <a:r>
              <a:rPr lang="es-ES" sz="1200" dirty="0" err="1"/>
              <a:t>added</a:t>
            </a:r>
            <a:r>
              <a:rPr lang="es-ES" sz="1200" dirty="0"/>
              <a:t> and </a:t>
            </a:r>
            <a:r>
              <a:rPr lang="es-ES" sz="1200" dirty="0" err="1"/>
              <a:t>kept</a:t>
            </a:r>
            <a:r>
              <a:rPr lang="es-ES" sz="1200" dirty="0"/>
              <a:t> </a:t>
            </a:r>
            <a:r>
              <a:rPr lang="es-ES" sz="1200" dirty="0" err="1"/>
              <a:t>updated</a:t>
            </a:r>
            <a:r>
              <a:rPr lang="es-ES" sz="1200" dirty="0"/>
              <a:t> </a:t>
            </a:r>
            <a:r>
              <a:rPr lang="es-ES" sz="1200" dirty="0" err="1"/>
              <a:t>throughout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lifecycle</a:t>
            </a:r>
            <a:r>
              <a:rPr lang="es-ES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Initially</a:t>
            </a:r>
            <a:r>
              <a:rPr lang="es-ES" sz="1200" dirty="0"/>
              <a:t>,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draft </a:t>
            </a:r>
            <a:r>
              <a:rPr lang="es-ES" sz="1200" b="1" dirty="0" err="1"/>
              <a:t>deadline</a:t>
            </a:r>
            <a:r>
              <a:rPr lang="es-ES" sz="1200" dirty="0"/>
              <a:t> </a:t>
            </a:r>
            <a:r>
              <a:rPr lang="es-ES" sz="1200" dirty="0" err="1"/>
              <a:t>provided</a:t>
            </a:r>
            <a:r>
              <a:rPr lang="es-ES" sz="1200" dirty="0"/>
              <a:t> </a:t>
            </a:r>
            <a:r>
              <a:rPr lang="es-ES" sz="1200" dirty="0" err="1"/>
              <a:t>by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requester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/>
              <a:t>Once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proof</a:t>
            </a:r>
            <a:r>
              <a:rPr lang="es-ES" sz="1200" dirty="0"/>
              <a:t> </a:t>
            </a:r>
            <a:r>
              <a:rPr lang="es-ES" sz="1200" dirty="0" err="1"/>
              <a:t>version</a:t>
            </a:r>
            <a:r>
              <a:rPr lang="es-ES" sz="1200" dirty="0"/>
              <a:t> has </a:t>
            </a:r>
            <a:r>
              <a:rPr lang="es-ES" sz="1200" dirty="0" err="1"/>
              <a:t>been</a:t>
            </a:r>
            <a:r>
              <a:rPr lang="es-ES" sz="1200" dirty="0"/>
              <a:t> </a:t>
            </a:r>
            <a:r>
              <a:rPr lang="es-ES" sz="1200" dirty="0" err="1"/>
              <a:t>sent</a:t>
            </a:r>
            <a:r>
              <a:rPr lang="es-ES" sz="1200" dirty="0"/>
              <a:t>, </a:t>
            </a:r>
            <a:r>
              <a:rPr lang="es-ES" sz="1200" dirty="0" err="1"/>
              <a:t>update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b="1" dirty="0"/>
              <a:t>final </a:t>
            </a:r>
            <a:r>
              <a:rPr lang="es-ES" sz="1200" b="1" dirty="0" err="1"/>
              <a:t>deadline</a:t>
            </a:r>
            <a:r>
              <a:rPr lang="es-ES" sz="12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/>
              <a:t>Additional</a:t>
            </a:r>
            <a:r>
              <a:rPr lang="es-ES" sz="1200" dirty="0"/>
              <a:t> dates can be </a:t>
            </a:r>
            <a:r>
              <a:rPr lang="es-ES" sz="1200" dirty="0" err="1"/>
              <a:t>added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needed</a:t>
            </a:r>
            <a:r>
              <a:rPr lang="es-ES" sz="1200" dirty="0"/>
              <a:t> (</a:t>
            </a:r>
            <a:r>
              <a:rPr lang="es-ES" sz="1200" dirty="0" err="1"/>
              <a:t>e.g</a:t>
            </a:r>
            <a:r>
              <a:rPr lang="es-ES" sz="1200" dirty="0"/>
              <a:t>., </a:t>
            </a:r>
            <a:r>
              <a:rPr lang="es-ES" sz="1200" dirty="0" err="1"/>
              <a:t>internal</a:t>
            </a:r>
            <a:r>
              <a:rPr lang="es-ES" sz="1200" dirty="0"/>
              <a:t> </a:t>
            </a:r>
            <a:r>
              <a:rPr lang="es-ES" sz="1200" dirty="0" err="1"/>
              <a:t>milestones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intermediate</a:t>
            </a:r>
            <a:r>
              <a:rPr lang="es-ES" sz="1200" dirty="0"/>
              <a:t> </a:t>
            </a:r>
            <a:r>
              <a:rPr lang="es-ES" sz="1200" dirty="0" err="1"/>
              <a:t>deliveries</a:t>
            </a:r>
            <a:r>
              <a:rPr lang="es-ES" sz="1200" dirty="0"/>
              <a:t>)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help</a:t>
            </a:r>
            <a:r>
              <a:rPr lang="es-ES" sz="1200" dirty="0"/>
              <a:t> </a:t>
            </a:r>
            <a:r>
              <a:rPr lang="es-ES" sz="1200" dirty="0" err="1"/>
              <a:t>organize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workflow</a:t>
            </a:r>
            <a:r>
              <a:rPr lang="es-ES" sz="1200" dirty="0"/>
              <a:t> and </a:t>
            </a:r>
            <a:r>
              <a:rPr lang="es-ES" sz="1200" dirty="0" err="1"/>
              <a:t>manage</a:t>
            </a:r>
            <a:r>
              <a:rPr lang="es-ES" sz="1200" dirty="0"/>
              <a:t> </a:t>
            </a:r>
            <a:r>
              <a:rPr lang="es-ES" sz="1200" dirty="0" err="1"/>
              <a:t>priorities</a:t>
            </a:r>
            <a:r>
              <a:rPr lang="es-E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2851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BBB2-74CA-1E38-0B6E-2F294603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4BB8EF5-5487-445C-E08A-1BBAC4EA79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B663F26-E422-E980-2D65-C918C3D3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Hub Task Manager</a:t>
            </a:r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E6D7443-9C43-0BC3-02D0-5A515B084851}"/>
              </a:ext>
            </a:extLst>
          </p:cNvPr>
          <p:cNvSpPr/>
          <p:nvPr/>
        </p:nvSpPr>
        <p:spPr>
          <a:xfrm>
            <a:off x="8033658" y="1036192"/>
            <a:ext cx="3886200" cy="1138177"/>
          </a:xfrm>
          <a:prstGeom prst="roundRect">
            <a:avLst>
              <a:gd name="adj" fmla="val 523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 err="1"/>
              <a:t>To</a:t>
            </a:r>
            <a:r>
              <a:rPr lang="es-ES" sz="1200" b="1" dirty="0"/>
              <a:t>-do</a:t>
            </a:r>
          </a:p>
          <a:p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required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every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useful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projects</a:t>
            </a:r>
            <a:r>
              <a:rPr lang="es-ES" sz="1200" dirty="0"/>
              <a:t> </a:t>
            </a:r>
            <a:r>
              <a:rPr lang="es-ES" sz="1200" dirty="0" err="1"/>
              <a:t>with</a:t>
            </a:r>
            <a:r>
              <a:rPr lang="es-ES" sz="1200" dirty="0"/>
              <a:t> </a:t>
            </a:r>
            <a:r>
              <a:rPr lang="es-ES" sz="1200" dirty="0" err="1"/>
              <a:t>multiple</a:t>
            </a:r>
            <a:r>
              <a:rPr lang="es-ES" sz="1200" dirty="0"/>
              <a:t> </a:t>
            </a:r>
            <a:r>
              <a:rPr lang="es-ES" sz="1200" dirty="0" err="1"/>
              <a:t>deliverables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</a:t>
            </a:r>
            <a:r>
              <a:rPr lang="es-ES" sz="1200" dirty="0" err="1"/>
              <a:t>formats</a:t>
            </a:r>
            <a:r>
              <a:rPr lang="es-ES" sz="1200" dirty="0"/>
              <a:t>.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allows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different</a:t>
            </a:r>
            <a:r>
              <a:rPr lang="es-ES" sz="1200" dirty="0"/>
              <a:t> outputs </a:t>
            </a:r>
            <a:r>
              <a:rPr lang="es-ES" sz="1200" dirty="0" err="1"/>
              <a:t>to</a:t>
            </a:r>
            <a:r>
              <a:rPr lang="es-ES" sz="1200" dirty="0"/>
              <a:t> be </a:t>
            </a:r>
            <a:r>
              <a:rPr lang="es-ES" sz="1200" dirty="0" err="1"/>
              <a:t>listed</a:t>
            </a:r>
            <a:r>
              <a:rPr lang="es-ES" sz="1200" dirty="0"/>
              <a:t> and </a:t>
            </a:r>
            <a:r>
              <a:rPr lang="es-ES" sz="1200" dirty="0" err="1"/>
              <a:t>tracked</a:t>
            </a:r>
            <a:r>
              <a:rPr lang="es-ES" sz="1200" dirty="0"/>
              <a:t> </a:t>
            </a:r>
            <a:r>
              <a:rPr lang="es-ES" sz="1200" dirty="0" err="1"/>
              <a:t>individually</a:t>
            </a:r>
            <a:r>
              <a:rPr lang="es-ES" sz="1200" dirty="0"/>
              <a:t>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25CD090-4054-1E91-3DDB-186C07173E2F}"/>
              </a:ext>
            </a:extLst>
          </p:cNvPr>
          <p:cNvSpPr/>
          <p:nvPr/>
        </p:nvSpPr>
        <p:spPr>
          <a:xfrm>
            <a:off x="8033658" y="2278151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Notes</a:t>
            </a:r>
          </a:p>
          <a:p>
            <a:r>
              <a:rPr lang="es-ES" sz="1200" dirty="0"/>
              <a:t>Use </a:t>
            </a:r>
            <a:r>
              <a:rPr lang="es-ES" sz="1200" dirty="0" err="1"/>
              <a:t>this</a:t>
            </a:r>
            <a:r>
              <a:rPr lang="es-ES" sz="1200" dirty="0"/>
              <a:t>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add</a:t>
            </a:r>
            <a:r>
              <a:rPr lang="es-ES" sz="1200" dirty="0"/>
              <a:t> </a:t>
            </a:r>
            <a:r>
              <a:rPr lang="es-ES" sz="1200" dirty="0" err="1"/>
              <a:t>any</a:t>
            </a:r>
            <a:r>
              <a:rPr lang="es-ES" sz="1200" dirty="0"/>
              <a:t> </a:t>
            </a:r>
            <a:r>
              <a:rPr lang="es-ES" sz="1200" dirty="0" err="1"/>
              <a:t>relevant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  <a:p>
            <a:r>
              <a:rPr lang="es-ES" sz="1200" dirty="0"/>
              <a:t>At </a:t>
            </a:r>
            <a:r>
              <a:rPr lang="es-ES" sz="1200" dirty="0" err="1"/>
              <a:t>minimum</a:t>
            </a:r>
            <a:r>
              <a:rPr lang="es-ES" sz="1200" dirty="0"/>
              <a:t>, </a:t>
            </a:r>
            <a:r>
              <a:rPr lang="es-ES" sz="1200" dirty="0" err="1"/>
              <a:t>always</a:t>
            </a:r>
            <a:r>
              <a:rPr lang="es-ES" sz="1200" dirty="0"/>
              <a:t> </a:t>
            </a:r>
            <a:r>
              <a:rPr lang="es-ES" sz="1200" dirty="0" err="1"/>
              <a:t>include</a:t>
            </a:r>
            <a:r>
              <a:rPr lang="es-ES" sz="1200" dirty="0"/>
              <a:t>: Draft </a:t>
            </a:r>
            <a:r>
              <a:rPr lang="es-ES" sz="1200" dirty="0" err="1"/>
              <a:t>deadline</a:t>
            </a:r>
            <a:r>
              <a:rPr lang="es-ES" sz="1200" dirty="0"/>
              <a:t>; Final </a:t>
            </a:r>
            <a:r>
              <a:rPr lang="es-ES" sz="1200" dirty="0" err="1"/>
              <a:t>deadline</a:t>
            </a:r>
            <a:r>
              <a:rPr lang="es-ES" sz="1200" dirty="0"/>
              <a:t>;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</a:p>
          <a:p>
            <a:r>
              <a:rPr lang="es-ES" sz="1200" dirty="0" err="1"/>
              <a:t>Adding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email </a:t>
            </a:r>
            <a:r>
              <a:rPr lang="es-ES" sz="1200" dirty="0" err="1"/>
              <a:t>subject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especially</a:t>
            </a:r>
            <a:r>
              <a:rPr lang="es-ES" sz="1200" dirty="0"/>
              <a:t> </a:t>
            </a:r>
            <a:r>
              <a:rPr lang="es-ES" sz="1200" dirty="0" err="1"/>
              <a:t>important</a:t>
            </a:r>
            <a:r>
              <a:rPr lang="es-ES" sz="1200" dirty="0"/>
              <a:t>, as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makes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easier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find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original </a:t>
            </a:r>
            <a:r>
              <a:rPr lang="es-ES" sz="1200" dirty="0" err="1"/>
              <a:t>request</a:t>
            </a:r>
            <a:r>
              <a:rPr lang="es-ES" sz="1200" dirty="0"/>
              <a:t>, </a:t>
            </a:r>
            <a:r>
              <a:rPr lang="es-ES" sz="1200" dirty="0" err="1"/>
              <a:t>brief</a:t>
            </a:r>
            <a:r>
              <a:rPr lang="es-ES" sz="1200" dirty="0"/>
              <a:t>, and </a:t>
            </a:r>
            <a:r>
              <a:rPr lang="es-ES" sz="1200" dirty="0" err="1"/>
              <a:t>previous</a:t>
            </a:r>
            <a:r>
              <a:rPr lang="es-ES" sz="1200" dirty="0"/>
              <a:t> </a:t>
            </a:r>
            <a:r>
              <a:rPr lang="es-ES" sz="1200" dirty="0" err="1"/>
              <a:t>conversations</a:t>
            </a:r>
            <a:r>
              <a:rPr lang="es-ES" sz="1200" dirty="0"/>
              <a:t> </a:t>
            </a:r>
            <a:r>
              <a:rPr lang="es-ES" sz="1200" dirty="0" err="1"/>
              <a:t>when</a:t>
            </a:r>
            <a:r>
              <a:rPr lang="es-ES" sz="1200" dirty="0"/>
              <a:t> </a:t>
            </a:r>
            <a:r>
              <a:rPr lang="es-ES" sz="1200" dirty="0" err="1"/>
              <a:t>reviewing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later</a:t>
            </a:r>
            <a:r>
              <a:rPr lang="es-ES" sz="1200" dirty="0"/>
              <a:t>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982B810-EBBA-F0E6-3A1C-A611B0CE423C}"/>
              </a:ext>
            </a:extLst>
          </p:cNvPr>
          <p:cNvGrpSpPr/>
          <p:nvPr/>
        </p:nvGrpSpPr>
        <p:grpSpPr>
          <a:xfrm>
            <a:off x="1326621" y="733837"/>
            <a:ext cx="6553759" cy="5549188"/>
            <a:chOff x="1898848" y="0"/>
            <a:chExt cx="6015917" cy="5093787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8EBC798-E36B-1ADA-FABA-6B6C9CB6A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246"/>
            <a:stretch>
              <a:fillRect/>
            </a:stretch>
          </p:blipFill>
          <p:spPr>
            <a:xfrm>
              <a:off x="1898848" y="3926294"/>
              <a:ext cx="6015917" cy="1167493"/>
            </a:xfrm>
            <a:prstGeom prst="rect">
              <a:avLst/>
            </a:prstGeom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F957502-E131-BD0E-7CED-3F8A2F5F7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455"/>
            <a:stretch>
              <a:fillRect/>
            </a:stretch>
          </p:blipFill>
          <p:spPr>
            <a:xfrm>
              <a:off x="1898848" y="0"/>
              <a:ext cx="6015917" cy="4253593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2B78BD6-E698-4F96-06E3-6D0BF2ABF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8848" y="4253593"/>
              <a:ext cx="4077409" cy="840194"/>
            </a:xfrm>
            <a:prstGeom prst="rect">
              <a:avLst/>
            </a:prstGeom>
          </p:spPr>
        </p:pic>
      </p:grp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3F1A2E9B-6942-B6B8-11C6-561F4364C1CD}"/>
              </a:ext>
            </a:extLst>
          </p:cNvPr>
          <p:cNvSpPr/>
          <p:nvPr/>
        </p:nvSpPr>
        <p:spPr>
          <a:xfrm>
            <a:off x="1326622" y="4496602"/>
            <a:ext cx="2896160" cy="621435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EDE5429D-DF5B-2DB0-9A6C-52830616E23A}"/>
              </a:ext>
            </a:extLst>
          </p:cNvPr>
          <p:cNvSpPr/>
          <p:nvPr/>
        </p:nvSpPr>
        <p:spPr>
          <a:xfrm>
            <a:off x="8033658" y="4324403"/>
            <a:ext cx="3886200" cy="1942470"/>
          </a:xfrm>
          <a:prstGeom prst="roundRect">
            <a:avLst>
              <a:gd name="adj" fmla="val 52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b="1" dirty="0"/>
              <a:t>Chat</a:t>
            </a:r>
          </a:p>
          <a:p>
            <a:r>
              <a:rPr lang="es-ES" sz="1200" dirty="0"/>
              <a:t>The chat </a:t>
            </a:r>
            <a:r>
              <a:rPr lang="es-ES" sz="1200" dirty="0" err="1"/>
              <a:t>section</a:t>
            </a:r>
            <a:r>
              <a:rPr lang="es-ES" sz="1200" dirty="0"/>
              <a:t> </a:t>
            </a:r>
            <a:r>
              <a:rPr lang="es-ES" sz="1200" dirty="0" err="1"/>
              <a:t>is</a:t>
            </a:r>
            <a:r>
              <a:rPr lang="es-ES" sz="1200" dirty="0"/>
              <a:t> </a:t>
            </a:r>
            <a:r>
              <a:rPr lang="es-ES" sz="1200" dirty="0" err="1"/>
              <a:t>not</a:t>
            </a:r>
            <a:r>
              <a:rPr lang="es-ES" sz="1200" dirty="0"/>
              <a:t> </a:t>
            </a:r>
            <a:r>
              <a:rPr lang="es-ES" sz="1200" dirty="0" err="1"/>
              <a:t>frequently</a:t>
            </a:r>
            <a:r>
              <a:rPr lang="es-ES" sz="1200" dirty="0"/>
              <a:t> </a:t>
            </a:r>
            <a:r>
              <a:rPr lang="es-ES" sz="1200" dirty="0" err="1"/>
              <a:t>used</a:t>
            </a:r>
            <a:r>
              <a:rPr lang="es-ES" sz="1200" dirty="0"/>
              <a:t>, </a:t>
            </a:r>
            <a:r>
              <a:rPr lang="es-ES" sz="1200" dirty="0" err="1"/>
              <a:t>but</a:t>
            </a:r>
            <a:r>
              <a:rPr lang="es-ES" sz="1200" dirty="0"/>
              <a:t> </a:t>
            </a:r>
            <a:r>
              <a:rPr lang="es-ES" sz="1200" dirty="0" err="1"/>
              <a:t>it</a:t>
            </a:r>
            <a:r>
              <a:rPr lang="es-ES" sz="1200" dirty="0"/>
              <a:t> can be </a:t>
            </a:r>
            <a:r>
              <a:rPr lang="es-ES" sz="1200" dirty="0" err="1"/>
              <a:t>helpful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quick</a:t>
            </a:r>
            <a:r>
              <a:rPr lang="es-ES" sz="1200" dirty="0"/>
              <a:t> </a:t>
            </a:r>
            <a:r>
              <a:rPr lang="es-ES" sz="1200" dirty="0" err="1"/>
              <a:t>project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or</a:t>
            </a:r>
            <a:r>
              <a:rPr lang="es-ES" sz="1200" dirty="0"/>
              <a:t> status notes, </a:t>
            </a:r>
            <a:r>
              <a:rPr lang="es-ES" sz="1200" dirty="0" err="1"/>
              <a:t>such</a:t>
            </a:r>
            <a:r>
              <a:rPr lang="es-ES" sz="1200" dirty="0"/>
              <a:t> as: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Waiting</a:t>
            </a:r>
            <a:r>
              <a:rPr lang="es-ES" sz="1200" dirty="0"/>
              <a:t> </a:t>
            </a:r>
            <a:r>
              <a:rPr lang="es-ES" sz="1200" dirty="0" err="1"/>
              <a:t>for</a:t>
            </a:r>
            <a:r>
              <a:rPr lang="es-ES" sz="1200" dirty="0"/>
              <a:t> </a:t>
            </a:r>
            <a:r>
              <a:rPr lang="es-ES" sz="1200" dirty="0" err="1"/>
              <a:t>translation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InCopy</a:t>
            </a:r>
            <a:r>
              <a:rPr lang="es-ES" sz="1200" dirty="0"/>
              <a:t> </a:t>
            </a:r>
            <a:r>
              <a:rPr lang="es-ES" sz="1200" dirty="0" err="1"/>
              <a:t>setup</a:t>
            </a:r>
            <a:r>
              <a:rPr lang="es-ES" sz="1200" dirty="0"/>
              <a:t> </a:t>
            </a:r>
            <a:r>
              <a:rPr lang="es-ES" sz="1200" dirty="0" err="1"/>
              <a:t>completed</a:t>
            </a:r>
            <a:r>
              <a:rPr lang="es-ES" sz="1200" dirty="0"/>
              <a:t>” </a:t>
            </a:r>
          </a:p>
          <a:p>
            <a:r>
              <a:rPr lang="es-ES" sz="1200" dirty="0"/>
              <a:t>“</a:t>
            </a:r>
            <a:r>
              <a:rPr lang="es-ES" sz="1200" dirty="0" err="1"/>
              <a:t>Feedback</a:t>
            </a:r>
            <a:r>
              <a:rPr lang="es-ES" sz="1200" dirty="0"/>
              <a:t> </a:t>
            </a:r>
            <a:r>
              <a:rPr lang="es-ES" sz="1200" dirty="0" err="1"/>
              <a:t>received</a:t>
            </a:r>
            <a:r>
              <a:rPr lang="es-ES" sz="1200" dirty="0"/>
              <a:t> </a:t>
            </a:r>
            <a:r>
              <a:rPr lang="es-ES" sz="1200" dirty="0" err="1"/>
              <a:t>from</a:t>
            </a:r>
            <a:r>
              <a:rPr lang="es-ES" sz="1200" dirty="0"/>
              <a:t> </a:t>
            </a:r>
            <a:r>
              <a:rPr lang="es-ES" sz="1200" dirty="0" err="1"/>
              <a:t>market</a:t>
            </a:r>
            <a:r>
              <a:rPr lang="es-ES" sz="1200" dirty="0"/>
              <a:t>” </a:t>
            </a:r>
          </a:p>
          <a:p>
            <a:r>
              <a:rPr lang="es-ES" sz="1200" dirty="0" err="1"/>
              <a:t>It</a:t>
            </a:r>
            <a:r>
              <a:rPr lang="es-ES" sz="1200" dirty="0"/>
              <a:t> </a:t>
            </a:r>
            <a:r>
              <a:rPr lang="es-ES" sz="1200" dirty="0" err="1"/>
              <a:t>provides</a:t>
            </a:r>
            <a:r>
              <a:rPr lang="es-ES" sz="1200" dirty="0"/>
              <a:t> a simple </a:t>
            </a:r>
            <a:r>
              <a:rPr lang="es-ES" sz="1200" dirty="0" err="1"/>
              <a:t>way</a:t>
            </a:r>
            <a:r>
              <a:rPr lang="es-ES" sz="1200" dirty="0"/>
              <a:t> </a:t>
            </a:r>
            <a:r>
              <a:rPr lang="es-ES" sz="1200" dirty="0" err="1"/>
              <a:t>to</a:t>
            </a:r>
            <a:r>
              <a:rPr lang="es-ES" sz="1200" dirty="0"/>
              <a:t> </a:t>
            </a:r>
            <a:r>
              <a:rPr lang="es-ES" sz="1200" dirty="0" err="1"/>
              <a:t>keep</a:t>
            </a:r>
            <a:r>
              <a:rPr lang="es-ES" sz="1200" dirty="0"/>
              <a:t> </a:t>
            </a:r>
            <a:r>
              <a:rPr lang="es-ES" sz="1200" dirty="0" err="1"/>
              <a:t>track</a:t>
            </a:r>
            <a:r>
              <a:rPr lang="es-ES" sz="1200" dirty="0"/>
              <a:t> </a:t>
            </a:r>
            <a:r>
              <a:rPr lang="es-ES" sz="1200" dirty="0" err="1"/>
              <a:t>of</a:t>
            </a:r>
            <a:r>
              <a:rPr lang="es-ES" sz="1200" dirty="0"/>
              <a:t> </a:t>
            </a:r>
            <a:r>
              <a:rPr lang="es-ES" sz="1200" dirty="0" err="1"/>
              <a:t>small</a:t>
            </a:r>
            <a:r>
              <a:rPr lang="es-ES" sz="1200" dirty="0"/>
              <a:t> </a:t>
            </a:r>
            <a:r>
              <a:rPr lang="es-ES" sz="1200" dirty="0" err="1"/>
              <a:t>updates</a:t>
            </a:r>
            <a:r>
              <a:rPr lang="es-ES" sz="1200" dirty="0"/>
              <a:t> </a:t>
            </a:r>
            <a:r>
              <a:rPr lang="es-ES" sz="1200" dirty="0" err="1"/>
              <a:t>without</a:t>
            </a:r>
            <a:r>
              <a:rPr lang="es-ES" sz="1200" dirty="0"/>
              <a:t> </a:t>
            </a:r>
            <a:r>
              <a:rPr lang="es-ES" sz="1200" dirty="0" err="1"/>
              <a:t>changing</a:t>
            </a:r>
            <a:r>
              <a:rPr lang="es-ES" sz="1200" dirty="0"/>
              <a:t> </a:t>
            </a:r>
            <a:r>
              <a:rPr lang="es-ES" sz="1200" dirty="0" err="1"/>
              <a:t>the</a:t>
            </a:r>
            <a:r>
              <a:rPr lang="es-ES" sz="1200" dirty="0"/>
              <a:t> </a:t>
            </a:r>
            <a:r>
              <a:rPr lang="es-ES" sz="1200" dirty="0" err="1"/>
              <a:t>main</a:t>
            </a:r>
            <a:r>
              <a:rPr lang="es-ES" sz="1200" dirty="0"/>
              <a:t> </a:t>
            </a:r>
            <a:r>
              <a:rPr lang="es-ES" sz="1200" dirty="0" err="1"/>
              <a:t>task</a:t>
            </a:r>
            <a:r>
              <a:rPr lang="es-ES" sz="1200" dirty="0"/>
              <a:t> </a:t>
            </a:r>
            <a:r>
              <a:rPr lang="es-ES" sz="1200" dirty="0" err="1"/>
              <a:t>information</a:t>
            </a:r>
            <a:r>
              <a:rPr lang="es-ES" sz="1200" dirty="0"/>
              <a:t>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B85404AB-AABC-DE0C-FCE5-AEA9F4B98DF0}"/>
              </a:ext>
            </a:extLst>
          </p:cNvPr>
          <p:cNvSpPr/>
          <p:nvPr/>
        </p:nvSpPr>
        <p:spPr>
          <a:xfrm>
            <a:off x="1326619" y="5367715"/>
            <a:ext cx="4363887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967669C2-7342-C135-D84A-5F733F18BA7F}"/>
              </a:ext>
            </a:extLst>
          </p:cNvPr>
          <p:cNvSpPr/>
          <p:nvPr/>
        </p:nvSpPr>
        <p:spPr>
          <a:xfrm>
            <a:off x="5851715" y="1244604"/>
            <a:ext cx="2028666" cy="899158"/>
          </a:xfrm>
          <a:prstGeom prst="roundRect">
            <a:avLst>
              <a:gd name="adj" fmla="val 4106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994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2DA7C0-3C95-AD34-F7DB-56F873C7B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ACD8F7A-1210-087D-7DEE-73D74258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Process Walkthrough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8C404E8-5258-A15E-8BEC-C70B0FC7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97060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413B7D-14A2-14EE-F637-1BE2F4C7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https://www.figma.com/board/KRZiC0me29aOCJBrfaRYPk/Untitled?node-id=3-579&amp;t=JFX3InyRx8QNRx1h-1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408100-AA90-57DE-55FD-CA095BA2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14</a:t>
            </a:fld>
            <a:endParaRPr lang="en-GB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A4FCAB-D532-2CFC-3301-C06FEDCC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First, </a:t>
            </a:r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find</a:t>
            </a:r>
            <a:r>
              <a:rPr lang="es-ES" dirty="0"/>
              <a:t> </a:t>
            </a:r>
            <a:r>
              <a:rPr lang="es-ES" dirty="0" err="1"/>
              <a:t>things</a:t>
            </a:r>
            <a:r>
              <a:rPr lang="es-ES" dirty="0"/>
              <a:t>? WIP</a:t>
            </a:r>
          </a:p>
        </p:txBody>
      </p:sp>
    </p:spTree>
    <p:extLst>
      <p:ext uri="{BB962C8B-B14F-4D97-AF65-F5344CB8AC3E}">
        <p14:creationId xmlns:p14="http://schemas.microsoft.com/office/powerpoint/2010/main" val="622944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038CBB5F-A6D4-C3FE-4F49-9336AC9CE523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3"/>
          <a:srcRect l="272" r="113" b="2863"/>
          <a:stretch/>
        </p:blipFill>
        <p:spPr>
          <a:xfrm>
            <a:off x="0" y="0"/>
            <a:ext cx="10654748" cy="666165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5FBDD-775D-1381-97F6-647476302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5359" y="3893290"/>
            <a:ext cx="6658840" cy="20225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b="1" err="1"/>
              <a:t>You’ll</a:t>
            </a:r>
            <a:r>
              <a:rPr lang="es-ES" b="1"/>
              <a:t> </a:t>
            </a:r>
            <a:r>
              <a:rPr lang="es-ES" b="1" err="1"/>
              <a:t>always</a:t>
            </a:r>
            <a:r>
              <a:rPr lang="es-ES" b="1"/>
              <a:t> </a:t>
            </a:r>
            <a:r>
              <a:rPr lang="es-ES" b="1" err="1"/>
              <a:t>find</a:t>
            </a:r>
            <a:r>
              <a:rPr lang="es-ES" b="1"/>
              <a:t>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Editable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Design</a:t>
            </a:r>
            <a:r>
              <a:rPr lang="es-ES">
                <a:solidFill>
                  <a:schemeClr val="tx2"/>
                </a:solidFill>
              </a:rPr>
              <a:t> Hub)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File 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</a:t>
            </a:r>
            <a:r>
              <a:rPr lang="es-ES" err="1">
                <a:solidFill>
                  <a:schemeClr val="tx2"/>
                </a:solidFill>
              </a:rPr>
              <a:t>review</a:t>
            </a:r>
            <a:r>
              <a:rPr lang="es-ES">
                <a:solidFill>
                  <a:schemeClr val="tx2"/>
                </a:solidFill>
              </a:rPr>
              <a:t>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Draft Date, 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PROOF)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ES">
                <a:solidFill>
                  <a:schemeClr val="tx2"/>
                </a:solidFill>
              </a:rPr>
              <a:t>Final File (</a:t>
            </a:r>
            <a:r>
              <a:rPr lang="es-ES" err="1">
                <a:solidFill>
                  <a:schemeClr val="tx2"/>
                </a:solidFill>
              </a:rPr>
              <a:t>For</a:t>
            </a:r>
            <a:r>
              <a:rPr lang="es-ES">
                <a:solidFill>
                  <a:schemeClr val="tx2"/>
                </a:solidFill>
              </a:rPr>
              <a:t> Final Date, *</a:t>
            </a:r>
            <a:r>
              <a:rPr lang="es-ES" err="1">
                <a:solidFill>
                  <a:schemeClr val="tx2"/>
                </a:solidFill>
              </a:rPr>
              <a:t>ended</a:t>
            </a:r>
            <a:r>
              <a:rPr lang="es-ES">
                <a:solidFill>
                  <a:schemeClr val="tx2"/>
                </a:solidFill>
              </a:rPr>
              <a:t> in PRINT </a:t>
            </a:r>
            <a:r>
              <a:rPr lang="es-ES" err="1">
                <a:solidFill>
                  <a:schemeClr val="tx2"/>
                </a:solidFill>
              </a:rPr>
              <a:t>or</a:t>
            </a:r>
            <a:r>
              <a:rPr lang="es-ES">
                <a:solidFill>
                  <a:schemeClr val="tx2"/>
                </a:solidFill>
              </a:rPr>
              <a:t> DIGITAL)</a:t>
            </a:r>
            <a:endParaRPr lang="en-DK">
              <a:solidFill>
                <a:schemeClr val="tx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8A5142-B4ED-470C-5E74-E322FA8F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967" y="1882728"/>
            <a:ext cx="6658841" cy="1737126"/>
          </a:xfrm>
        </p:spPr>
        <p:txBody>
          <a:bodyPr/>
          <a:lstStyle/>
          <a:p>
            <a:r>
              <a:rPr lang="en-US"/>
              <a:t>File Storage</a:t>
            </a:r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9FB72-DFFC-4B35-7296-49E2B49A0D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1D8D6-3D29-DAFD-C5EE-A437331C32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31BCEF4-94AF-A489-B0A1-CFCE84951CC0}"/>
              </a:ext>
            </a:extLst>
          </p:cNvPr>
          <p:cNvSpPr txBox="1">
            <a:spLocks/>
          </p:cNvSpPr>
          <p:nvPr/>
        </p:nvSpPr>
        <p:spPr>
          <a:xfrm>
            <a:off x="2649476" y="6300536"/>
            <a:ext cx="6658840" cy="2022524"/>
          </a:xfrm>
          <a:prstGeom prst="rect">
            <a:avLst/>
          </a:prstGeom>
        </p:spPr>
        <p:txBody>
          <a:bodyPr vert="horz" lIns="18000" tIns="90000" rIns="91440" bIns="36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s-ES" sz="800" b="1">
                <a:solidFill>
                  <a:schemeClr val="tx1">
                    <a:lumMod val="40000"/>
                    <a:lumOff val="60000"/>
                  </a:schemeClr>
                </a:solidFill>
              </a:rPr>
              <a:t>*ONLY IF IT’S NEEDED TO MAKE THE DISTINCTION</a:t>
            </a:r>
            <a:endParaRPr lang="en-DK" sz="80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40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0525-190F-B6E0-E54F-F3F83206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F0125CA-1A5E-7F55-C05A-220AD399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16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DD09560-EDFD-A1A3-8378-D4B2435A5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File naming conventions</a:t>
            </a:r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51A6632-D58A-C6B2-A102-894ED3D5CD67}"/>
              </a:ext>
            </a:extLst>
          </p:cNvPr>
          <p:cNvSpPr/>
          <p:nvPr/>
        </p:nvSpPr>
        <p:spPr>
          <a:xfrm>
            <a:off x="46800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50DD29A-9625-1A32-926A-A81C070255BC}"/>
              </a:ext>
            </a:extLst>
          </p:cNvPr>
          <p:cNvSpPr/>
          <p:nvPr/>
        </p:nvSpPr>
        <p:spPr>
          <a:xfrm>
            <a:off x="431297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3382588-BCEA-912A-EF6B-41B42556EC59}"/>
              </a:ext>
            </a:extLst>
          </p:cNvPr>
          <p:cNvSpPr/>
          <p:nvPr/>
        </p:nvSpPr>
        <p:spPr>
          <a:xfrm>
            <a:off x="8157940" y="1444006"/>
            <a:ext cx="3559310" cy="4836805"/>
          </a:xfrm>
          <a:prstGeom prst="roundRect">
            <a:avLst>
              <a:gd name="adj" fmla="val 3616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6FF8EE-57AB-A231-1F86-EF178B84144E}"/>
              </a:ext>
            </a:extLst>
          </p:cNvPr>
          <p:cNvSpPr txBox="1"/>
          <p:nvPr/>
        </p:nvSpPr>
        <p:spPr>
          <a:xfrm>
            <a:off x="620633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Design Files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Year</a:t>
            </a:r>
            <a:r>
              <a:rPr lang="es-ES" sz="1400" dirty="0">
                <a:solidFill>
                  <a:schemeClr val="tx2"/>
                </a:solidFill>
              </a:rPr>
              <a:t>-</a:t>
            </a:r>
            <a:r>
              <a:rPr lang="en-US" sz="1400" dirty="0">
                <a:solidFill>
                  <a:schemeClr val="tx2"/>
                </a:solidFill>
              </a:rPr>
              <a:t>Month </a:t>
            </a:r>
            <a:r>
              <a:rPr lang="en-US" sz="1400" dirty="0" err="1">
                <a:solidFill>
                  <a:schemeClr val="tx2"/>
                </a:solidFill>
              </a:rPr>
              <a:t>Language_Market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Brand/Product-</a:t>
            </a:r>
            <a:r>
              <a:rPr lang="en-US" sz="1400" dirty="0" err="1">
                <a:solidFill>
                  <a:schemeClr val="tx2"/>
                </a:solidFill>
              </a:rPr>
              <a:t>FileType</a:t>
            </a:r>
            <a:r>
              <a:rPr lang="en-US" sz="1400" dirty="0">
                <a:solidFill>
                  <a:schemeClr val="tx2"/>
                </a:solidFill>
              </a:rPr>
              <a:t>*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2022-03 </a:t>
            </a:r>
            <a:r>
              <a:rPr lang="en-US" sz="1400" dirty="0" err="1">
                <a:solidFill>
                  <a:schemeClr val="tx2"/>
                </a:solidFill>
              </a:rPr>
              <a:t>ES_Orbit_Brochure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or 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DRAFT_2021-03 EN_EMEA SmartCare FOCUS (Marine) DM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r>
              <a:rPr lang="en-US" sz="1050" i="1" dirty="0">
                <a:solidFill>
                  <a:schemeClr val="tx2"/>
                </a:solidFill>
              </a:rPr>
              <a:t>*File </a:t>
            </a:r>
            <a:r>
              <a:rPr lang="en-US" sz="1050" i="1" dirty="0" err="1">
                <a:solidFill>
                  <a:schemeClr val="tx2"/>
                </a:solidFill>
              </a:rPr>
              <a:t>Type:Brochure</a:t>
            </a:r>
            <a:r>
              <a:rPr lang="en-US" sz="1050" i="1" dirty="0">
                <a:solidFill>
                  <a:schemeClr val="tx2"/>
                </a:solidFill>
              </a:rPr>
              <a:t>, Ad, Datasheet, Video, etc.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endParaRPr lang="es-ES" dirty="0">
              <a:solidFill>
                <a:schemeClr val="tx2"/>
              </a:solidFill>
            </a:endParaRPr>
          </a:p>
        </p:txBody>
      </p:sp>
      <p:pic>
        <p:nvPicPr>
          <p:cNvPr id="15" name="Gráfico 14" descr="Presentación con elemento multimedia contorno">
            <a:extLst>
              <a:ext uri="{FF2B5EF4-FFF2-40B4-BE49-F238E27FC236}">
                <a16:creationId xmlns:a16="http://schemas.microsoft.com/office/drawing/2014/main" id="{FEC9D7A0-9E14-070A-512B-A1D3340F0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0395" y="1765728"/>
            <a:ext cx="914400" cy="914400"/>
          </a:xfrm>
          <a:prstGeom prst="rect">
            <a:avLst/>
          </a:prstGeom>
        </p:spPr>
      </p:pic>
      <p:pic>
        <p:nvPicPr>
          <p:cNvPr id="17" name="Gráfico 16" descr="Imágenes contorno">
            <a:extLst>
              <a:ext uri="{FF2B5EF4-FFF2-40B4-BE49-F238E27FC236}">
                <a16:creationId xmlns:a16="http://schemas.microsoft.com/office/drawing/2014/main" id="{34340E00-5C1F-A998-A2FD-A911E1F55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765728"/>
            <a:ext cx="914400" cy="914400"/>
          </a:xfrm>
          <a:prstGeom prst="rect">
            <a:avLst/>
          </a:prstGeom>
        </p:spPr>
      </p:pic>
      <p:pic>
        <p:nvPicPr>
          <p:cNvPr id="19" name="Gráfico 18" descr="Papel contorno">
            <a:extLst>
              <a:ext uri="{FF2B5EF4-FFF2-40B4-BE49-F238E27FC236}">
                <a16:creationId xmlns:a16="http://schemas.microsoft.com/office/drawing/2014/main" id="{CCCB8D51-EC90-C0D9-D09C-BF0F7C4D5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41415" y="1765728"/>
            <a:ext cx="914400" cy="9144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08ADBB4-4873-57C4-CF14-BD67FEE7925B}"/>
              </a:ext>
            </a:extLst>
          </p:cNvPr>
          <p:cNvSpPr txBox="1"/>
          <p:nvPr/>
        </p:nvSpPr>
        <p:spPr>
          <a:xfrm>
            <a:off x="4493459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Images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Add on the name: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What it is (Species, </a:t>
            </a:r>
            <a:r>
              <a:rPr lang="en-US" sz="1400" dirty="0" err="1">
                <a:solidFill>
                  <a:schemeClr val="tx2"/>
                </a:solidFill>
              </a:rPr>
              <a:t>Lifestage</a:t>
            </a:r>
            <a:r>
              <a:rPr lang="en-US" sz="1400" dirty="0">
                <a:solidFill>
                  <a:schemeClr val="tx2"/>
                </a:solidFill>
              </a:rPr>
              <a:t>, Location, action, </a:t>
            </a:r>
            <a:r>
              <a:rPr lang="en-US" sz="1400" dirty="0" err="1">
                <a:solidFill>
                  <a:schemeClr val="tx2"/>
                </a:solidFill>
              </a:rPr>
              <a:t>etc</a:t>
            </a:r>
            <a:r>
              <a:rPr lang="en-US" sz="1400" dirty="0">
                <a:solidFill>
                  <a:schemeClr val="tx2"/>
                </a:solidFill>
              </a:rPr>
              <a:t> 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License/Shutterstock number/picture default name 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Trout_Smolt_Denmark_shutterstock_98966114 </a:t>
            </a: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 </a:t>
            </a:r>
          </a:p>
          <a:p>
            <a:pPr algn="l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850010F-3FD8-88C4-FD74-C2B679DF6ECF}"/>
              </a:ext>
            </a:extLst>
          </p:cNvPr>
          <p:cNvSpPr txBox="1"/>
          <p:nvPr/>
        </p:nvSpPr>
        <p:spPr>
          <a:xfrm>
            <a:off x="8338429" y="2763888"/>
            <a:ext cx="3198332" cy="32231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Videos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dirty="0">
                <a:solidFill>
                  <a:schemeClr val="tx2"/>
                </a:solidFill>
              </a:rPr>
              <a:t>Add on the name: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What it is (Species, </a:t>
            </a:r>
            <a:r>
              <a:rPr lang="en-US" sz="1400" dirty="0" err="1">
                <a:solidFill>
                  <a:schemeClr val="tx2"/>
                </a:solidFill>
              </a:rPr>
              <a:t>Lifestage</a:t>
            </a:r>
            <a:r>
              <a:rPr lang="en-US" sz="1400" dirty="0">
                <a:solidFill>
                  <a:schemeClr val="tx2"/>
                </a:solidFill>
              </a:rPr>
              <a:t>, Location, action, </a:t>
            </a:r>
            <a:r>
              <a:rPr lang="en-US" sz="1400" dirty="0" err="1">
                <a:solidFill>
                  <a:schemeClr val="tx2"/>
                </a:solidFill>
              </a:rPr>
              <a:t>etc</a:t>
            </a:r>
            <a:r>
              <a:rPr lang="en-US" sz="1400" dirty="0">
                <a:solidFill>
                  <a:schemeClr val="tx2"/>
                </a:solidFill>
              </a:rPr>
              <a:t> 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License/Shutterstock number/picture default name </a:t>
            </a:r>
          </a:p>
          <a:p>
            <a:pPr algn="l"/>
            <a:endParaRPr lang="en-US" sz="1400" dirty="0">
              <a:solidFill>
                <a:schemeClr val="tx2"/>
              </a:solidFill>
            </a:endParaRPr>
          </a:p>
          <a:p>
            <a:pPr algn="l"/>
            <a:r>
              <a:rPr lang="en-US" sz="1400" u="sng" dirty="0">
                <a:solidFill>
                  <a:schemeClr val="tx2"/>
                </a:solidFill>
              </a:rPr>
              <a:t>EXAMPLE: </a:t>
            </a:r>
          </a:p>
          <a:p>
            <a:r>
              <a:rPr lang="en-US" sz="1400" dirty="0">
                <a:solidFill>
                  <a:schemeClr val="tx2"/>
                </a:solidFill>
              </a:rPr>
              <a:t>Fish_Tilapia_Grower_shutterstock_25969904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09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546C458-1E1D-8585-1330-75C1F11283BB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 err="1"/>
              <a:t>When</a:t>
            </a:r>
            <a:r>
              <a:rPr lang="es-ES" sz="2200" dirty="0"/>
              <a:t> </a:t>
            </a:r>
            <a:r>
              <a:rPr lang="es-ES" sz="2200" dirty="0" err="1"/>
              <a:t>you</a:t>
            </a:r>
            <a:r>
              <a:rPr lang="es-ES" sz="2200" dirty="0"/>
              <a:t> are </a:t>
            </a:r>
            <a:r>
              <a:rPr lang="es-ES" sz="2200" dirty="0" err="1"/>
              <a:t>starting</a:t>
            </a:r>
            <a:r>
              <a:rPr lang="es-ES" sz="2200" dirty="0"/>
              <a:t> a </a:t>
            </a:r>
            <a:r>
              <a:rPr lang="es-ES" sz="2200" dirty="0" err="1"/>
              <a:t>project</a:t>
            </a:r>
            <a:r>
              <a:rPr lang="es-ES" sz="2200" dirty="0"/>
              <a:t>, </a:t>
            </a:r>
            <a:r>
              <a:rPr lang="es-ES" sz="2200" dirty="0" err="1"/>
              <a:t>you</a:t>
            </a:r>
            <a:r>
              <a:rPr lang="es-ES" sz="2200" dirty="0"/>
              <a:t> can </a:t>
            </a:r>
            <a:r>
              <a:rPr lang="es-ES" sz="2200" dirty="0" err="1"/>
              <a:t>create</a:t>
            </a:r>
            <a:r>
              <a:rPr lang="es-ES" sz="2200" dirty="0"/>
              <a:t> folders </a:t>
            </a:r>
            <a:r>
              <a:rPr lang="es-ES" sz="2200" dirty="0" err="1"/>
              <a:t>that</a:t>
            </a:r>
            <a:r>
              <a:rPr lang="es-ES" sz="2200" dirty="0"/>
              <a:t> </a:t>
            </a:r>
            <a:r>
              <a:rPr lang="es-ES" sz="2200" dirty="0" err="1"/>
              <a:t>could</a:t>
            </a:r>
            <a:r>
              <a:rPr lang="es-ES" sz="2200" dirty="0"/>
              <a:t> be </a:t>
            </a:r>
            <a:r>
              <a:rPr lang="es-ES" sz="2200" dirty="0" err="1"/>
              <a:t>useful</a:t>
            </a:r>
            <a:r>
              <a:rPr lang="es-ES" sz="2200" dirty="0"/>
              <a:t> </a:t>
            </a:r>
            <a:r>
              <a:rPr lang="es-ES" sz="2200" dirty="0" err="1"/>
              <a:t>for</a:t>
            </a:r>
            <a:r>
              <a:rPr lang="es-ES" sz="2200" dirty="0"/>
              <a:t> </a:t>
            </a:r>
            <a:r>
              <a:rPr lang="es-ES" sz="2200" dirty="0" err="1"/>
              <a:t>an</a:t>
            </a:r>
            <a:r>
              <a:rPr lang="es-ES" sz="2200" dirty="0"/>
              <a:t> </a:t>
            </a:r>
            <a:r>
              <a:rPr lang="es-ES" sz="2200" dirty="0" err="1"/>
              <a:t>organized</a:t>
            </a:r>
            <a:r>
              <a:rPr lang="es-ES" sz="2200" dirty="0"/>
              <a:t> </a:t>
            </a:r>
            <a:r>
              <a:rPr lang="es-ES" sz="2200" dirty="0" err="1"/>
              <a:t>space</a:t>
            </a:r>
            <a:endParaRPr lang="es-ES" sz="22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F27F0D-CE09-0E48-9DA9-15D56CB9DBA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FB8E416B-ECB8-59FC-6E41-3CCB684FCF9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endParaRPr lang="es-ES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4AF5326C-2ECE-435F-CDF2-03A02C0CC217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192060-7A88-68C2-7D7A-223F7E5C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Folders you can create for each project </a:t>
            </a:r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0095EEB-3327-C5CE-B55F-6D69517F1119}"/>
              </a:ext>
            </a:extLst>
          </p:cNvPr>
          <p:cNvGrpSpPr/>
          <p:nvPr/>
        </p:nvGrpSpPr>
        <p:grpSpPr>
          <a:xfrm>
            <a:off x="416477" y="286708"/>
            <a:ext cx="2264657" cy="2264657"/>
            <a:chOff x="1093024" y="2255333"/>
            <a:chExt cx="2628900" cy="2628900"/>
          </a:xfrm>
        </p:grpSpPr>
        <p:pic>
          <p:nvPicPr>
            <p:cNvPr id="6" name="Gráfico 5" descr="Carpeta con relleno sólido">
              <a:extLst>
                <a:ext uri="{FF2B5EF4-FFF2-40B4-BE49-F238E27FC236}">
                  <a16:creationId xmlns:a16="http://schemas.microsoft.com/office/drawing/2014/main" id="{53701BFD-3B71-9E95-FA47-B0DB76A53C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93024" y="2255333"/>
              <a:ext cx="2628900" cy="2628900"/>
            </a:xfrm>
            <a:prstGeom prst="rect">
              <a:avLst/>
            </a:prstGeom>
          </p:spPr>
        </p:pic>
        <p:sp>
          <p:nvSpPr>
            <p:cNvPr id="9" name="Marcador de contenido 1">
              <a:extLst>
                <a:ext uri="{FF2B5EF4-FFF2-40B4-BE49-F238E27FC236}">
                  <a16:creationId xmlns:a16="http://schemas.microsoft.com/office/drawing/2014/main" id="{A814FF22-D4FD-C274-F573-F544B8AEEE3D}"/>
                </a:ext>
              </a:extLst>
            </p:cNvPr>
            <p:cNvSpPr txBox="1">
              <a:spLocks/>
            </p:cNvSpPr>
            <p:nvPr/>
          </p:nvSpPr>
          <p:spPr>
            <a:xfrm>
              <a:off x="1565825" y="3240928"/>
              <a:ext cx="1694984" cy="897673"/>
            </a:xfrm>
            <a:prstGeom prst="rect">
              <a:avLst/>
            </a:prstGeom>
          </p:spPr>
          <p:txBody>
            <a:bodyPr vert="horz" lIns="91440" tIns="90000" rIns="91440" bIns="360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/>
                <a:t>Files </a:t>
              </a:r>
              <a:r>
                <a:rPr lang="es-ES" sz="1800" b="1" dirty="0" err="1"/>
                <a:t>Provided</a:t>
              </a:r>
              <a:endParaRPr lang="es-ES" sz="1800" b="1" dirty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570A357-9CE6-5357-0DD8-D660A9E8A0B6}"/>
              </a:ext>
            </a:extLst>
          </p:cNvPr>
          <p:cNvGrpSpPr/>
          <p:nvPr/>
        </p:nvGrpSpPr>
        <p:grpSpPr>
          <a:xfrm>
            <a:off x="416477" y="2276949"/>
            <a:ext cx="2264657" cy="2264657"/>
            <a:chOff x="4781550" y="2255333"/>
            <a:chExt cx="2628900" cy="2628900"/>
          </a:xfrm>
        </p:grpSpPr>
        <p:pic>
          <p:nvPicPr>
            <p:cNvPr id="7" name="Gráfico 6" descr="Carpeta con relleno sólido">
              <a:extLst>
                <a:ext uri="{FF2B5EF4-FFF2-40B4-BE49-F238E27FC236}">
                  <a16:creationId xmlns:a16="http://schemas.microsoft.com/office/drawing/2014/main" id="{03991C83-6407-1573-0759-C3FF2F16AA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781550" y="2255333"/>
              <a:ext cx="2628900" cy="2628900"/>
            </a:xfrm>
            <a:prstGeom prst="rect">
              <a:avLst/>
            </a:prstGeom>
          </p:spPr>
        </p:pic>
        <p:sp>
          <p:nvSpPr>
            <p:cNvPr id="10" name="Marcador de contenido 1">
              <a:extLst>
                <a:ext uri="{FF2B5EF4-FFF2-40B4-BE49-F238E27FC236}">
                  <a16:creationId xmlns:a16="http://schemas.microsoft.com/office/drawing/2014/main" id="{C3FD4869-46F0-0FDD-C8A5-E856AC3FC0BB}"/>
                </a:ext>
              </a:extLst>
            </p:cNvPr>
            <p:cNvSpPr txBox="1">
              <a:spLocks/>
            </p:cNvSpPr>
            <p:nvPr/>
          </p:nvSpPr>
          <p:spPr>
            <a:xfrm>
              <a:off x="5238643" y="3429000"/>
              <a:ext cx="1694984" cy="656525"/>
            </a:xfrm>
            <a:prstGeom prst="rect">
              <a:avLst/>
            </a:prstGeom>
          </p:spPr>
          <p:txBody>
            <a:bodyPr vert="horz" lIns="91440" tIns="90000" rIns="91440" bIns="36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 err="1"/>
                <a:t>Assets</a:t>
              </a:r>
              <a:endParaRPr lang="es-ES" sz="1800" b="1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C6E8714-FAB8-E3F1-421B-BC4438EF4A8A}"/>
              </a:ext>
            </a:extLst>
          </p:cNvPr>
          <p:cNvGrpSpPr/>
          <p:nvPr/>
        </p:nvGrpSpPr>
        <p:grpSpPr>
          <a:xfrm>
            <a:off x="416477" y="4306635"/>
            <a:ext cx="2264657" cy="2264657"/>
            <a:chOff x="8452735" y="2255333"/>
            <a:chExt cx="2628900" cy="2628900"/>
          </a:xfrm>
        </p:grpSpPr>
        <p:pic>
          <p:nvPicPr>
            <p:cNvPr id="8" name="Gráfico 7" descr="Carpeta con relleno sólido">
              <a:extLst>
                <a:ext uri="{FF2B5EF4-FFF2-40B4-BE49-F238E27FC236}">
                  <a16:creationId xmlns:a16="http://schemas.microsoft.com/office/drawing/2014/main" id="{4F9CFFCE-6BFD-FCA0-3C95-9E52237041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52735" y="2255333"/>
              <a:ext cx="2628900" cy="2628900"/>
            </a:xfrm>
            <a:prstGeom prst="rect">
              <a:avLst/>
            </a:prstGeom>
          </p:spPr>
        </p:pic>
        <p:sp>
          <p:nvSpPr>
            <p:cNvPr id="11" name="Marcador de contenido 1">
              <a:extLst>
                <a:ext uri="{FF2B5EF4-FFF2-40B4-BE49-F238E27FC236}">
                  <a16:creationId xmlns:a16="http://schemas.microsoft.com/office/drawing/2014/main" id="{828428E8-0AB5-E7FC-B1F4-87AD2BF50E62}"/>
                </a:ext>
              </a:extLst>
            </p:cNvPr>
            <p:cNvSpPr txBox="1">
              <a:spLocks/>
            </p:cNvSpPr>
            <p:nvPr/>
          </p:nvSpPr>
          <p:spPr>
            <a:xfrm>
              <a:off x="8913850" y="3240928"/>
              <a:ext cx="1694984" cy="897673"/>
            </a:xfrm>
            <a:prstGeom prst="rect">
              <a:avLst/>
            </a:prstGeom>
          </p:spPr>
          <p:txBody>
            <a:bodyPr vert="horz" lIns="91440" tIns="90000" rIns="91440" bIns="3600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10000"/>
                </a:lnSpc>
                <a:spcBef>
                  <a:spcPts val="60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2400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s-ES" sz="1800" b="1" dirty="0" err="1"/>
                <a:t>Previous</a:t>
              </a:r>
              <a:r>
                <a:rPr lang="es-ES" sz="1800" b="1" dirty="0"/>
                <a:t> </a:t>
              </a:r>
              <a:r>
                <a:rPr lang="es-ES" sz="1800" b="1" dirty="0" err="1"/>
                <a:t>Versions</a:t>
              </a:r>
              <a:endParaRPr lang="es-ES" sz="1800" b="1" dirty="0"/>
            </a:p>
          </p:txBody>
        </p:sp>
      </p:grpSp>
      <p:sp>
        <p:nvSpPr>
          <p:cNvPr id="12" name="Marcador de contenido 1">
            <a:extLst>
              <a:ext uri="{FF2B5EF4-FFF2-40B4-BE49-F238E27FC236}">
                <a16:creationId xmlns:a16="http://schemas.microsoft.com/office/drawing/2014/main" id="{8C5A3A0A-0FBD-4389-59CC-AE3AA5461FEA}"/>
              </a:ext>
            </a:extLst>
          </p:cNvPr>
          <p:cNvSpPr txBox="1">
            <a:spLocks/>
          </p:cNvSpPr>
          <p:nvPr/>
        </p:nvSpPr>
        <p:spPr>
          <a:xfrm>
            <a:off x="2764934" y="955006"/>
            <a:ext cx="2713191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save</a:t>
            </a:r>
            <a:r>
              <a:rPr lang="es-ES" sz="1400" dirty="0"/>
              <a:t> files </a:t>
            </a:r>
            <a:r>
              <a:rPr lang="es-ES" sz="1400" dirty="0" err="1"/>
              <a:t>provided</a:t>
            </a:r>
            <a:r>
              <a:rPr lang="es-ES" sz="1400" dirty="0"/>
              <a:t> </a:t>
            </a:r>
            <a:r>
              <a:rPr lang="es-ES" sz="1400" dirty="0" err="1"/>
              <a:t>by</a:t>
            </a:r>
            <a:r>
              <a:rPr lang="es-ES" sz="1400" dirty="0"/>
              <a:t> </a:t>
            </a:r>
            <a:r>
              <a:rPr lang="es-ES" sz="1400" dirty="0" err="1"/>
              <a:t>who</a:t>
            </a:r>
            <a:r>
              <a:rPr lang="es-ES" sz="1400" dirty="0"/>
              <a:t> has </a:t>
            </a:r>
            <a:r>
              <a:rPr lang="es-ES" sz="1400" dirty="0" err="1"/>
              <a:t>made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request</a:t>
            </a:r>
            <a:r>
              <a:rPr lang="es-ES" sz="1400" dirty="0"/>
              <a:t>. Excel </a:t>
            </a:r>
            <a:r>
              <a:rPr lang="es-ES" sz="1400" dirty="0" err="1"/>
              <a:t>sheets</a:t>
            </a:r>
            <a:r>
              <a:rPr lang="es-ES" sz="1400" dirty="0"/>
              <a:t>, Word </a:t>
            </a:r>
            <a:r>
              <a:rPr lang="es-ES" sz="1400" dirty="0" err="1"/>
              <a:t>documents</a:t>
            </a:r>
            <a:r>
              <a:rPr lang="es-ES" sz="1400" dirty="0"/>
              <a:t>, </a:t>
            </a:r>
            <a:r>
              <a:rPr lang="es-ES" sz="1400" dirty="0" err="1"/>
              <a:t>images</a:t>
            </a:r>
            <a:r>
              <a:rPr lang="es-ES" sz="1400" dirty="0"/>
              <a:t>, videos, etc.</a:t>
            </a:r>
          </a:p>
        </p:txBody>
      </p:sp>
      <p:sp>
        <p:nvSpPr>
          <p:cNvPr id="14" name="Marcador de contenido 1">
            <a:extLst>
              <a:ext uri="{FF2B5EF4-FFF2-40B4-BE49-F238E27FC236}">
                <a16:creationId xmlns:a16="http://schemas.microsoft.com/office/drawing/2014/main" id="{D6ED4B17-BA47-F5C8-1F70-339F94757BDB}"/>
              </a:ext>
            </a:extLst>
          </p:cNvPr>
          <p:cNvSpPr txBox="1">
            <a:spLocks/>
          </p:cNvSpPr>
          <p:nvPr/>
        </p:nvSpPr>
        <p:spPr>
          <a:xfrm>
            <a:off x="2764934" y="2933527"/>
            <a:ext cx="2932481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 err="1"/>
              <a:t>To</a:t>
            </a:r>
            <a:r>
              <a:rPr lang="es-ES" sz="1400" dirty="0"/>
              <a:t> </a:t>
            </a:r>
            <a:r>
              <a:rPr lang="es-ES" sz="1400" dirty="0" err="1"/>
              <a:t>save</a:t>
            </a:r>
            <a:r>
              <a:rPr lang="es-ES" sz="1400" dirty="0"/>
              <a:t> files </a:t>
            </a:r>
            <a:r>
              <a:rPr lang="es-ES" sz="1400" dirty="0" err="1"/>
              <a:t>useful</a:t>
            </a:r>
            <a:r>
              <a:rPr lang="es-ES" sz="1400" dirty="0"/>
              <a:t> </a:t>
            </a:r>
            <a:r>
              <a:rPr lang="es-ES" sz="1400" dirty="0" err="1"/>
              <a:t>that</a:t>
            </a:r>
            <a:r>
              <a:rPr lang="es-ES" sz="1400" dirty="0"/>
              <a:t> </a:t>
            </a:r>
            <a:r>
              <a:rPr lang="es-ES" sz="1400" dirty="0" err="1"/>
              <a:t>will</a:t>
            </a:r>
            <a:r>
              <a:rPr lang="es-ES" sz="1400" dirty="0"/>
              <a:t> be </a:t>
            </a:r>
            <a:r>
              <a:rPr lang="es-ES" sz="1400" dirty="0" err="1"/>
              <a:t>used</a:t>
            </a:r>
            <a:r>
              <a:rPr lang="es-ES" sz="1400" dirty="0"/>
              <a:t> and/</a:t>
            </a:r>
            <a:r>
              <a:rPr lang="es-ES" sz="1400" dirty="0" err="1"/>
              <a:t>on</a:t>
            </a:r>
            <a:r>
              <a:rPr lang="es-ES" sz="1400" dirty="0"/>
              <a:t> </a:t>
            </a:r>
            <a:r>
              <a:rPr lang="es-ES" sz="1400" dirty="0" err="1"/>
              <a:t>inserted</a:t>
            </a:r>
            <a:r>
              <a:rPr lang="es-ES" sz="1400" dirty="0"/>
              <a:t> </a:t>
            </a:r>
            <a:r>
              <a:rPr lang="es-ES" sz="1400" dirty="0" err="1"/>
              <a:t>on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project</a:t>
            </a:r>
            <a:r>
              <a:rPr lang="es-ES" sz="1400" dirty="0"/>
              <a:t>: </a:t>
            </a:r>
            <a:r>
              <a:rPr lang="es-ES" sz="1400" dirty="0" err="1"/>
              <a:t>Images</a:t>
            </a:r>
            <a:r>
              <a:rPr lang="es-ES" sz="1400" dirty="0"/>
              <a:t>, logos, </a:t>
            </a:r>
            <a:r>
              <a:rPr lang="es-ES" sz="1400" dirty="0" err="1"/>
              <a:t>datasheets</a:t>
            </a:r>
            <a:r>
              <a:rPr lang="es-ES" sz="1400" dirty="0"/>
              <a:t>, </a:t>
            </a:r>
            <a:r>
              <a:rPr lang="es-ES" sz="1400" dirty="0" err="1"/>
              <a:t>graphics</a:t>
            </a:r>
            <a:r>
              <a:rPr lang="es-ES" sz="1400" dirty="0"/>
              <a:t>, etc.</a:t>
            </a:r>
          </a:p>
        </p:txBody>
      </p:sp>
      <p:sp>
        <p:nvSpPr>
          <p:cNvPr id="15" name="Marcador de contenido 1">
            <a:extLst>
              <a:ext uri="{FF2B5EF4-FFF2-40B4-BE49-F238E27FC236}">
                <a16:creationId xmlns:a16="http://schemas.microsoft.com/office/drawing/2014/main" id="{F808C77C-3B07-A97A-69EA-E05914417629}"/>
              </a:ext>
            </a:extLst>
          </p:cNvPr>
          <p:cNvSpPr txBox="1">
            <a:spLocks/>
          </p:cNvSpPr>
          <p:nvPr/>
        </p:nvSpPr>
        <p:spPr>
          <a:xfrm>
            <a:off x="2764934" y="4969205"/>
            <a:ext cx="3063502" cy="1150241"/>
          </a:xfrm>
          <a:prstGeom prst="rect">
            <a:avLst/>
          </a:prstGeom>
        </p:spPr>
        <p:txBody>
          <a:bodyPr vert="horz" lIns="91440" tIns="90000" rIns="91440" bIns="3600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1400" dirty="0"/>
              <a:t>Once </a:t>
            </a:r>
            <a:r>
              <a:rPr lang="es-ES" sz="1400" dirty="0" err="1"/>
              <a:t>feedback</a:t>
            </a:r>
            <a:r>
              <a:rPr lang="es-ES" sz="1400" dirty="0"/>
              <a:t> has </a:t>
            </a:r>
            <a:r>
              <a:rPr lang="es-ES" sz="1400" dirty="0" err="1"/>
              <a:t>been</a:t>
            </a:r>
            <a:r>
              <a:rPr lang="es-ES" sz="1400" dirty="0"/>
              <a:t> </a:t>
            </a:r>
            <a:r>
              <a:rPr lang="es-ES" sz="1400" dirty="0" err="1"/>
              <a:t>received</a:t>
            </a:r>
            <a:r>
              <a:rPr lang="es-ES" sz="1400" dirty="0"/>
              <a:t>,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previous</a:t>
            </a:r>
            <a:r>
              <a:rPr lang="es-ES" sz="1400" dirty="0"/>
              <a:t> </a:t>
            </a:r>
            <a:r>
              <a:rPr lang="es-ES" sz="1400" dirty="0" err="1"/>
              <a:t>version</a:t>
            </a:r>
            <a:r>
              <a:rPr lang="es-ES" sz="1400" dirty="0"/>
              <a:t> can be </a:t>
            </a:r>
            <a:r>
              <a:rPr lang="es-ES" sz="1400" dirty="0" err="1"/>
              <a:t>saved</a:t>
            </a:r>
            <a:r>
              <a:rPr lang="es-ES" sz="1400" dirty="0"/>
              <a:t> </a:t>
            </a:r>
            <a:r>
              <a:rPr lang="es-ES" sz="1400" dirty="0" err="1"/>
              <a:t>here</a:t>
            </a:r>
            <a:r>
              <a:rPr lang="es-ES" sz="1400" dirty="0"/>
              <a:t>. </a:t>
            </a:r>
            <a:r>
              <a:rPr lang="es-ES" sz="1400" dirty="0" err="1"/>
              <a:t>This</a:t>
            </a:r>
            <a:r>
              <a:rPr lang="es-ES" sz="1400" dirty="0"/>
              <a:t> </a:t>
            </a:r>
            <a:r>
              <a:rPr lang="es-ES" sz="1400" dirty="0" err="1"/>
              <a:t>way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final </a:t>
            </a:r>
            <a:r>
              <a:rPr lang="es-ES" sz="1400" dirty="0" err="1"/>
              <a:t>version</a:t>
            </a:r>
            <a:r>
              <a:rPr lang="es-ES" sz="1400" dirty="0"/>
              <a:t> </a:t>
            </a:r>
            <a:r>
              <a:rPr lang="es-ES" sz="1400" dirty="0" err="1"/>
              <a:t>is</a:t>
            </a:r>
            <a:r>
              <a:rPr lang="es-ES" sz="1400" dirty="0"/>
              <a:t> </a:t>
            </a:r>
            <a:r>
              <a:rPr lang="es-ES" sz="1400" dirty="0" err="1"/>
              <a:t>first-reachable</a:t>
            </a:r>
            <a:r>
              <a:rPr lang="es-E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1146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711EB9-AAC6-5FDB-B70F-6446C52C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399400" cy="475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versions</a:t>
            </a:r>
            <a:r>
              <a:rPr lang="es-ES" dirty="0"/>
              <a:t> </a:t>
            </a:r>
            <a:r>
              <a:rPr lang="es-ES" dirty="0" err="1"/>
              <a:t>naming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know</a:t>
            </a:r>
            <a:r>
              <a:rPr lang="es-ES" dirty="0"/>
              <a:t> at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are:</a:t>
            </a:r>
          </a:p>
          <a:p>
            <a:r>
              <a:rPr lang="es-ES" b="1" dirty="0">
                <a:solidFill>
                  <a:schemeClr val="bg2"/>
                </a:solidFill>
              </a:rPr>
              <a:t>DRAFT: </a:t>
            </a:r>
            <a:r>
              <a:rPr lang="es-ES" dirty="0" err="1"/>
              <a:t>Started</a:t>
            </a:r>
            <a:r>
              <a:rPr lang="es-ES" dirty="0"/>
              <a:t> a concept </a:t>
            </a:r>
            <a:r>
              <a:rPr lang="es-ES" dirty="0" err="1"/>
              <a:t>or</a:t>
            </a:r>
            <a:r>
              <a:rPr lang="es-ES" dirty="0"/>
              <a:t> idea.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shown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endParaRPr lang="es-ES" dirty="0"/>
          </a:p>
          <a:p>
            <a:r>
              <a:rPr lang="es-ES" b="1" dirty="0">
                <a:solidFill>
                  <a:schemeClr val="bg2"/>
                </a:solidFill>
              </a:rPr>
              <a:t>PROOF: </a:t>
            </a:r>
            <a:r>
              <a:rPr lang="es-ES" dirty="0" err="1"/>
              <a:t>Version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review</a:t>
            </a:r>
            <a:r>
              <a:rPr lang="es-ES" dirty="0"/>
              <a:t>.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sent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more t</a:t>
            </a:r>
            <a:r>
              <a:rPr lang="en-US" dirty="0" err="1"/>
              <a:t>han</a:t>
            </a:r>
            <a:r>
              <a:rPr lang="en-US" dirty="0"/>
              <a:t> one round of review, it can go like this</a:t>
            </a:r>
            <a:r>
              <a:rPr lang="es-ES" dirty="0"/>
              <a:t>:</a:t>
            </a:r>
            <a:r>
              <a:rPr lang="en-US" dirty="0"/>
              <a:t> PROOF, PROOF2, PROOF3...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3D433E-C390-4117-FBAC-C6EE400D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82FD66-47B0-3F75-12A6-FFFC84B9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Versioning</a:t>
            </a:r>
            <a:endParaRPr lang="es-ES" dirty="0"/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F14740D5-E1B5-1B87-0381-A2E2103632C7}"/>
              </a:ext>
            </a:extLst>
          </p:cNvPr>
          <p:cNvSpPr txBox="1">
            <a:spLocks/>
          </p:cNvSpPr>
          <p:nvPr/>
        </p:nvSpPr>
        <p:spPr>
          <a:xfrm>
            <a:off x="6324602" y="1444855"/>
            <a:ext cx="5399400" cy="4752000"/>
          </a:xfrm>
          <a:prstGeom prst="rect">
            <a:avLst/>
          </a:prstGeom>
        </p:spPr>
        <p:txBody>
          <a:bodyPr vert="horz" lIns="91440" tIns="90000" rIns="91440" bIns="3600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/>
                </a:solidFill>
              </a:rPr>
              <a:t>FINAL</a:t>
            </a:r>
            <a:r>
              <a:rPr lang="es-ES" b="1" dirty="0">
                <a:solidFill>
                  <a:schemeClr val="bg2"/>
                </a:solidFill>
              </a:rPr>
              <a:t>: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 has </a:t>
            </a:r>
            <a:r>
              <a:rPr lang="es-ES" dirty="0" err="1"/>
              <a:t>been</a:t>
            </a:r>
            <a:r>
              <a:rPr lang="es-ES" dirty="0"/>
              <a:t> </a:t>
            </a:r>
            <a:r>
              <a:rPr lang="es-ES" dirty="0" err="1"/>
              <a:t>aprooved</a:t>
            </a:r>
            <a:r>
              <a:rPr lang="es-ES" dirty="0"/>
              <a:t> and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used</a:t>
            </a:r>
            <a:r>
              <a:rPr lang="es-ES" dirty="0"/>
              <a:t>.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don’t</a:t>
            </a:r>
            <a:r>
              <a:rPr lang="es-ES" dirty="0"/>
              <a:t> </a:t>
            </a:r>
            <a:r>
              <a:rPr lang="es-ES" dirty="0" err="1"/>
              <a:t>really</a:t>
            </a:r>
            <a:r>
              <a:rPr lang="es-ES" dirty="0"/>
              <a:t> use final at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file. </a:t>
            </a:r>
            <a:r>
              <a:rPr lang="es-ES" dirty="0" err="1"/>
              <a:t>Instead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these</a:t>
            </a:r>
            <a:r>
              <a:rPr lang="es-ES" dirty="0"/>
              <a:t> 2 </a:t>
            </a:r>
            <a:r>
              <a:rPr lang="es-ES" dirty="0" err="1"/>
              <a:t>options</a:t>
            </a:r>
            <a:r>
              <a:rPr lang="es-ES" dirty="0"/>
              <a:t>:</a:t>
            </a:r>
          </a:p>
          <a:p>
            <a:pPr lvl="1"/>
            <a:r>
              <a:rPr lang="es-ES" b="1" dirty="0"/>
              <a:t>PRINT: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say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print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,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(</a:t>
            </a:r>
            <a:r>
              <a:rPr lang="es-ES" dirty="0" err="1"/>
              <a:t>e.g</a:t>
            </a:r>
            <a:r>
              <a:rPr lang="es-ES" dirty="0"/>
              <a:t>. Cropmarks, </a:t>
            </a:r>
            <a:r>
              <a:rPr lang="es-ES" dirty="0" err="1"/>
              <a:t>bleed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DIGITAL: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digital use, </a:t>
            </a:r>
            <a:r>
              <a:rPr lang="es-ES" dirty="0" err="1"/>
              <a:t>such</a:t>
            </a:r>
            <a:r>
              <a:rPr lang="es-ES" dirty="0"/>
              <a:t> as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p</a:t>
            </a:r>
            <a:r>
              <a:rPr lang="en-US" dirty="0"/>
              <a:t>hones. Exported as an interactive PDF.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D6A6A5-826B-FD68-07C7-B0A257BAE6B7}"/>
              </a:ext>
            </a:extLst>
          </p:cNvPr>
          <p:cNvSpPr/>
          <p:nvPr/>
        </p:nvSpPr>
        <p:spPr>
          <a:xfrm>
            <a:off x="3895725" y="432000"/>
            <a:ext cx="2266950" cy="2215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Add </a:t>
            </a:r>
            <a:r>
              <a:rPr lang="es-ES" dirty="0" err="1"/>
              <a:t>screenshot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86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082C0B9-D788-C575-F7BE-5CD10B9B889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After you’ve exported the first version, you can send it to the counterpart via email. Instead of attaching the pdf, we usually send the link to the folder.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7DC412-F67D-8FC6-1321-ED8352ECCC3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BDF4AAE-CE00-3D82-565D-5A400C8C144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A7D893B-C2A1-4DB1-2F3B-D611F3F342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D56E6CC-4846-885E-D76F-94A3E97B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file to review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697264-27F6-1616-C7D0-BB28D159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140"/>
          <a:stretch>
            <a:fillRect/>
          </a:stretch>
        </p:blipFill>
        <p:spPr>
          <a:xfrm>
            <a:off x="99189" y="1976718"/>
            <a:ext cx="5896018" cy="29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0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F37A6D-F445-5026-F930-084E4383A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72"/>
          <a:stretch/>
        </p:blipFill>
        <p:spPr>
          <a:xfrm>
            <a:off x="8256848" y="2168319"/>
            <a:ext cx="3460400" cy="3564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93C3C-7C99-508B-1514-461CB7AE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99"/>
          <a:stretch/>
        </p:blipFill>
        <p:spPr>
          <a:xfrm>
            <a:off x="4546678" y="2304066"/>
            <a:ext cx="3181990" cy="3135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797AD4-A94E-9415-3C97-D19F4FDE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3" y="2170089"/>
            <a:ext cx="3453888" cy="361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0D688-5F79-946B-4018-7FBCDF4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5A276-FF0E-95D0-46C3-5DFEA90D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20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4EDEFB-8651-3F08-D93A-2F2E8A58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432000"/>
            <a:ext cx="11294251" cy="684000"/>
          </a:xfrm>
        </p:spPr>
        <p:txBody>
          <a:bodyPr/>
          <a:lstStyle/>
          <a:p>
            <a:pPr algn="ctr"/>
            <a:r>
              <a:rPr lang="en-US" dirty="0"/>
              <a:t>Receiving Feedback</a:t>
            </a:r>
            <a:endParaRPr lang="en-DK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CC94-3173-61BE-4408-7B8C215D4959}"/>
              </a:ext>
            </a:extLst>
          </p:cNvPr>
          <p:cNvSpPr/>
          <p:nvPr/>
        </p:nvSpPr>
        <p:spPr>
          <a:xfrm>
            <a:off x="525750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CE8D99D-220D-FAD8-8217-C09B379EA7C4}"/>
              </a:ext>
            </a:extLst>
          </p:cNvPr>
          <p:cNvSpPr/>
          <p:nvPr/>
        </p:nvSpPr>
        <p:spPr>
          <a:xfrm>
            <a:off x="527180" y="1575219"/>
            <a:ext cx="3453887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PDF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D2E157D-126B-51D9-D17D-AEF01AA0BA4D}"/>
              </a:ext>
            </a:extLst>
          </p:cNvPr>
          <p:cNvSpPr/>
          <p:nvPr/>
        </p:nvSpPr>
        <p:spPr>
          <a:xfrm rot="10800000">
            <a:off x="527179" y="5773789"/>
            <a:ext cx="3453888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146-B00B-75D1-A7B4-ED044F040913}"/>
              </a:ext>
            </a:extLst>
          </p:cNvPr>
          <p:cNvSpPr/>
          <p:nvPr/>
        </p:nvSpPr>
        <p:spPr>
          <a:xfrm>
            <a:off x="4414705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4CAEEBE-0570-99E3-CD6A-70A04EDC45A7}"/>
              </a:ext>
            </a:extLst>
          </p:cNvPr>
          <p:cNvSpPr/>
          <p:nvPr/>
        </p:nvSpPr>
        <p:spPr>
          <a:xfrm>
            <a:off x="4412159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JPG, PNG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EF39472-E018-09FF-D2B1-0E05A5545C4A}"/>
              </a:ext>
            </a:extLst>
          </p:cNvPr>
          <p:cNvSpPr/>
          <p:nvPr/>
        </p:nvSpPr>
        <p:spPr>
          <a:xfrm rot="10800000">
            <a:off x="4412158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7732-0849-B7A9-ACFC-8C25675A7A20}"/>
              </a:ext>
            </a:extLst>
          </p:cNvPr>
          <p:cNvSpPr/>
          <p:nvPr/>
        </p:nvSpPr>
        <p:spPr>
          <a:xfrm>
            <a:off x="8263361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21A12B-64A9-387C-274B-BDC48B71E927}"/>
              </a:ext>
            </a:extLst>
          </p:cNvPr>
          <p:cNvSpPr/>
          <p:nvPr/>
        </p:nvSpPr>
        <p:spPr>
          <a:xfrm>
            <a:off x="8260815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83B2F98-A7C3-00C1-C832-F6F22C0AFF2B}"/>
              </a:ext>
            </a:extLst>
          </p:cNvPr>
          <p:cNvSpPr/>
          <p:nvPr/>
        </p:nvSpPr>
        <p:spPr>
          <a:xfrm rot="10800000">
            <a:off x="8260814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616F306-575E-1C1C-CF5B-56B38F7D6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9907" y="1673564"/>
            <a:ext cx="396410" cy="3964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564F4DF-C36C-8D06-EE91-3DB52354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12" y="1674449"/>
            <a:ext cx="396410" cy="396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F011A8-46AB-5E37-57AA-B3FF80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755" y="1673564"/>
            <a:ext cx="388631" cy="3886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0E4D110-918A-913A-D605-5E562AD33916}"/>
              </a:ext>
            </a:extLst>
          </p:cNvPr>
          <p:cNvSpPr/>
          <p:nvPr/>
        </p:nvSpPr>
        <p:spPr>
          <a:xfrm>
            <a:off x="4603805" y="2476829"/>
            <a:ext cx="842838" cy="28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12B99-3982-EB7F-1598-9D3F867CE31C}"/>
              </a:ext>
            </a:extLst>
          </p:cNvPr>
          <p:cNvSpPr txBox="1"/>
          <p:nvPr/>
        </p:nvSpPr>
        <p:spPr>
          <a:xfrm>
            <a:off x="523204" y="5852160"/>
            <a:ext cx="3461840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3429EB-4AA6-7BE8-92FE-D4C2D16242AF}"/>
              </a:ext>
            </a:extLst>
          </p:cNvPr>
          <p:cNvSpPr txBox="1"/>
          <p:nvPr/>
        </p:nvSpPr>
        <p:spPr>
          <a:xfrm>
            <a:off x="441215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CA18-8456-164C-1C5F-8ED02EEBF190}"/>
              </a:ext>
            </a:extLst>
          </p:cNvPr>
          <p:cNvSpPr txBox="1"/>
          <p:nvPr/>
        </p:nvSpPr>
        <p:spPr>
          <a:xfrm>
            <a:off x="825263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</a:t>
            </a:r>
            <a:r>
              <a:rPr lang="en-US" b="1" err="1">
                <a:solidFill>
                  <a:schemeClr val="tx2"/>
                </a:solidFill>
              </a:rPr>
              <a:t>Sharepoint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7B346-BC32-C99B-EDF5-57B01597D7B1}"/>
              </a:ext>
            </a:extLst>
          </p:cNvPr>
          <p:cNvSpPr/>
          <p:nvPr/>
        </p:nvSpPr>
        <p:spPr>
          <a:xfrm>
            <a:off x="10389831" y="3599528"/>
            <a:ext cx="992944" cy="1032107"/>
          </a:xfrm>
          <a:prstGeom prst="roundRect">
            <a:avLst>
              <a:gd name="adj" fmla="val 7458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Must write timestamp as HH:MM:SS</a:t>
            </a: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2719258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58CE-E350-9F77-3E09-EA712A37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249F211-74FA-EE6C-9D14-453B70A89D9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After </a:t>
            </a:r>
            <a:r>
              <a:rPr lang="es-ES" dirty="0" err="1"/>
              <a:t>you’ve</a:t>
            </a:r>
            <a:r>
              <a:rPr lang="es-ES" dirty="0"/>
              <a:t>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feedback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PROOF </a:t>
            </a:r>
            <a:r>
              <a:rPr lang="es-ES" dirty="0" err="1"/>
              <a:t>version</a:t>
            </a:r>
            <a:r>
              <a:rPr lang="en-US" dirty="0"/>
              <a:t> </a:t>
            </a:r>
            <a:r>
              <a:rPr lang="es-ES" dirty="0"/>
              <a:t>(</a:t>
            </a:r>
            <a:r>
              <a:rPr lang="en-US" dirty="0"/>
              <a:t>and sometimes the editable file) into the Previous Version Folder. This way we can keep the last versions just in case they decide to go for a previous direction, or to check how things have evolved.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8C3D59-686E-8D80-D8D7-4E6D960DD49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21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269FEC4-F17B-8DEC-A78D-AE83610B4E8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386AF0A-7BC7-EAF6-EA8F-8507E190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Version</a:t>
            </a:r>
            <a:r>
              <a:rPr lang="es-ES" dirty="0"/>
              <a:t> Folder</a:t>
            </a:r>
          </a:p>
        </p:txBody>
      </p:sp>
      <p:pic>
        <p:nvPicPr>
          <p:cNvPr id="7" name="Grabación 2026-07-21 121003">
            <a:hlinkClick r:id="" action="ppaction://media"/>
            <a:extLst>
              <a:ext uri="{FF2B5EF4-FFF2-40B4-BE49-F238E27FC236}">
                <a16:creationId xmlns:a16="http://schemas.microsoft.com/office/drawing/2014/main" id="{0A6B2DC7-A774-C3CC-884A-F179D803B3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3200" y="2360737"/>
            <a:ext cx="5213123" cy="2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926E3E9-D431-6CE3-F6F2-892F325E9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483764" cy="4752000"/>
          </a:xfrm>
        </p:spPr>
        <p:txBody>
          <a:bodyPr/>
          <a:lstStyle/>
          <a:p>
            <a:r>
              <a:rPr lang="en-US" dirty="0"/>
              <a:t>PRINT: Usually print material will have bleed and/or crop-marks. Make sure ask what the supplier needs the document and to add them.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E30A84-5D2E-2FB2-C6A7-B9605C53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383FB3-7A68-532D-12C2-1BF3B8E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Exporting FINAL versions</a:t>
            </a:r>
            <a:endParaRPr lang="es-ES" dirty="0"/>
          </a:p>
        </p:txBody>
      </p:sp>
      <p:sp>
        <p:nvSpPr>
          <p:cNvPr id="6" name="Marcador de contenido 1">
            <a:extLst>
              <a:ext uri="{FF2B5EF4-FFF2-40B4-BE49-F238E27FC236}">
                <a16:creationId xmlns:a16="http://schemas.microsoft.com/office/drawing/2014/main" id="{02628A1C-670D-E7FE-129B-05C151BB9CC4}"/>
              </a:ext>
            </a:extLst>
          </p:cNvPr>
          <p:cNvSpPr txBox="1">
            <a:spLocks/>
          </p:cNvSpPr>
          <p:nvPr/>
        </p:nvSpPr>
        <p:spPr>
          <a:xfrm>
            <a:off x="6240238" y="1444855"/>
            <a:ext cx="5483764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DIGITAL: Digital material is usually exported as Interactive PDF. Ask the requester where this will be displayed or used, to choose if the view should be 1 or 2 pages </a:t>
            </a:r>
            <a:r>
              <a:rPr lang="en-US" dirty="0">
                <a:sym typeface="Wingdings" panose="05000000000000000000" pitchFamily="2" charset="2"/>
              </a:rPr>
              <a:t> or vertical or horizontal.</a:t>
            </a:r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D526C44-93AC-72C9-C29F-23A4F52C8A52}"/>
              </a:ext>
            </a:extLst>
          </p:cNvPr>
          <p:cNvGrpSpPr/>
          <p:nvPr/>
        </p:nvGrpSpPr>
        <p:grpSpPr>
          <a:xfrm>
            <a:off x="1495472" y="3354588"/>
            <a:ext cx="3293610" cy="3171122"/>
            <a:chOff x="1495472" y="3354588"/>
            <a:chExt cx="3293610" cy="3171122"/>
          </a:xfrm>
        </p:grpSpPr>
        <p:pic>
          <p:nvPicPr>
            <p:cNvPr id="5" name="Imagen 4" descr="How to export PDF with crop marks in Adobe InDesign - imagy">
              <a:extLst>
                <a:ext uri="{FF2B5EF4-FFF2-40B4-BE49-F238E27FC236}">
                  <a16:creationId xmlns:a16="http://schemas.microsoft.com/office/drawing/2014/main" id="{0AA0486D-AAAE-CFF5-C783-29EF5DA2E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535" t="13196" r="38471"/>
            <a:stretch>
              <a:fillRect/>
            </a:stretch>
          </p:blipFill>
          <p:spPr>
            <a:xfrm>
              <a:off x="1495472" y="3354588"/>
              <a:ext cx="3293610" cy="3171122"/>
            </a:xfrm>
            <a:prstGeom prst="rect">
              <a:avLst/>
            </a:prstGeom>
          </p:spPr>
        </p:pic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680435D7-5476-6B2F-90D3-F7FEAF09352D}"/>
                </a:ext>
              </a:extLst>
            </p:cNvPr>
            <p:cNvSpPr/>
            <p:nvPr/>
          </p:nvSpPr>
          <p:spPr>
            <a:xfrm>
              <a:off x="1516566" y="4006076"/>
              <a:ext cx="735980" cy="14775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B82EA89E-D589-00DF-4FC3-F98523963BF2}"/>
                </a:ext>
              </a:extLst>
            </p:cNvPr>
            <p:cNvSpPr/>
            <p:nvPr/>
          </p:nvSpPr>
          <p:spPr>
            <a:xfrm>
              <a:off x="2386361" y="4176132"/>
              <a:ext cx="747132" cy="12266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C0E6A67-21D4-72E4-F2C4-6A48C5C07FAF}"/>
                </a:ext>
              </a:extLst>
            </p:cNvPr>
            <p:cNvSpPr/>
            <p:nvPr/>
          </p:nvSpPr>
          <p:spPr>
            <a:xfrm>
              <a:off x="2311090" y="4967870"/>
              <a:ext cx="1014761" cy="100359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3902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759F-0B2A-3CAE-A2E6-85AA18D6F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AB2AC86-6555-00CF-06A3-EEB1521686A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Task manager</a:t>
            </a:r>
          </a:p>
          <a:p>
            <a:pPr marL="0" indent="0">
              <a:buNone/>
            </a:pPr>
            <a:r>
              <a:rPr lang="en-US" dirty="0"/>
              <a:t>Once the task has been completed, it needs to be moved to the Completed section of the year, and categorized in the market it was made for.</a:t>
            </a:r>
          </a:p>
          <a:p>
            <a:pPr marL="0" indent="0">
              <a:buNone/>
            </a:pPr>
            <a:r>
              <a:rPr lang="en-US" dirty="0"/>
              <a:t>In the case on the left, it is moved to “Completed 2026” and then categorized in “Vietnam”.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57C408-C65F-1DF1-A55E-72775786BE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6DE26EE-3FE8-41FE-57BA-C88BF5B535C8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9724A4B-70B8-24FD-0A5D-C2924A02A739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DED52A-E08D-6035-1731-BC1F3E89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pic>
        <p:nvPicPr>
          <p:cNvPr id="9" name="Grabación 2026-07-21 122516">
            <a:hlinkClick r:id="" action="ppaction://media"/>
            <a:extLst>
              <a:ext uri="{FF2B5EF4-FFF2-40B4-BE49-F238E27FC236}">
                <a16:creationId xmlns:a16="http://schemas.microsoft.com/office/drawing/2014/main" id="{19023CC5-7402-B109-FCBE-B1B6B963D7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525" y="1395600"/>
            <a:ext cx="5433346" cy="44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1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12EF-8654-6DCE-A28F-89629A77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6B0B30-44A6-5EBC-270D-BEBD91BAB6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24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A269E84-17CF-7A43-F617-DC18FC4872A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554CC26-3998-4CC9-7DF3-AE625CB9E69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483F90A-D45B-5E3D-3AE5-EE88A8FF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sp>
        <p:nvSpPr>
          <p:cNvPr id="11" name="Marcador de contenido 1">
            <a:extLst>
              <a:ext uri="{FF2B5EF4-FFF2-40B4-BE49-F238E27FC236}">
                <a16:creationId xmlns:a16="http://schemas.microsoft.com/office/drawing/2014/main" id="{E104E6F0-B760-17F5-FC67-5D2C0D41278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Email Inbox</a:t>
            </a:r>
          </a:p>
          <a:p>
            <a:pPr marL="0" indent="0">
              <a:buNone/>
            </a:pPr>
            <a:r>
              <a:rPr lang="en-US" dirty="0"/>
              <a:t>Once the task has been completed, it needs to be marked with the “done” tag and moved to the folder of the market that requested it.</a:t>
            </a:r>
          </a:p>
        </p:txBody>
      </p:sp>
      <p:pic>
        <p:nvPicPr>
          <p:cNvPr id="12" name="Grabación 2026-07-21 142054">
            <a:hlinkClick r:id="" action="ppaction://media"/>
            <a:extLst>
              <a:ext uri="{FF2B5EF4-FFF2-40B4-BE49-F238E27FC236}">
                <a16:creationId xmlns:a16="http://schemas.microsoft.com/office/drawing/2014/main" id="{B0B30F02-7321-C270-A3BE-02DB5EBDA3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4879" y="0"/>
            <a:ext cx="4084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6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270C-11F9-14CF-B649-EC44EA06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905BB2-87EB-D949-4BE0-45E82A118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252EC57-0F24-391E-CACF-E2F4637D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Complementary Info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CA23E4-6952-59F1-7F47-F0775CC0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61943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DDAD9E32-24AA-10F3-0538-AC89EAFEF32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questions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specific</a:t>
            </a:r>
            <a:r>
              <a:rPr lang="es-ES" dirty="0"/>
              <a:t> </a:t>
            </a:r>
            <a:r>
              <a:rPr lang="es-ES" dirty="0" err="1"/>
              <a:t>themes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contact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following</a:t>
            </a:r>
            <a:r>
              <a:rPr lang="es-ES" dirty="0"/>
              <a:t> </a:t>
            </a:r>
            <a:r>
              <a:rPr lang="es-ES" dirty="0" err="1"/>
              <a:t>people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70BD6B-29C6-C13F-6DDA-9089CDD6D27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26</a:t>
            </a:fld>
            <a:endParaRPr lang="en-GB" noProof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01570D9-DA57-3435-C0E8-DDA86456C65F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7CA639D-9F17-82A8-9F79-EF324E75E5AF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r>
              <a:rPr lang="es-ES" dirty="0"/>
              <a:t>Who </a:t>
            </a:r>
            <a:r>
              <a:rPr lang="es-ES" dirty="0" err="1"/>
              <a:t>is</a:t>
            </a:r>
            <a:r>
              <a:rPr lang="es-ES" dirty="0"/>
              <a:t> in </a:t>
            </a:r>
            <a:r>
              <a:rPr lang="es-ES" dirty="0" err="1"/>
              <a:t>charge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what</a:t>
            </a:r>
            <a:endParaRPr lang="es-E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09992BF4-94E8-B2E9-48D0-FD49B53E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Stakeholder map </a:t>
            </a:r>
            <a:endParaRPr lang="es-ES" sz="360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083BC74-E48C-74A0-40E9-8DAFFF2B7288}"/>
              </a:ext>
            </a:extLst>
          </p:cNvPr>
          <p:cNvSpPr/>
          <p:nvPr/>
        </p:nvSpPr>
        <p:spPr>
          <a:xfrm>
            <a:off x="2184400" y="2562225"/>
            <a:ext cx="1733550" cy="17335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/>
              <a:t>Have </a:t>
            </a:r>
            <a:r>
              <a:rPr lang="es-ES" sz="1600" b="1" dirty="0" err="1"/>
              <a:t>any</a:t>
            </a:r>
            <a:r>
              <a:rPr lang="es-ES" sz="1600" b="1" dirty="0"/>
              <a:t> </a:t>
            </a:r>
            <a:r>
              <a:rPr lang="es-ES" sz="1600" b="1" dirty="0" err="1"/>
              <a:t>questions</a:t>
            </a:r>
            <a:r>
              <a:rPr lang="es-ES" sz="1600" b="1" dirty="0"/>
              <a:t> </a:t>
            </a:r>
            <a:r>
              <a:rPr lang="es-ES" sz="1600" b="1" dirty="0" err="1"/>
              <a:t>about</a:t>
            </a:r>
            <a:r>
              <a:rPr lang="es-ES" sz="1600" b="1" dirty="0"/>
              <a:t>…?Write </a:t>
            </a:r>
            <a:r>
              <a:rPr lang="es-ES" sz="1600" b="1" dirty="0" err="1"/>
              <a:t>to</a:t>
            </a:r>
            <a:r>
              <a:rPr lang="es-ES" sz="1600" b="1" dirty="0"/>
              <a:t>…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D5FCD26-635B-ED32-07CB-6ACB5CD2805C}"/>
              </a:ext>
            </a:extLst>
          </p:cNvPr>
          <p:cNvSpPr/>
          <p:nvPr/>
        </p:nvSpPr>
        <p:spPr>
          <a:xfrm>
            <a:off x="2184400" y="708025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Datasheets related? 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Kat katmi@biomar.com</a:t>
            </a:r>
            <a:endParaRPr lang="es-ES" sz="1100" dirty="0">
              <a:solidFill>
                <a:schemeClr val="tx2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48AF561-7AEC-520F-DE0C-B775FD17A068}"/>
              </a:ext>
            </a:extLst>
          </p:cNvPr>
          <p:cNvSpPr/>
          <p:nvPr/>
        </p:nvSpPr>
        <p:spPr>
          <a:xfrm>
            <a:off x="3967791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ES" sz="1400" dirty="0">
                <a:solidFill>
                  <a:schemeClr val="tx2"/>
                </a:solidFill>
              </a:rPr>
              <a:t>R&amp;D </a:t>
            </a:r>
            <a:r>
              <a:rPr lang="es-ES" sz="1400" dirty="0" err="1">
                <a:solidFill>
                  <a:schemeClr val="tx2"/>
                </a:solidFill>
              </a:rPr>
              <a:t>related</a:t>
            </a:r>
            <a:r>
              <a:rPr lang="es-ES" sz="1400" dirty="0">
                <a:solidFill>
                  <a:schemeClr val="tx2"/>
                </a:solidFill>
              </a:rPr>
              <a:t>?</a:t>
            </a:r>
          </a:p>
          <a:p>
            <a:pPr algn="ctr"/>
            <a:endParaRPr lang="es-ES" sz="1400" dirty="0">
              <a:solidFill>
                <a:schemeClr val="tx2"/>
              </a:solidFill>
            </a:endParaRPr>
          </a:p>
          <a:p>
            <a:pPr algn="ctr"/>
            <a:r>
              <a:rPr lang="es-ES" sz="1100" dirty="0">
                <a:solidFill>
                  <a:schemeClr val="tx2"/>
                </a:solidFill>
              </a:rPr>
              <a:t>Write </a:t>
            </a:r>
            <a:r>
              <a:rPr lang="es-ES" sz="1100" dirty="0" err="1">
                <a:solidFill>
                  <a:schemeClr val="tx2"/>
                </a:solidFill>
              </a:rPr>
              <a:t>to</a:t>
            </a:r>
            <a:r>
              <a:rPr lang="es-ES" sz="1100" dirty="0">
                <a:solidFill>
                  <a:schemeClr val="tx2"/>
                </a:solidFill>
              </a:rPr>
              <a:t> Elisabeth eliaa@biomar.com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E8566A9-AF5F-FFAB-6443-85A50F5D79FF}"/>
              </a:ext>
            </a:extLst>
          </p:cNvPr>
          <p:cNvSpPr/>
          <p:nvPr/>
        </p:nvSpPr>
        <p:spPr>
          <a:xfrm>
            <a:off x="401009" y="2105247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Technical questions?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Iannis, Andreina, Bruno or Ewan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57A41A0-E707-C4CE-275B-1C7D572E7138}"/>
              </a:ext>
            </a:extLst>
          </p:cNvPr>
          <p:cNvSpPr/>
          <p:nvPr/>
        </p:nvSpPr>
        <p:spPr>
          <a:xfrm>
            <a:off x="3175357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</a:rPr>
              <a:t>LARVIVA related?</a:t>
            </a:r>
          </a:p>
          <a:p>
            <a:pPr algn="ctr"/>
            <a:endParaRPr lang="en-US" sz="1400" dirty="0">
              <a:solidFill>
                <a:schemeClr val="tx2"/>
              </a:solidFill>
            </a:endParaRPr>
          </a:p>
          <a:p>
            <a:pPr algn="ctr"/>
            <a:r>
              <a:rPr lang="en-US" sz="1100" dirty="0">
                <a:solidFill>
                  <a:schemeClr val="tx2"/>
                </a:solidFill>
              </a:rPr>
              <a:t>Write to Daniela vdv@biomar.com</a:t>
            </a:r>
            <a:endParaRPr lang="es-ES" sz="1400" dirty="0">
              <a:solidFill>
                <a:schemeClr val="tx2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CA5DFCA-E761-5A1B-FD37-32E3761DB811}"/>
              </a:ext>
            </a:extLst>
          </p:cNvPr>
          <p:cNvSpPr/>
          <p:nvPr/>
        </p:nvSpPr>
        <p:spPr>
          <a:xfrm>
            <a:off x="1117860" y="4210494"/>
            <a:ext cx="1733550" cy="173355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SmartCare related?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  <a:p>
            <a:pPr lvl="0" algn="ctr"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t>Write to </a:t>
            </a:r>
            <a:r>
              <a:rPr lang="en-US" sz="1100" dirty="0">
                <a:solidFill>
                  <a:srgbClr val="1F3E77"/>
                </a:solidFill>
              </a:rPr>
              <a:t>Torunn torfo@biomar.com</a:t>
            </a: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066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81C-8108-42BF-EA94-2B48899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030-ABB5-DE28-7C24-B1BD104A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27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7D552-590C-24A5-156B-85F8A62DD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9" y="88093"/>
            <a:ext cx="11249250" cy="324000"/>
          </a:xfrm>
        </p:spPr>
        <p:txBody>
          <a:bodyPr/>
          <a:lstStyle/>
          <a:p>
            <a:pPr algn="ctr"/>
            <a:r>
              <a:rPr lang="en-US"/>
              <a:t>Ways of communicating</a:t>
            </a:r>
            <a:endParaRPr lang="en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32FE4-5C67-845E-79F5-9C45E3ED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When to use what?</a:t>
            </a:r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FC67F-1D2F-D43A-1FBE-2B4AC182F59C}"/>
              </a:ext>
            </a:extLst>
          </p:cNvPr>
          <p:cNvSpPr/>
          <p:nvPr/>
        </p:nvSpPr>
        <p:spPr>
          <a:xfrm>
            <a:off x="525750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078D3EC-A7E5-9031-0D79-F1B362189BF0}"/>
              </a:ext>
            </a:extLst>
          </p:cNvPr>
          <p:cNvSpPr/>
          <p:nvPr/>
        </p:nvSpPr>
        <p:spPr>
          <a:xfrm>
            <a:off x="523204" y="1575218"/>
            <a:ext cx="3456434" cy="1367797"/>
          </a:xfrm>
          <a:prstGeom prst="round2SameRect">
            <a:avLst>
              <a:gd name="adj1" fmla="val 13616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099149F-8DA3-F906-2DBD-9E2ACC1974B8}"/>
              </a:ext>
            </a:extLst>
          </p:cNvPr>
          <p:cNvSpPr/>
          <p:nvPr/>
        </p:nvSpPr>
        <p:spPr>
          <a:xfrm rot="10800000">
            <a:off x="523203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E1F4B-90C5-3180-5006-135B5592E533}"/>
              </a:ext>
            </a:extLst>
          </p:cNvPr>
          <p:cNvSpPr/>
          <p:nvPr/>
        </p:nvSpPr>
        <p:spPr>
          <a:xfrm>
            <a:off x="4414705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34B768E-5BF6-6EE1-6CF1-CA3F6ACDB4C5}"/>
              </a:ext>
            </a:extLst>
          </p:cNvPr>
          <p:cNvSpPr/>
          <p:nvPr/>
        </p:nvSpPr>
        <p:spPr>
          <a:xfrm>
            <a:off x="4412159" y="1575218"/>
            <a:ext cx="3456434" cy="1367797"/>
          </a:xfrm>
          <a:prstGeom prst="round2SameRect">
            <a:avLst>
              <a:gd name="adj1" fmla="val 1533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Teams Chat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086C33-E30C-76A6-ECCA-80A6BF5BDF3B}"/>
              </a:ext>
            </a:extLst>
          </p:cNvPr>
          <p:cNvSpPr/>
          <p:nvPr/>
        </p:nvSpPr>
        <p:spPr>
          <a:xfrm rot="10800000">
            <a:off x="4412158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1AE8B-5244-7FFF-1F77-AA72DD11FAAB}"/>
              </a:ext>
            </a:extLst>
          </p:cNvPr>
          <p:cNvSpPr/>
          <p:nvPr/>
        </p:nvSpPr>
        <p:spPr>
          <a:xfrm>
            <a:off x="8263361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49A2B6-E71D-8413-C9A1-82ECCCF6A517}"/>
              </a:ext>
            </a:extLst>
          </p:cNvPr>
          <p:cNvSpPr/>
          <p:nvPr/>
        </p:nvSpPr>
        <p:spPr>
          <a:xfrm>
            <a:off x="8260815" y="1575218"/>
            <a:ext cx="3456434" cy="1367797"/>
          </a:xfrm>
          <a:prstGeom prst="round2SameRect">
            <a:avLst>
              <a:gd name="adj1" fmla="val 14189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Verbal/Meetings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490F90C-8901-8CEA-C3FC-B5521B2956C9}"/>
              </a:ext>
            </a:extLst>
          </p:cNvPr>
          <p:cNvSpPr/>
          <p:nvPr/>
        </p:nvSpPr>
        <p:spPr>
          <a:xfrm rot="10800000">
            <a:off x="8260814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140AC-83A2-84DA-8376-4838F999B264}"/>
              </a:ext>
            </a:extLst>
          </p:cNvPr>
          <p:cNvSpPr/>
          <p:nvPr/>
        </p:nvSpPr>
        <p:spPr>
          <a:xfrm>
            <a:off x="777044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project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5FEE3-E897-A08E-F5B1-DE718FFA7878}"/>
              </a:ext>
            </a:extLst>
          </p:cNvPr>
          <p:cNvSpPr/>
          <p:nvPr/>
        </p:nvSpPr>
        <p:spPr>
          <a:xfrm>
            <a:off x="4665998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F97DC-FF15-E19D-B2FC-E4AD4BE370E5}"/>
              </a:ext>
            </a:extLst>
          </p:cNvPr>
          <p:cNvSpPr/>
          <p:nvPr/>
        </p:nvSpPr>
        <p:spPr>
          <a:xfrm>
            <a:off x="8514655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clarify/define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Clarify topics/themes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In-depth review of the artwork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b="1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Envelope with solid fill">
            <a:extLst>
              <a:ext uri="{FF2B5EF4-FFF2-40B4-BE49-F238E27FC236}">
                <a16:creationId xmlns:a16="http://schemas.microsoft.com/office/drawing/2014/main" id="{94508621-909C-D791-07F6-11D8CAFD2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1721" y="1744740"/>
            <a:ext cx="640953" cy="640953"/>
          </a:xfrm>
          <a:prstGeom prst="rect">
            <a:avLst/>
          </a:prstGeom>
        </p:spPr>
      </p:pic>
      <p:pic>
        <p:nvPicPr>
          <p:cNvPr id="23" name="Graphic 22" descr="Speech with solid fill">
            <a:extLst>
              <a:ext uri="{FF2B5EF4-FFF2-40B4-BE49-F238E27FC236}">
                <a16:creationId xmlns:a16="http://schemas.microsoft.com/office/drawing/2014/main" id="{AFF4E5EB-118D-B186-B392-EF456BA3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869" y="1784183"/>
            <a:ext cx="601510" cy="601510"/>
          </a:xfrm>
          <a:prstGeom prst="rect">
            <a:avLst/>
          </a:prstGeom>
        </p:spPr>
      </p:pic>
      <p:pic>
        <p:nvPicPr>
          <p:cNvPr id="25" name="Graphic 24" descr="Online meeting with solid fill">
            <a:extLst>
              <a:ext uri="{FF2B5EF4-FFF2-40B4-BE49-F238E27FC236}">
                <a16:creationId xmlns:a16="http://schemas.microsoft.com/office/drawing/2014/main" id="{92A7B9CA-5DE4-7A7D-310F-38F66ECD5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145" y="1738985"/>
            <a:ext cx="621831" cy="6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2060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